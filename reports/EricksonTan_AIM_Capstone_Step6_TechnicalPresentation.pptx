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3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98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5C"/>
          </a:solidFill>
          <a:ln/>
        </p:spPr>
      </p:sp>
      <p:sp>
        <p:nvSpPr>
          <p:cNvPr id="3" name="Shape 1"/>
          <p:cNvSpPr/>
          <p:nvPr/>
        </p:nvSpPr>
        <p:spPr>
          <a:xfrm>
            <a:off x="0" y="0"/>
            <a:ext cx="109728" cy="5143500"/>
          </a:xfrm>
          <a:prstGeom prst="rect">
            <a:avLst/>
          </a:prstGeom>
          <a:solidFill>
            <a:srgbClr val="2E6DAD"/>
          </a:solidFill>
          <a:ln/>
        </p:spPr>
      </p:sp>
      <p:sp>
        <p:nvSpPr>
          <p:cNvPr id="4" name="Shape 2"/>
          <p:cNvSpPr/>
          <p:nvPr/>
        </p:nvSpPr>
        <p:spPr>
          <a:xfrm>
            <a:off x="109728" y="0"/>
            <a:ext cx="54864" cy="5143500"/>
          </a:xfrm>
          <a:prstGeom prst="rect">
            <a:avLst/>
          </a:prstGeom>
          <a:solidFill>
            <a:srgbClr val="4A90C4"/>
          </a:solidFill>
          <a:ln/>
        </p:spPr>
      </p:sp>
      <p:sp>
        <p:nvSpPr>
          <p:cNvPr id="5" name="Text 3"/>
          <p:cNvSpPr/>
          <p:nvPr/>
        </p:nvSpPr>
        <p:spPr>
          <a:xfrm>
            <a:off x="548640" y="914400"/>
            <a:ext cx="804672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Credit Card Fraud Detection</a:t>
            </a:r>
            <a:endParaRPr lang="en-US" sz="3600" dirty="0"/>
          </a:p>
        </p:txBody>
      </p:sp>
      <p:sp>
        <p:nvSpPr>
          <p:cNvPr id="6" name="Text 4"/>
          <p:cNvSpPr/>
          <p:nvPr/>
        </p:nvSpPr>
        <p:spPr>
          <a:xfrm>
            <a:off x="548640" y="1828800"/>
            <a:ext cx="7772400" cy="457200"/>
          </a:xfrm>
          <a:prstGeom prst="rect">
            <a:avLst/>
          </a:prstGeom>
          <a:noFill/>
          <a:ln/>
        </p:spPr>
        <p:txBody>
          <a:bodyPr wrap="square" lIns="0" tIns="0" rIns="0" bIns="0" rtlCol="0" anchor="ctr"/>
          <a:lstStyle/>
          <a:p>
            <a:pPr marL="0" indent="0">
              <a:buNone/>
            </a:pPr>
            <a:r>
              <a:rPr lang="en-US" sz="1700" dirty="0">
                <a:solidFill>
                  <a:srgbClr val="A8C8E8"/>
                </a:solidFill>
                <a:latin typeface="Calibri" pitchFamily="34" charset="0"/>
                <a:ea typeface="Calibri" pitchFamily="34" charset="-122"/>
                <a:cs typeface="Calibri" pitchFamily="34" charset="-120"/>
              </a:rPr>
              <a:t>A Machine Learning Approach to Financial Transaction Security</a:t>
            </a:r>
            <a:endParaRPr lang="en-US" sz="1700" dirty="0"/>
          </a:p>
        </p:txBody>
      </p:sp>
      <p:sp>
        <p:nvSpPr>
          <p:cNvPr id="7" name="Shape 5"/>
          <p:cNvSpPr/>
          <p:nvPr/>
        </p:nvSpPr>
        <p:spPr>
          <a:xfrm>
            <a:off x="548640" y="2377440"/>
            <a:ext cx="1645920" cy="36576"/>
          </a:xfrm>
          <a:prstGeom prst="rect">
            <a:avLst/>
          </a:prstGeom>
          <a:solidFill>
            <a:srgbClr val="4A90C4"/>
          </a:solidFill>
          <a:ln/>
        </p:spPr>
      </p:sp>
      <p:sp>
        <p:nvSpPr>
          <p:cNvPr id="8" name="Text 6"/>
          <p:cNvSpPr/>
          <p:nvPr/>
        </p:nvSpPr>
        <p:spPr>
          <a:xfrm>
            <a:off x="548640" y="2560320"/>
            <a:ext cx="4572000" cy="320040"/>
          </a:xfrm>
          <a:prstGeom prst="rect">
            <a:avLst/>
          </a:prstGeom>
          <a:noFill/>
          <a:ln/>
        </p:spPr>
        <p:txBody>
          <a:bodyPr wrap="square" lIns="0" tIns="0" rIns="0" bIns="0" rtlCol="0" anchor="ctr"/>
          <a:lstStyle/>
          <a:p>
            <a:pPr marL="0" indent="0">
              <a:buNone/>
            </a:pPr>
            <a:r>
              <a:rPr lang="en-US" sz="1300" b="1" dirty="0">
                <a:solidFill>
                  <a:srgbClr val="A8C8E8"/>
                </a:solidFill>
                <a:latin typeface="Calibri" pitchFamily="34" charset="0"/>
                <a:ea typeface="Calibri" pitchFamily="34" charset="-122"/>
                <a:cs typeface="Calibri" pitchFamily="34" charset="-120"/>
              </a:rPr>
              <a:t>Author: </a:t>
            </a:r>
            <a:r>
              <a:rPr lang="en-US" sz="1300" dirty="0">
                <a:solidFill>
                  <a:srgbClr val="FFFFFF"/>
                </a:solidFill>
                <a:latin typeface="Calibri" pitchFamily="34" charset="0"/>
                <a:ea typeface="Calibri" pitchFamily="34" charset="-122"/>
                <a:cs typeface="Calibri" pitchFamily="34" charset="-120"/>
              </a:rPr>
              <a:t>Erickson Tan</a:t>
            </a:r>
            <a:endParaRPr lang="en-US" sz="1300" dirty="0"/>
          </a:p>
        </p:txBody>
      </p:sp>
      <p:sp>
        <p:nvSpPr>
          <p:cNvPr id="9" name="Text 7"/>
          <p:cNvSpPr/>
          <p:nvPr/>
        </p:nvSpPr>
        <p:spPr>
          <a:xfrm>
            <a:off x="548640" y="2880360"/>
            <a:ext cx="5486400" cy="320040"/>
          </a:xfrm>
          <a:prstGeom prst="rect">
            <a:avLst/>
          </a:prstGeom>
          <a:noFill/>
          <a:ln/>
        </p:spPr>
        <p:txBody>
          <a:bodyPr wrap="square" lIns="0" tIns="0" rIns="0" bIns="0" rtlCol="0" anchor="ctr"/>
          <a:lstStyle/>
          <a:p>
            <a:pPr marL="0" indent="0">
              <a:buNone/>
            </a:pPr>
            <a:r>
              <a:rPr lang="en-US" sz="1300" b="1" dirty="0">
                <a:solidFill>
                  <a:srgbClr val="A8C8E8"/>
                </a:solidFill>
                <a:latin typeface="Calibri" pitchFamily="34" charset="0"/>
                <a:ea typeface="Calibri" pitchFamily="34" charset="-122"/>
                <a:cs typeface="Calibri" pitchFamily="34" charset="-120"/>
              </a:rPr>
              <a:t>Institution: </a:t>
            </a:r>
            <a:r>
              <a:rPr lang="en-US" sz="1300" dirty="0">
                <a:solidFill>
                  <a:srgbClr val="FFFFFF"/>
                </a:solidFill>
                <a:latin typeface="Calibri" pitchFamily="34" charset="0"/>
                <a:ea typeface="Calibri" pitchFamily="34" charset="-122"/>
                <a:cs typeface="Calibri" pitchFamily="34" charset="-120"/>
              </a:rPr>
              <a:t>Asian Institute of Management</a:t>
            </a:r>
            <a:endParaRPr lang="en-US" sz="1300" dirty="0"/>
          </a:p>
        </p:txBody>
      </p:sp>
      <p:sp>
        <p:nvSpPr>
          <p:cNvPr id="10" name="Text 8"/>
          <p:cNvSpPr/>
          <p:nvPr/>
        </p:nvSpPr>
        <p:spPr>
          <a:xfrm>
            <a:off x="548640" y="3200400"/>
            <a:ext cx="5486400" cy="320040"/>
          </a:xfrm>
          <a:prstGeom prst="rect">
            <a:avLst/>
          </a:prstGeom>
          <a:noFill/>
          <a:ln/>
        </p:spPr>
        <p:txBody>
          <a:bodyPr wrap="square" lIns="0" tIns="0" rIns="0" bIns="0" rtlCol="0" anchor="ctr"/>
          <a:lstStyle/>
          <a:p>
            <a:pPr marL="0" indent="0">
              <a:buNone/>
            </a:pPr>
            <a:r>
              <a:rPr lang="en-US" sz="1300" b="1" dirty="0">
                <a:solidFill>
                  <a:srgbClr val="A8C8E8"/>
                </a:solidFill>
                <a:latin typeface="Calibri" pitchFamily="34" charset="0"/>
                <a:ea typeface="Calibri" pitchFamily="34" charset="-122"/>
                <a:cs typeface="Calibri" pitchFamily="34" charset="-120"/>
              </a:rPr>
              <a:t>Domain: </a:t>
            </a:r>
            <a:r>
              <a:rPr lang="en-US" sz="1300" dirty="0">
                <a:solidFill>
                  <a:srgbClr val="FFFFFF"/>
                </a:solidFill>
                <a:latin typeface="Calibri" pitchFamily="34" charset="0"/>
                <a:ea typeface="Calibri" pitchFamily="34" charset="-122"/>
                <a:cs typeface="Calibri" pitchFamily="34" charset="-120"/>
              </a:rPr>
              <a:t>Finance — Binary Classification</a:t>
            </a:r>
            <a:endParaRPr lang="en-US" sz="1300" dirty="0"/>
          </a:p>
        </p:txBody>
      </p:sp>
      <p:sp>
        <p:nvSpPr>
          <p:cNvPr id="11" name="Text 9"/>
          <p:cNvSpPr/>
          <p:nvPr/>
        </p:nvSpPr>
        <p:spPr>
          <a:xfrm>
            <a:off x="548640" y="3520440"/>
            <a:ext cx="6400800" cy="320040"/>
          </a:xfrm>
          <a:prstGeom prst="rect">
            <a:avLst/>
          </a:prstGeom>
          <a:noFill/>
          <a:ln/>
        </p:spPr>
        <p:txBody>
          <a:bodyPr wrap="square" lIns="0" tIns="0" rIns="0" bIns="0" rtlCol="0" anchor="ctr"/>
          <a:lstStyle/>
          <a:p>
            <a:pPr marL="0" indent="0">
              <a:buNone/>
            </a:pPr>
            <a:r>
              <a:rPr lang="en-US" sz="1300" b="1" dirty="0">
                <a:solidFill>
                  <a:srgbClr val="A8C8E8"/>
                </a:solidFill>
                <a:latin typeface="Calibri" pitchFamily="34" charset="0"/>
                <a:ea typeface="Calibri" pitchFamily="34" charset="-122"/>
                <a:cs typeface="Calibri" pitchFamily="34" charset="-120"/>
              </a:rPr>
              <a:t>Dataset: </a:t>
            </a:r>
            <a:r>
              <a:rPr lang="en-US" sz="1300" dirty="0">
                <a:solidFill>
                  <a:srgbClr val="FFFFFF"/>
                </a:solidFill>
                <a:latin typeface="Calibri" pitchFamily="34" charset="0"/>
                <a:ea typeface="Calibri" pitchFamily="34" charset="-122"/>
                <a:cs typeface="Calibri" pitchFamily="34" charset="-120"/>
              </a:rPr>
              <a:t>ULB Credit Card Fraud Detection (Kaggle)</a:t>
            </a:r>
            <a:endParaRPr lang="en-US" sz="1300" dirty="0"/>
          </a:p>
        </p:txBody>
      </p:sp>
      <p:sp>
        <p:nvSpPr>
          <p:cNvPr id="12" name="Text 10"/>
          <p:cNvSpPr/>
          <p:nvPr/>
        </p:nvSpPr>
        <p:spPr>
          <a:xfrm>
            <a:off x="548640" y="4663440"/>
            <a:ext cx="7772400" cy="274320"/>
          </a:xfrm>
          <a:prstGeom prst="rect">
            <a:avLst/>
          </a:prstGeom>
          <a:noFill/>
          <a:ln/>
        </p:spPr>
        <p:txBody>
          <a:bodyPr wrap="square" lIns="0" tIns="0" rIns="0" bIns="0" rtlCol="0" anchor="ctr"/>
          <a:lstStyle/>
          <a:p>
            <a:pPr marL="0" indent="0">
              <a:buNone/>
            </a:pPr>
            <a:r>
              <a:rPr lang="en-US" sz="1000" dirty="0">
                <a:solidFill>
                  <a:srgbClr val="AAAAAA"/>
                </a:solidFill>
                <a:latin typeface="Calibri" pitchFamily="34" charset="0"/>
                <a:ea typeface="Calibri" pitchFamily="34" charset="-122"/>
                <a:cs typeface="Calibri" pitchFamily="34" charset="-120"/>
              </a:rPr>
              <a:t>AIM ML Capstone — Step 6: Technical Presentation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777240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Problem Framing</a:t>
            </a:r>
            <a:endParaRPr lang="en-US" sz="2600" dirty="0"/>
          </a:p>
        </p:txBody>
      </p:sp>
      <p:sp>
        <p:nvSpPr>
          <p:cNvPr id="5" name="Text 3"/>
          <p:cNvSpPr/>
          <p:nvPr/>
        </p:nvSpPr>
        <p:spPr>
          <a:xfrm>
            <a:off x="365760" y="749808"/>
            <a:ext cx="777240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What are we solving and why does it matter?</a:t>
            </a:r>
            <a:endParaRPr lang="en-US" sz="1300" dirty="0"/>
          </a:p>
        </p:txBody>
      </p:sp>
      <p:sp>
        <p:nvSpPr>
          <p:cNvPr id="6" name="Shape 4"/>
          <p:cNvSpPr/>
          <p:nvPr/>
        </p:nvSpPr>
        <p:spPr>
          <a:xfrm>
            <a:off x="8321040" y="91440"/>
            <a:ext cx="640080" cy="320040"/>
          </a:xfrm>
          <a:prstGeom prst="rect">
            <a:avLst/>
          </a:prstGeom>
          <a:solidFill>
            <a:srgbClr val="4A90C4"/>
          </a:solidFill>
          <a:ln/>
        </p:spPr>
      </p:sp>
      <p:sp>
        <p:nvSpPr>
          <p:cNvPr id="7" name="Shape 5"/>
          <p:cNvSpPr/>
          <p:nvPr/>
        </p:nvSpPr>
        <p:spPr>
          <a:xfrm>
            <a:off x="274320" y="1417320"/>
            <a:ext cx="4114800" cy="3108960"/>
          </a:xfrm>
          <a:prstGeom prst="rect">
            <a:avLst/>
          </a:prstGeom>
          <a:solidFill>
            <a:srgbClr val="E8F4FD"/>
          </a:solidFill>
          <a:ln w="12700">
            <a:solidFill>
              <a:srgbClr val="D0E8F5"/>
            </a:solidFill>
            <a:prstDash val="solid"/>
          </a:ln>
        </p:spPr>
      </p:sp>
      <p:sp>
        <p:nvSpPr>
          <p:cNvPr id="8" name="Text 6"/>
          <p:cNvSpPr/>
          <p:nvPr/>
        </p:nvSpPr>
        <p:spPr>
          <a:xfrm>
            <a:off x="457200" y="1508760"/>
            <a:ext cx="3749040" cy="320040"/>
          </a:xfrm>
          <a:prstGeom prst="rect">
            <a:avLst/>
          </a:prstGeom>
          <a:noFill/>
          <a:ln/>
        </p:spPr>
        <p:txBody>
          <a:bodyPr wrap="square" lIns="0" tIns="0" rIns="0" bIns="0" rtlCol="0" anchor="ctr"/>
          <a:lstStyle/>
          <a:p>
            <a:pPr marL="0" indent="0">
              <a:buNone/>
            </a:pPr>
            <a:r>
              <a:rPr lang="en-US" sz="1400" b="1" dirty="0">
                <a:solidFill>
                  <a:srgbClr val="1A3A5C"/>
                </a:solidFill>
                <a:latin typeface="Calibri" pitchFamily="34" charset="0"/>
                <a:ea typeface="Calibri" pitchFamily="34" charset="-122"/>
                <a:cs typeface="Calibri" pitchFamily="34" charset="-120"/>
              </a:rPr>
              <a:t>Business Problem</a:t>
            </a:r>
            <a:endParaRPr lang="en-US" sz="1400" dirty="0"/>
          </a:p>
        </p:txBody>
      </p:sp>
      <p:sp>
        <p:nvSpPr>
          <p:cNvPr id="9" name="Text 7"/>
          <p:cNvSpPr/>
          <p:nvPr/>
        </p:nvSpPr>
        <p:spPr>
          <a:xfrm>
            <a:off x="457200" y="1920240"/>
            <a:ext cx="3749040" cy="384048"/>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 Global credit card fraud losses exceeded USD 33B in 2022</a:t>
            </a:r>
            <a:endParaRPr lang="en-US" sz="1200" dirty="0"/>
          </a:p>
        </p:txBody>
      </p:sp>
      <p:sp>
        <p:nvSpPr>
          <p:cNvPr id="10" name="Text 8"/>
          <p:cNvSpPr/>
          <p:nvPr/>
        </p:nvSpPr>
        <p:spPr>
          <a:xfrm>
            <a:off x="457200" y="2359152"/>
            <a:ext cx="3749040" cy="384048"/>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 Projected to surpass USD 40B by 2027 (Nilson Report)</a:t>
            </a:r>
            <a:endParaRPr lang="en-US" sz="1200" dirty="0"/>
          </a:p>
        </p:txBody>
      </p:sp>
      <p:sp>
        <p:nvSpPr>
          <p:cNvPr id="11" name="Text 9"/>
          <p:cNvSpPr/>
          <p:nvPr/>
        </p:nvSpPr>
        <p:spPr>
          <a:xfrm>
            <a:off x="457200" y="2798064"/>
            <a:ext cx="3749040" cy="384048"/>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 BSP flags digital payment fraud as growing systemic risk in the Philippines</a:t>
            </a:r>
            <a:endParaRPr lang="en-US" sz="1200" dirty="0"/>
          </a:p>
        </p:txBody>
      </p:sp>
      <p:sp>
        <p:nvSpPr>
          <p:cNvPr id="12" name="Text 10"/>
          <p:cNvSpPr/>
          <p:nvPr/>
        </p:nvSpPr>
        <p:spPr>
          <a:xfrm>
            <a:off x="457200" y="3236976"/>
            <a:ext cx="3749040" cy="384048"/>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 Traditional rule-based systems fail against adaptive fraud tactics</a:t>
            </a:r>
            <a:endParaRPr lang="en-US" sz="1200" dirty="0"/>
          </a:p>
        </p:txBody>
      </p:sp>
      <p:sp>
        <p:nvSpPr>
          <p:cNvPr id="13" name="Text 11"/>
          <p:cNvSpPr/>
          <p:nvPr/>
        </p:nvSpPr>
        <p:spPr>
          <a:xfrm>
            <a:off x="457200" y="3675888"/>
            <a:ext cx="3749040" cy="384048"/>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 Fraudsters test stolen cards with small amounts before escalating</a:t>
            </a:r>
            <a:endParaRPr lang="en-US" sz="1200" dirty="0"/>
          </a:p>
        </p:txBody>
      </p:sp>
      <p:sp>
        <p:nvSpPr>
          <p:cNvPr id="14" name="Shape 12"/>
          <p:cNvSpPr/>
          <p:nvPr/>
        </p:nvSpPr>
        <p:spPr>
          <a:xfrm>
            <a:off x="4663440" y="1417320"/>
            <a:ext cx="4114800" cy="3108960"/>
          </a:xfrm>
          <a:prstGeom prst="rect">
            <a:avLst/>
          </a:prstGeom>
          <a:solidFill>
            <a:srgbClr val="FFF8F0"/>
          </a:solidFill>
          <a:ln w="12700">
            <a:solidFill>
              <a:srgbClr val="D0E8F5"/>
            </a:solidFill>
            <a:prstDash val="solid"/>
          </a:ln>
        </p:spPr>
      </p:sp>
      <p:sp>
        <p:nvSpPr>
          <p:cNvPr id="15" name="Text 13"/>
          <p:cNvSpPr/>
          <p:nvPr/>
        </p:nvSpPr>
        <p:spPr>
          <a:xfrm>
            <a:off x="4846320" y="1508760"/>
            <a:ext cx="3749040" cy="320040"/>
          </a:xfrm>
          <a:prstGeom prst="rect">
            <a:avLst/>
          </a:prstGeom>
          <a:noFill/>
          <a:ln/>
        </p:spPr>
        <p:txBody>
          <a:bodyPr wrap="square" lIns="0" tIns="0" rIns="0" bIns="0" rtlCol="0" anchor="ctr"/>
          <a:lstStyle/>
          <a:p>
            <a:pPr marL="0" indent="0">
              <a:buNone/>
            </a:pPr>
            <a:r>
              <a:rPr lang="en-US" sz="1400" b="1" dirty="0">
                <a:solidFill>
                  <a:srgbClr val="1A3A5C"/>
                </a:solidFill>
                <a:latin typeface="Calibri" pitchFamily="34" charset="0"/>
                <a:ea typeface="Calibri" pitchFamily="34" charset="-122"/>
                <a:cs typeface="Calibri" pitchFamily="34" charset="-120"/>
              </a:rPr>
              <a:t>ML Task Definition</a:t>
            </a:r>
            <a:endParaRPr lang="en-US" sz="1400" dirty="0"/>
          </a:p>
        </p:txBody>
      </p:sp>
      <p:sp>
        <p:nvSpPr>
          <p:cNvPr id="16" name="Text 14"/>
          <p:cNvSpPr/>
          <p:nvPr/>
        </p:nvSpPr>
        <p:spPr>
          <a:xfrm>
            <a:off x="4846320" y="1920240"/>
            <a:ext cx="1463040" cy="34747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Task Type:</a:t>
            </a:r>
            <a:endParaRPr lang="en-US" sz="1100" dirty="0"/>
          </a:p>
        </p:txBody>
      </p:sp>
      <p:sp>
        <p:nvSpPr>
          <p:cNvPr id="17" name="Text 15"/>
          <p:cNvSpPr/>
          <p:nvPr/>
        </p:nvSpPr>
        <p:spPr>
          <a:xfrm>
            <a:off x="6309360" y="1920240"/>
            <a:ext cx="2286000" cy="34747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Binary Classification</a:t>
            </a:r>
            <a:endParaRPr lang="en-US" sz="1100" dirty="0"/>
          </a:p>
        </p:txBody>
      </p:sp>
      <p:sp>
        <p:nvSpPr>
          <p:cNvPr id="18" name="Text 16"/>
          <p:cNvSpPr/>
          <p:nvPr/>
        </p:nvSpPr>
        <p:spPr>
          <a:xfrm>
            <a:off x="4846320" y="2340864"/>
            <a:ext cx="1463040" cy="34747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Target:</a:t>
            </a:r>
            <a:endParaRPr lang="en-US" sz="1100" dirty="0"/>
          </a:p>
        </p:txBody>
      </p:sp>
      <p:sp>
        <p:nvSpPr>
          <p:cNvPr id="19" name="Text 17"/>
          <p:cNvSpPr/>
          <p:nvPr/>
        </p:nvSpPr>
        <p:spPr>
          <a:xfrm>
            <a:off x="6309360" y="2340864"/>
            <a:ext cx="2286000" cy="34747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Class (0=Legit, 1=Fraud)</a:t>
            </a:r>
            <a:endParaRPr lang="en-US" sz="1100" dirty="0"/>
          </a:p>
        </p:txBody>
      </p:sp>
      <p:sp>
        <p:nvSpPr>
          <p:cNvPr id="20" name="Text 18"/>
          <p:cNvSpPr/>
          <p:nvPr/>
        </p:nvSpPr>
        <p:spPr>
          <a:xfrm>
            <a:off x="4846320" y="2761488"/>
            <a:ext cx="1463040" cy="34747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Features:</a:t>
            </a:r>
            <a:endParaRPr lang="en-US" sz="1100" dirty="0"/>
          </a:p>
        </p:txBody>
      </p:sp>
      <p:sp>
        <p:nvSpPr>
          <p:cNvPr id="21" name="Text 19"/>
          <p:cNvSpPr/>
          <p:nvPr/>
        </p:nvSpPr>
        <p:spPr>
          <a:xfrm>
            <a:off x="6309360" y="2761488"/>
            <a:ext cx="2286000" cy="34747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28 PCA + Time + Amount</a:t>
            </a:r>
            <a:endParaRPr lang="en-US" sz="1100" dirty="0"/>
          </a:p>
        </p:txBody>
      </p:sp>
      <p:sp>
        <p:nvSpPr>
          <p:cNvPr id="22" name="Text 20"/>
          <p:cNvSpPr/>
          <p:nvPr/>
        </p:nvSpPr>
        <p:spPr>
          <a:xfrm>
            <a:off x="4846320" y="3182112"/>
            <a:ext cx="1463040" cy="34747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Dataset:</a:t>
            </a:r>
            <a:endParaRPr lang="en-US" sz="1100" dirty="0"/>
          </a:p>
        </p:txBody>
      </p:sp>
      <p:sp>
        <p:nvSpPr>
          <p:cNvPr id="23" name="Text 21"/>
          <p:cNvSpPr/>
          <p:nvPr/>
        </p:nvSpPr>
        <p:spPr>
          <a:xfrm>
            <a:off x="6309360" y="3182112"/>
            <a:ext cx="2286000" cy="34747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284,807 transactions</a:t>
            </a:r>
            <a:endParaRPr lang="en-US" sz="1100" dirty="0"/>
          </a:p>
        </p:txBody>
      </p:sp>
      <p:sp>
        <p:nvSpPr>
          <p:cNvPr id="24" name="Text 22"/>
          <p:cNvSpPr/>
          <p:nvPr/>
        </p:nvSpPr>
        <p:spPr>
          <a:xfrm>
            <a:off x="4846320" y="3602736"/>
            <a:ext cx="1463040" cy="34747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Challenge:</a:t>
            </a:r>
            <a:endParaRPr lang="en-US" sz="1100" dirty="0"/>
          </a:p>
        </p:txBody>
      </p:sp>
      <p:sp>
        <p:nvSpPr>
          <p:cNvPr id="25" name="Text 23"/>
          <p:cNvSpPr/>
          <p:nvPr/>
        </p:nvSpPr>
        <p:spPr>
          <a:xfrm>
            <a:off x="6309360" y="3602736"/>
            <a:ext cx="2286000" cy="34747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598:1 class imbalance</a:t>
            </a:r>
            <a:endParaRPr lang="en-US" sz="1100" dirty="0"/>
          </a:p>
        </p:txBody>
      </p:sp>
      <p:sp>
        <p:nvSpPr>
          <p:cNvPr id="26" name="Text 24"/>
          <p:cNvSpPr/>
          <p:nvPr/>
        </p:nvSpPr>
        <p:spPr>
          <a:xfrm>
            <a:off x="4846320" y="4023360"/>
            <a:ext cx="1463040" cy="34747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Primary Metric:</a:t>
            </a:r>
            <a:endParaRPr lang="en-US" sz="1100" dirty="0"/>
          </a:p>
        </p:txBody>
      </p:sp>
      <p:sp>
        <p:nvSpPr>
          <p:cNvPr id="27" name="Text 25"/>
          <p:cNvSpPr/>
          <p:nvPr/>
        </p:nvSpPr>
        <p:spPr>
          <a:xfrm>
            <a:off x="6309360" y="4023360"/>
            <a:ext cx="2286000" cy="34747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AUC-ROC + F1 + PR-AUC</a:t>
            </a:r>
            <a:endParaRPr lang="en-US" sz="1100" dirty="0"/>
          </a:p>
        </p:txBody>
      </p:sp>
      <p:sp>
        <p:nvSpPr>
          <p:cNvPr id="28" name="Text 26"/>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Step 1: Problem Framing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777240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 Overview &amp; Key EDA Findings</a:t>
            </a:r>
            <a:endParaRPr lang="en-US" sz="2600" dirty="0"/>
          </a:p>
        </p:txBody>
      </p:sp>
      <p:sp>
        <p:nvSpPr>
          <p:cNvPr id="5" name="Text 3"/>
          <p:cNvSpPr/>
          <p:nvPr/>
        </p:nvSpPr>
        <p:spPr>
          <a:xfrm>
            <a:off x="365760" y="749808"/>
            <a:ext cx="777240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ULB Credit Card Fraud Dataset — September 2013, European cardholders</a:t>
            </a:r>
            <a:endParaRPr lang="en-US" sz="1300" dirty="0"/>
          </a:p>
        </p:txBody>
      </p:sp>
      <p:sp>
        <p:nvSpPr>
          <p:cNvPr id="6" name="Shape 4"/>
          <p:cNvSpPr/>
          <p:nvPr/>
        </p:nvSpPr>
        <p:spPr>
          <a:xfrm>
            <a:off x="8321040" y="91440"/>
            <a:ext cx="640080" cy="320040"/>
          </a:xfrm>
          <a:prstGeom prst="rect">
            <a:avLst/>
          </a:prstGeom>
          <a:solidFill>
            <a:srgbClr val="4A90C4"/>
          </a:solidFill>
          <a:ln/>
        </p:spPr>
      </p:sp>
      <p:sp>
        <p:nvSpPr>
          <p:cNvPr id="7" name="Shape 5"/>
          <p:cNvSpPr/>
          <p:nvPr/>
        </p:nvSpPr>
        <p:spPr>
          <a:xfrm>
            <a:off x="274320" y="1417320"/>
            <a:ext cx="1920240" cy="1005840"/>
          </a:xfrm>
          <a:prstGeom prst="rect">
            <a:avLst/>
          </a:prstGeom>
          <a:solidFill>
            <a:srgbClr val="E8F4FD"/>
          </a:solidFill>
          <a:ln w="12700">
            <a:solidFill>
              <a:srgbClr val="D0E8F5"/>
            </a:solidFill>
            <a:prstDash val="solid"/>
          </a:ln>
        </p:spPr>
      </p:sp>
      <p:sp>
        <p:nvSpPr>
          <p:cNvPr id="8" name="Text 6"/>
          <p:cNvSpPr/>
          <p:nvPr/>
        </p:nvSpPr>
        <p:spPr>
          <a:xfrm>
            <a:off x="274320" y="1490472"/>
            <a:ext cx="1920240" cy="502920"/>
          </a:xfrm>
          <a:prstGeom prst="rect">
            <a:avLst/>
          </a:prstGeom>
          <a:noFill/>
          <a:ln/>
        </p:spPr>
        <p:txBody>
          <a:bodyPr wrap="square" lIns="0" tIns="0" rIns="0" bIns="0" rtlCol="0" anchor="ctr"/>
          <a:lstStyle/>
          <a:p>
            <a:pPr marL="0" indent="0" algn="ctr">
              <a:buNone/>
            </a:pPr>
            <a:r>
              <a:rPr lang="en-US" sz="2800" b="1" dirty="0">
                <a:solidFill>
                  <a:srgbClr val="1A3A5C"/>
                </a:solidFill>
                <a:latin typeface="Calibri" pitchFamily="34" charset="0"/>
                <a:ea typeface="Calibri" pitchFamily="34" charset="-122"/>
                <a:cs typeface="Calibri" pitchFamily="34" charset="-120"/>
              </a:rPr>
              <a:t>284,807</a:t>
            </a:r>
            <a:endParaRPr lang="en-US" sz="2800" dirty="0"/>
          </a:p>
        </p:txBody>
      </p:sp>
      <p:sp>
        <p:nvSpPr>
          <p:cNvPr id="9" name="Text 7"/>
          <p:cNvSpPr/>
          <p:nvPr/>
        </p:nvSpPr>
        <p:spPr>
          <a:xfrm>
            <a:off x="274320" y="1984248"/>
            <a:ext cx="1920240" cy="32004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Total Transactions</a:t>
            </a:r>
            <a:endParaRPr lang="en-US" sz="1100" dirty="0"/>
          </a:p>
        </p:txBody>
      </p:sp>
      <p:sp>
        <p:nvSpPr>
          <p:cNvPr id="10" name="Shape 8"/>
          <p:cNvSpPr/>
          <p:nvPr/>
        </p:nvSpPr>
        <p:spPr>
          <a:xfrm>
            <a:off x="2423160" y="1417320"/>
            <a:ext cx="1920240" cy="1005840"/>
          </a:xfrm>
          <a:prstGeom prst="rect">
            <a:avLst/>
          </a:prstGeom>
          <a:solidFill>
            <a:srgbClr val="E8F4FD"/>
          </a:solidFill>
          <a:ln w="12700">
            <a:solidFill>
              <a:srgbClr val="D0E8F5"/>
            </a:solidFill>
            <a:prstDash val="solid"/>
          </a:ln>
        </p:spPr>
      </p:sp>
      <p:sp>
        <p:nvSpPr>
          <p:cNvPr id="11" name="Text 9"/>
          <p:cNvSpPr/>
          <p:nvPr/>
        </p:nvSpPr>
        <p:spPr>
          <a:xfrm>
            <a:off x="2423160" y="1490472"/>
            <a:ext cx="1920240" cy="502920"/>
          </a:xfrm>
          <a:prstGeom prst="rect">
            <a:avLst/>
          </a:prstGeom>
          <a:noFill/>
          <a:ln/>
        </p:spPr>
        <p:txBody>
          <a:bodyPr wrap="square" lIns="0" tIns="0" rIns="0" bIns="0" rtlCol="0" anchor="ctr"/>
          <a:lstStyle/>
          <a:p>
            <a:pPr marL="0" indent="0" algn="ctr">
              <a:buNone/>
            </a:pPr>
            <a:r>
              <a:rPr lang="en-US" sz="2800" b="1" dirty="0">
                <a:solidFill>
                  <a:srgbClr val="E74C3C"/>
                </a:solidFill>
                <a:latin typeface="Calibri" pitchFamily="34" charset="0"/>
                <a:ea typeface="Calibri" pitchFamily="34" charset="-122"/>
                <a:cs typeface="Calibri" pitchFamily="34" charset="-120"/>
              </a:rPr>
              <a:t>473</a:t>
            </a:r>
            <a:endParaRPr lang="en-US" sz="2800" dirty="0"/>
          </a:p>
        </p:txBody>
      </p:sp>
      <p:sp>
        <p:nvSpPr>
          <p:cNvPr id="12" name="Text 10"/>
          <p:cNvSpPr/>
          <p:nvPr/>
        </p:nvSpPr>
        <p:spPr>
          <a:xfrm>
            <a:off x="2423160" y="1984248"/>
            <a:ext cx="1920240" cy="32004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Fraud Cases (after cleaning)</a:t>
            </a:r>
            <a:endParaRPr lang="en-US" sz="1100" dirty="0"/>
          </a:p>
        </p:txBody>
      </p:sp>
      <p:sp>
        <p:nvSpPr>
          <p:cNvPr id="13" name="Shape 11"/>
          <p:cNvSpPr/>
          <p:nvPr/>
        </p:nvSpPr>
        <p:spPr>
          <a:xfrm>
            <a:off x="4572000" y="1417320"/>
            <a:ext cx="1920240" cy="1005840"/>
          </a:xfrm>
          <a:prstGeom prst="rect">
            <a:avLst/>
          </a:prstGeom>
          <a:solidFill>
            <a:srgbClr val="E8F4FD"/>
          </a:solidFill>
          <a:ln w="12700">
            <a:solidFill>
              <a:srgbClr val="D0E8F5"/>
            </a:solidFill>
            <a:prstDash val="solid"/>
          </a:ln>
        </p:spPr>
      </p:sp>
      <p:sp>
        <p:nvSpPr>
          <p:cNvPr id="14" name="Text 12"/>
          <p:cNvSpPr/>
          <p:nvPr/>
        </p:nvSpPr>
        <p:spPr>
          <a:xfrm>
            <a:off x="4572000" y="1490472"/>
            <a:ext cx="1920240" cy="502920"/>
          </a:xfrm>
          <a:prstGeom prst="rect">
            <a:avLst/>
          </a:prstGeom>
          <a:noFill/>
          <a:ln/>
        </p:spPr>
        <p:txBody>
          <a:bodyPr wrap="square" lIns="0" tIns="0" rIns="0" bIns="0" rtlCol="0" anchor="ctr"/>
          <a:lstStyle/>
          <a:p>
            <a:pPr marL="0" indent="0" algn="ctr">
              <a:buNone/>
            </a:pPr>
            <a:r>
              <a:rPr lang="en-US" sz="2800" b="1" dirty="0">
                <a:solidFill>
                  <a:srgbClr val="1A3A5C"/>
                </a:solidFill>
                <a:latin typeface="Calibri" pitchFamily="34" charset="0"/>
                <a:ea typeface="Calibri" pitchFamily="34" charset="-122"/>
                <a:cs typeface="Calibri" pitchFamily="34" charset="-120"/>
              </a:rPr>
              <a:t>598:1</a:t>
            </a:r>
            <a:endParaRPr lang="en-US" sz="2800" dirty="0"/>
          </a:p>
        </p:txBody>
      </p:sp>
      <p:sp>
        <p:nvSpPr>
          <p:cNvPr id="15" name="Text 13"/>
          <p:cNvSpPr/>
          <p:nvPr/>
        </p:nvSpPr>
        <p:spPr>
          <a:xfrm>
            <a:off x="4572000" y="1984248"/>
            <a:ext cx="1920240" cy="32004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Imbalance Ratio</a:t>
            </a:r>
            <a:endParaRPr lang="en-US" sz="1100" dirty="0"/>
          </a:p>
        </p:txBody>
      </p:sp>
      <p:sp>
        <p:nvSpPr>
          <p:cNvPr id="16" name="Shape 14"/>
          <p:cNvSpPr/>
          <p:nvPr/>
        </p:nvSpPr>
        <p:spPr>
          <a:xfrm>
            <a:off x="6720840" y="1417320"/>
            <a:ext cx="1920240" cy="1005840"/>
          </a:xfrm>
          <a:prstGeom prst="rect">
            <a:avLst/>
          </a:prstGeom>
          <a:solidFill>
            <a:srgbClr val="E8F4FD"/>
          </a:solidFill>
          <a:ln w="12700">
            <a:solidFill>
              <a:srgbClr val="D0E8F5"/>
            </a:solidFill>
            <a:prstDash val="solid"/>
          </a:ln>
        </p:spPr>
      </p:sp>
      <p:sp>
        <p:nvSpPr>
          <p:cNvPr id="17" name="Text 15"/>
          <p:cNvSpPr/>
          <p:nvPr/>
        </p:nvSpPr>
        <p:spPr>
          <a:xfrm>
            <a:off x="6720840" y="1490472"/>
            <a:ext cx="1920240" cy="502920"/>
          </a:xfrm>
          <a:prstGeom prst="rect">
            <a:avLst/>
          </a:prstGeom>
          <a:noFill/>
          <a:ln/>
        </p:spPr>
        <p:txBody>
          <a:bodyPr wrap="square" lIns="0" tIns="0" rIns="0" bIns="0" rtlCol="0" anchor="ctr"/>
          <a:lstStyle/>
          <a:p>
            <a:pPr marL="0" indent="0" algn="ctr">
              <a:buNone/>
            </a:pPr>
            <a:r>
              <a:rPr lang="en-US" sz="2800" b="1" dirty="0">
                <a:solidFill>
                  <a:srgbClr val="1A3A5C"/>
                </a:solidFill>
                <a:latin typeface="Calibri" pitchFamily="34" charset="0"/>
                <a:ea typeface="Calibri" pitchFamily="34" charset="-122"/>
                <a:cs typeface="Calibri" pitchFamily="34" charset="-120"/>
              </a:rPr>
              <a:t>15</a:t>
            </a:r>
            <a:endParaRPr lang="en-US" sz="2800" dirty="0"/>
          </a:p>
        </p:txBody>
      </p:sp>
      <p:sp>
        <p:nvSpPr>
          <p:cNvPr id="18" name="Text 16"/>
          <p:cNvSpPr/>
          <p:nvPr/>
        </p:nvSpPr>
        <p:spPr>
          <a:xfrm>
            <a:off x="6720840" y="1984248"/>
            <a:ext cx="1920240" cy="32004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Features Selected</a:t>
            </a:r>
            <a:endParaRPr lang="en-US" sz="1100" dirty="0"/>
          </a:p>
        </p:txBody>
      </p:sp>
      <p:sp>
        <p:nvSpPr>
          <p:cNvPr id="19" name="Shape 17"/>
          <p:cNvSpPr/>
          <p:nvPr/>
        </p:nvSpPr>
        <p:spPr>
          <a:xfrm>
            <a:off x="274320" y="2606040"/>
            <a:ext cx="8503920" cy="1828800"/>
          </a:xfrm>
          <a:prstGeom prst="rect">
            <a:avLst/>
          </a:prstGeom>
          <a:solidFill>
            <a:srgbClr val="E8F4FD"/>
          </a:solidFill>
          <a:ln w="12700">
            <a:solidFill>
              <a:srgbClr val="D0E8F5"/>
            </a:solidFill>
            <a:prstDash val="solid"/>
          </a:ln>
        </p:spPr>
      </p:sp>
      <p:sp>
        <p:nvSpPr>
          <p:cNvPr id="20" name="Text 18"/>
          <p:cNvSpPr/>
          <p:nvPr/>
        </p:nvSpPr>
        <p:spPr>
          <a:xfrm>
            <a:off x="457200" y="2697480"/>
            <a:ext cx="8229600" cy="32004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Key EDA Findings</a:t>
            </a:r>
            <a:endParaRPr lang="en-US" sz="1300" dirty="0"/>
          </a:p>
        </p:txBody>
      </p:sp>
      <p:sp>
        <p:nvSpPr>
          <p:cNvPr id="21" name="Text 19"/>
          <p:cNvSpPr/>
          <p:nvPr/>
        </p:nvSpPr>
        <p:spPr>
          <a:xfrm>
            <a:off x="457200" y="3063240"/>
            <a:ext cx="137160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Amount Pattern: </a:t>
            </a:r>
            <a:endParaRPr lang="en-US" sz="1000" dirty="0"/>
          </a:p>
        </p:txBody>
      </p:sp>
      <p:sp>
        <p:nvSpPr>
          <p:cNvPr id="22" name="Text 20"/>
          <p:cNvSpPr/>
          <p:nvPr/>
        </p:nvSpPr>
        <p:spPr>
          <a:xfrm>
            <a:off x="1828800" y="3063240"/>
            <a:ext cx="256032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Fraud median amount is LOWER than legitimate — fraudsters test cards with small charges before escalating</a:t>
            </a:r>
            <a:endParaRPr lang="en-US" sz="1000" dirty="0"/>
          </a:p>
        </p:txBody>
      </p:sp>
      <p:sp>
        <p:nvSpPr>
          <p:cNvPr id="23" name="Text 21"/>
          <p:cNvSpPr/>
          <p:nvPr/>
        </p:nvSpPr>
        <p:spPr>
          <a:xfrm>
            <a:off x="457200" y="3566160"/>
            <a:ext cx="137160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Time Pattern: </a:t>
            </a:r>
            <a:endParaRPr lang="en-US" sz="1000" dirty="0"/>
          </a:p>
        </p:txBody>
      </p:sp>
      <p:sp>
        <p:nvSpPr>
          <p:cNvPr id="24" name="Text 22"/>
          <p:cNvSpPr/>
          <p:nvPr/>
        </p:nvSpPr>
        <p:spPr>
          <a:xfrm>
            <a:off x="1828800" y="3566160"/>
            <a:ext cx="256032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Legitimate transactions show bimodal daytime peaks; fraud is more uniformly distributed — consistent with automated attacks</a:t>
            </a:r>
            <a:endParaRPr lang="en-US" sz="1000" dirty="0"/>
          </a:p>
        </p:txBody>
      </p:sp>
      <p:sp>
        <p:nvSpPr>
          <p:cNvPr id="25" name="Text 23"/>
          <p:cNvSpPr/>
          <p:nvPr/>
        </p:nvSpPr>
        <p:spPr>
          <a:xfrm>
            <a:off x="4709160" y="3063240"/>
            <a:ext cx="137160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Top Features: </a:t>
            </a:r>
            <a:endParaRPr lang="en-US" sz="1000" dirty="0"/>
          </a:p>
        </p:txBody>
      </p:sp>
      <p:sp>
        <p:nvSpPr>
          <p:cNvPr id="26" name="Text 24"/>
          <p:cNvSpPr/>
          <p:nvPr/>
        </p:nvSpPr>
        <p:spPr>
          <a:xfrm>
            <a:off x="6080760" y="3063240"/>
            <a:ext cx="256032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V14, V12, V4 carry the strongest fraud signal (SHAP) — V17 ranked #1 by correlation but drops to #7 by SHAP, revealing non-linear effects</a:t>
            </a:r>
            <a:endParaRPr lang="en-US" sz="1000" dirty="0"/>
          </a:p>
        </p:txBody>
      </p:sp>
      <p:sp>
        <p:nvSpPr>
          <p:cNvPr id="27" name="Text 25"/>
          <p:cNvSpPr/>
          <p:nvPr/>
        </p:nvSpPr>
        <p:spPr>
          <a:xfrm>
            <a:off x="4709160" y="3566160"/>
            <a:ext cx="137160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t-SNE Clusters: </a:t>
            </a:r>
            <a:endParaRPr lang="en-US" sz="1000" dirty="0"/>
          </a:p>
        </p:txBody>
      </p:sp>
      <p:sp>
        <p:nvSpPr>
          <p:cNvPr id="28" name="Text 26"/>
          <p:cNvSpPr/>
          <p:nvPr/>
        </p:nvSpPr>
        <p:spPr>
          <a:xfrm>
            <a:off x="6080760" y="3566160"/>
            <a:ext cx="256032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4 distinct fraud clusters identified — fraud is not one pattern but multiple attack typologies, supporting ensemble modelling</a:t>
            </a:r>
            <a:endParaRPr lang="en-US" sz="1000" dirty="0"/>
          </a:p>
        </p:txBody>
      </p:sp>
      <p:sp>
        <p:nvSpPr>
          <p:cNvPr id="29" name="Text 27"/>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Step 2-3: Data &amp; EDA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777240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Feature Engineering &amp; Selection</a:t>
            </a:r>
            <a:endParaRPr lang="en-US" sz="2600" dirty="0"/>
          </a:p>
        </p:txBody>
      </p:sp>
      <p:sp>
        <p:nvSpPr>
          <p:cNvPr id="5" name="Text 3"/>
          <p:cNvSpPr/>
          <p:nvPr/>
        </p:nvSpPr>
        <p:spPr>
          <a:xfrm>
            <a:off x="365760" y="749808"/>
            <a:ext cx="777240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From 32 candidate features to 15 consensus-selected predictors</a:t>
            </a:r>
            <a:endParaRPr lang="en-US" sz="1300" dirty="0"/>
          </a:p>
        </p:txBody>
      </p:sp>
      <p:sp>
        <p:nvSpPr>
          <p:cNvPr id="6" name="Shape 4"/>
          <p:cNvSpPr/>
          <p:nvPr/>
        </p:nvSpPr>
        <p:spPr>
          <a:xfrm>
            <a:off x="8321040" y="91440"/>
            <a:ext cx="640080" cy="320040"/>
          </a:xfrm>
          <a:prstGeom prst="rect">
            <a:avLst/>
          </a:prstGeom>
          <a:solidFill>
            <a:srgbClr val="4A90C4"/>
          </a:solidFill>
          <a:ln/>
        </p:spPr>
      </p:sp>
      <p:sp>
        <p:nvSpPr>
          <p:cNvPr id="7" name="Shape 5"/>
          <p:cNvSpPr/>
          <p:nvPr/>
        </p:nvSpPr>
        <p:spPr>
          <a:xfrm>
            <a:off x="274320" y="1417320"/>
            <a:ext cx="4023360" cy="1554480"/>
          </a:xfrm>
          <a:prstGeom prst="rect">
            <a:avLst/>
          </a:prstGeom>
          <a:solidFill>
            <a:srgbClr val="E8F4FD"/>
          </a:solidFill>
          <a:ln w="12700">
            <a:solidFill>
              <a:srgbClr val="D0E8F5"/>
            </a:solidFill>
            <a:prstDash val="solid"/>
          </a:ln>
        </p:spPr>
      </p:sp>
      <p:sp>
        <p:nvSpPr>
          <p:cNvPr id="8" name="Text 6"/>
          <p:cNvSpPr/>
          <p:nvPr/>
        </p:nvSpPr>
        <p:spPr>
          <a:xfrm>
            <a:off x="457200" y="1508760"/>
            <a:ext cx="3657600" cy="32004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Engineered Features</a:t>
            </a:r>
            <a:endParaRPr lang="en-US" sz="1300" dirty="0"/>
          </a:p>
        </p:txBody>
      </p:sp>
      <p:sp>
        <p:nvSpPr>
          <p:cNvPr id="9" name="Text 7"/>
          <p:cNvSpPr/>
          <p:nvPr/>
        </p:nvSpPr>
        <p:spPr>
          <a:xfrm>
            <a:off x="457200" y="1920240"/>
            <a:ext cx="365760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RobustScaler on Time &amp; Amount</a:t>
            </a:r>
            <a:endParaRPr lang="en-US" sz="1100" dirty="0"/>
          </a:p>
          <a:p>
            <a:pPr marL="0" indent="0">
              <a:buNone/>
            </a:pPr>
            <a:r>
              <a:rPr lang="en-US" sz="1100" dirty="0">
                <a:solidFill>
                  <a:srgbClr val="111111"/>
                </a:solidFill>
                <a:latin typeface="Calibri" pitchFamily="34" charset="0"/>
                <a:ea typeface="Calibri" pitchFamily="34" charset="-122"/>
                <a:cs typeface="Calibri" pitchFamily="34" charset="-120"/>
              </a:rPr>
              <a:t>(resistant to extreme outliers vs StandardScaler/MinMax)</a:t>
            </a:r>
            <a:endParaRPr lang="en-US" sz="1100" dirty="0"/>
          </a:p>
        </p:txBody>
      </p:sp>
      <p:sp>
        <p:nvSpPr>
          <p:cNvPr id="10" name="Text 8"/>
          <p:cNvSpPr/>
          <p:nvPr/>
        </p:nvSpPr>
        <p:spPr>
          <a:xfrm>
            <a:off x="457200" y="2258568"/>
            <a:ext cx="365760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Amount_log — log transform compresses right skew</a:t>
            </a:r>
            <a:endParaRPr lang="en-US" sz="1100" dirty="0"/>
          </a:p>
        </p:txBody>
      </p:sp>
      <p:sp>
        <p:nvSpPr>
          <p:cNvPr id="11" name="Text 9"/>
          <p:cNvSpPr/>
          <p:nvPr/>
        </p:nvSpPr>
        <p:spPr>
          <a:xfrm>
            <a:off x="457200" y="2596896"/>
            <a:ext cx="365760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High_amount — binary flag above Q75</a:t>
            </a:r>
            <a:endParaRPr lang="en-US" sz="1100" dirty="0"/>
          </a:p>
          <a:p>
            <a:pPr marL="0" indent="0">
              <a:buNone/>
            </a:pPr>
            <a:r>
              <a:rPr lang="en-US" sz="1100" dirty="0">
                <a:solidFill>
                  <a:srgbClr val="111111"/>
                </a:solidFill>
                <a:latin typeface="Calibri" pitchFamily="34" charset="0"/>
                <a:ea typeface="Calibri" pitchFamily="34" charset="-122"/>
                <a:cs typeface="Calibri" pitchFamily="34" charset="-120"/>
              </a:rPr>
              <a:t>(65% higher fraud rate in this segment)</a:t>
            </a:r>
            <a:endParaRPr lang="en-US" sz="1100" dirty="0"/>
          </a:p>
        </p:txBody>
      </p:sp>
      <p:sp>
        <p:nvSpPr>
          <p:cNvPr id="12" name="Shape 10"/>
          <p:cNvSpPr/>
          <p:nvPr/>
        </p:nvSpPr>
        <p:spPr>
          <a:xfrm>
            <a:off x="4572000" y="1417320"/>
            <a:ext cx="4297680" cy="1554480"/>
          </a:xfrm>
          <a:prstGeom prst="rect">
            <a:avLst/>
          </a:prstGeom>
          <a:solidFill>
            <a:srgbClr val="F0FFF4"/>
          </a:solidFill>
          <a:ln w="12700">
            <a:solidFill>
              <a:srgbClr val="D0E8F5"/>
            </a:solidFill>
            <a:prstDash val="solid"/>
          </a:ln>
        </p:spPr>
      </p:sp>
      <p:sp>
        <p:nvSpPr>
          <p:cNvPr id="13" name="Text 11"/>
          <p:cNvSpPr/>
          <p:nvPr/>
        </p:nvSpPr>
        <p:spPr>
          <a:xfrm>
            <a:off x="4754880" y="1508760"/>
            <a:ext cx="3931920" cy="32004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3-Method Consensus Selection</a:t>
            </a:r>
            <a:endParaRPr lang="en-US" sz="1300" dirty="0"/>
          </a:p>
        </p:txBody>
      </p:sp>
      <p:sp>
        <p:nvSpPr>
          <p:cNvPr id="14" name="Text 12"/>
          <p:cNvSpPr/>
          <p:nvPr/>
        </p:nvSpPr>
        <p:spPr>
          <a:xfrm>
            <a:off x="4754880" y="1920240"/>
            <a:ext cx="1097280" cy="30175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Filter:</a:t>
            </a:r>
            <a:endParaRPr lang="en-US" sz="1100" dirty="0"/>
          </a:p>
        </p:txBody>
      </p:sp>
      <p:sp>
        <p:nvSpPr>
          <p:cNvPr id="15" name="Text 13"/>
          <p:cNvSpPr/>
          <p:nvPr/>
        </p:nvSpPr>
        <p:spPr>
          <a:xfrm>
            <a:off x="5852160" y="1920240"/>
            <a:ext cx="2834640" cy="3017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SelectKBest — Mutual Information</a:t>
            </a:r>
            <a:endParaRPr lang="en-US" sz="1100" dirty="0"/>
          </a:p>
        </p:txBody>
      </p:sp>
      <p:sp>
        <p:nvSpPr>
          <p:cNvPr id="16" name="Text 14"/>
          <p:cNvSpPr/>
          <p:nvPr/>
        </p:nvSpPr>
        <p:spPr>
          <a:xfrm>
            <a:off x="4754880" y="2258568"/>
            <a:ext cx="1097280" cy="30175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Embedded:</a:t>
            </a:r>
            <a:endParaRPr lang="en-US" sz="1100" dirty="0"/>
          </a:p>
        </p:txBody>
      </p:sp>
      <p:sp>
        <p:nvSpPr>
          <p:cNvPr id="17" name="Text 15"/>
          <p:cNvSpPr/>
          <p:nvPr/>
        </p:nvSpPr>
        <p:spPr>
          <a:xfrm>
            <a:off x="5852160" y="2258568"/>
            <a:ext cx="2834640" cy="3017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Random Forest feature importance</a:t>
            </a:r>
            <a:endParaRPr lang="en-US" sz="1100" dirty="0"/>
          </a:p>
        </p:txBody>
      </p:sp>
      <p:sp>
        <p:nvSpPr>
          <p:cNvPr id="18" name="Text 16"/>
          <p:cNvSpPr/>
          <p:nvPr/>
        </p:nvSpPr>
        <p:spPr>
          <a:xfrm>
            <a:off x="4754880" y="2596896"/>
            <a:ext cx="1097280" cy="30175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Explainability:</a:t>
            </a:r>
            <a:endParaRPr lang="en-US" sz="1100" dirty="0"/>
          </a:p>
        </p:txBody>
      </p:sp>
      <p:sp>
        <p:nvSpPr>
          <p:cNvPr id="19" name="Text 17"/>
          <p:cNvSpPr/>
          <p:nvPr/>
        </p:nvSpPr>
        <p:spPr>
          <a:xfrm>
            <a:off x="5852160" y="2596896"/>
            <a:ext cx="2834640" cy="3017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SHAP mean |value| ranking</a:t>
            </a:r>
            <a:endParaRPr lang="en-US" sz="1100" dirty="0"/>
          </a:p>
        </p:txBody>
      </p:sp>
      <p:sp>
        <p:nvSpPr>
          <p:cNvPr id="20" name="Shape 18"/>
          <p:cNvSpPr/>
          <p:nvPr/>
        </p:nvSpPr>
        <p:spPr>
          <a:xfrm>
            <a:off x="274320" y="3063240"/>
            <a:ext cx="8595360" cy="502920"/>
          </a:xfrm>
          <a:prstGeom prst="rect">
            <a:avLst/>
          </a:prstGeom>
          <a:solidFill>
            <a:srgbClr val="1A3A5C"/>
          </a:solidFill>
          <a:ln/>
        </p:spPr>
      </p:sp>
      <p:sp>
        <p:nvSpPr>
          <p:cNvPr id="21" name="Text 19"/>
          <p:cNvSpPr/>
          <p:nvPr/>
        </p:nvSpPr>
        <p:spPr>
          <a:xfrm>
            <a:off x="457200" y="3127248"/>
            <a:ext cx="82296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Result: 32 features → 15 selected  (53% dimensionality reduction)  |  Rule: Top 15 in at least 2 of 3 methods</a:t>
            </a:r>
            <a:endParaRPr lang="en-US" sz="1200" dirty="0"/>
          </a:p>
        </p:txBody>
      </p:sp>
      <p:sp>
        <p:nvSpPr>
          <p:cNvPr id="22" name="Shape 20"/>
          <p:cNvSpPr/>
          <p:nvPr/>
        </p:nvSpPr>
        <p:spPr>
          <a:xfrm>
            <a:off x="274320" y="3657600"/>
            <a:ext cx="8595360" cy="1051560"/>
          </a:xfrm>
          <a:prstGeom prst="rect">
            <a:avLst/>
          </a:prstGeom>
          <a:solidFill>
            <a:srgbClr val="E8F4FD"/>
          </a:solidFill>
          <a:ln w="12700">
            <a:solidFill>
              <a:srgbClr val="D0E8F5"/>
            </a:solidFill>
            <a:prstDash val="solid"/>
          </a:ln>
        </p:spPr>
      </p:sp>
      <p:sp>
        <p:nvSpPr>
          <p:cNvPr id="23" name="Text 21"/>
          <p:cNvSpPr/>
          <p:nvPr/>
        </p:nvSpPr>
        <p:spPr>
          <a:xfrm>
            <a:off x="457200" y="3730752"/>
            <a:ext cx="8229600" cy="274320"/>
          </a:xfrm>
          <a:prstGeom prst="rect">
            <a:avLst/>
          </a:prstGeom>
          <a:noFill/>
          <a:ln/>
        </p:spPr>
        <p:txBody>
          <a:bodyPr wrap="square" lIns="0" tIns="0" rIns="0" bIns="0"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Top 7 Consensus Features  (by average rank across all 3 methods):</a:t>
            </a:r>
            <a:endParaRPr lang="en-US" sz="1100" dirty="0"/>
          </a:p>
        </p:txBody>
      </p:sp>
      <p:sp>
        <p:nvSpPr>
          <p:cNvPr id="24" name="Shape 22"/>
          <p:cNvSpPr/>
          <p:nvPr/>
        </p:nvSpPr>
        <p:spPr>
          <a:xfrm>
            <a:off x="411480" y="4069080"/>
            <a:ext cx="1097280" cy="502920"/>
          </a:xfrm>
          <a:prstGeom prst="rect">
            <a:avLst/>
          </a:prstGeom>
          <a:solidFill>
            <a:srgbClr val="2E6DAD"/>
          </a:solidFill>
          <a:ln/>
        </p:spPr>
      </p:sp>
      <p:sp>
        <p:nvSpPr>
          <p:cNvPr id="25" name="Text 23"/>
          <p:cNvSpPr/>
          <p:nvPr/>
        </p:nvSpPr>
        <p:spPr>
          <a:xfrm>
            <a:off x="411480" y="4069080"/>
            <a:ext cx="10972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V14</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6" name="Shape 24"/>
          <p:cNvSpPr/>
          <p:nvPr/>
        </p:nvSpPr>
        <p:spPr>
          <a:xfrm>
            <a:off x="1618488" y="4069080"/>
            <a:ext cx="1097280" cy="502920"/>
          </a:xfrm>
          <a:prstGeom prst="rect">
            <a:avLst/>
          </a:prstGeom>
          <a:solidFill>
            <a:srgbClr val="2E6DAD"/>
          </a:solidFill>
          <a:ln/>
        </p:spPr>
      </p:sp>
      <p:sp>
        <p:nvSpPr>
          <p:cNvPr id="27" name="Text 25"/>
          <p:cNvSpPr/>
          <p:nvPr/>
        </p:nvSpPr>
        <p:spPr>
          <a:xfrm>
            <a:off x="1618488" y="4069080"/>
            <a:ext cx="10972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V12</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6"/>
          <p:cNvSpPr/>
          <p:nvPr/>
        </p:nvSpPr>
        <p:spPr>
          <a:xfrm>
            <a:off x="2825496" y="4069080"/>
            <a:ext cx="1097280" cy="502920"/>
          </a:xfrm>
          <a:prstGeom prst="rect">
            <a:avLst/>
          </a:prstGeom>
          <a:solidFill>
            <a:srgbClr val="2E6DAD"/>
          </a:solidFill>
          <a:ln/>
        </p:spPr>
      </p:sp>
      <p:sp>
        <p:nvSpPr>
          <p:cNvPr id="29" name="Text 27"/>
          <p:cNvSpPr/>
          <p:nvPr/>
        </p:nvSpPr>
        <p:spPr>
          <a:xfrm>
            <a:off x="2825496" y="4069080"/>
            <a:ext cx="10972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V4</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0" name="Shape 28"/>
          <p:cNvSpPr/>
          <p:nvPr/>
        </p:nvSpPr>
        <p:spPr>
          <a:xfrm>
            <a:off x="4032504" y="4069080"/>
            <a:ext cx="1097280" cy="502920"/>
          </a:xfrm>
          <a:prstGeom prst="rect">
            <a:avLst/>
          </a:prstGeom>
          <a:solidFill>
            <a:srgbClr val="4A90C4"/>
          </a:solidFill>
          <a:ln/>
        </p:spPr>
      </p:sp>
      <p:sp>
        <p:nvSpPr>
          <p:cNvPr id="31" name="Text 29"/>
          <p:cNvSpPr/>
          <p:nvPr/>
        </p:nvSpPr>
        <p:spPr>
          <a:xfrm>
            <a:off x="4032504" y="4069080"/>
            <a:ext cx="10972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V10</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Shape 30"/>
          <p:cNvSpPr/>
          <p:nvPr/>
        </p:nvSpPr>
        <p:spPr>
          <a:xfrm>
            <a:off x="5239512" y="4069080"/>
            <a:ext cx="1097280" cy="502920"/>
          </a:xfrm>
          <a:prstGeom prst="rect">
            <a:avLst/>
          </a:prstGeom>
          <a:solidFill>
            <a:srgbClr val="4A90C4"/>
          </a:solidFill>
          <a:ln/>
        </p:spPr>
      </p:sp>
      <p:sp>
        <p:nvSpPr>
          <p:cNvPr id="33" name="Text 31"/>
          <p:cNvSpPr/>
          <p:nvPr/>
        </p:nvSpPr>
        <p:spPr>
          <a:xfrm>
            <a:off x="5239512" y="4069080"/>
            <a:ext cx="10972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V11</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4" name="Shape 32"/>
          <p:cNvSpPr/>
          <p:nvPr/>
        </p:nvSpPr>
        <p:spPr>
          <a:xfrm>
            <a:off x="6446520" y="4069080"/>
            <a:ext cx="1097280" cy="502920"/>
          </a:xfrm>
          <a:prstGeom prst="rect">
            <a:avLst/>
          </a:prstGeom>
          <a:solidFill>
            <a:srgbClr val="4A90C4"/>
          </a:solidFill>
          <a:ln/>
        </p:spPr>
      </p:sp>
      <p:sp>
        <p:nvSpPr>
          <p:cNvPr id="35" name="Text 33"/>
          <p:cNvSpPr/>
          <p:nvPr/>
        </p:nvSpPr>
        <p:spPr>
          <a:xfrm>
            <a:off x="6446520" y="4069080"/>
            <a:ext cx="10972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V3</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Shape 34"/>
          <p:cNvSpPr/>
          <p:nvPr/>
        </p:nvSpPr>
        <p:spPr>
          <a:xfrm>
            <a:off x="7653528" y="4069080"/>
            <a:ext cx="1097280" cy="502920"/>
          </a:xfrm>
          <a:prstGeom prst="rect">
            <a:avLst/>
          </a:prstGeom>
          <a:solidFill>
            <a:srgbClr val="4A90C4"/>
          </a:solidFill>
          <a:ln/>
        </p:spPr>
      </p:sp>
      <p:sp>
        <p:nvSpPr>
          <p:cNvPr id="37" name="Text 35"/>
          <p:cNvSpPr/>
          <p:nvPr/>
        </p:nvSpPr>
        <p:spPr>
          <a:xfrm>
            <a:off x="7653528" y="4069080"/>
            <a:ext cx="10972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V17</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8" name="Text 36"/>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Step 3: Feature Engineering &amp; Selection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777240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SHAP Feature Explainability</a:t>
            </a:r>
            <a:endParaRPr lang="en-US" sz="2600" dirty="0"/>
          </a:p>
        </p:txBody>
      </p:sp>
      <p:sp>
        <p:nvSpPr>
          <p:cNvPr id="5" name="Text 3"/>
          <p:cNvSpPr/>
          <p:nvPr/>
        </p:nvSpPr>
        <p:spPr>
          <a:xfrm>
            <a:off x="365760" y="749808"/>
            <a:ext cx="777240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Why SHAP reveals more than Pearson correlation alone</a:t>
            </a:r>
            <a:endParaRPr lang="en-US" sz="1300" dirty="0"/>
          </a:p>
        </p:txBody>
      </p:sp>
      <p:sp>
        <p:nvSpPr>
          <p:cNvPr id="6" name="Shape 4"/>
          <p:cNvSpPr/>
          <p:nvPr/>
        </p:nvSpPr>
        <p:spPr>
          <a:xfrm>
            <a:off x="8321040" y="91440"/>
            <a:ext cx="640080" cy="320040"/>
          </a:xfrm>
          <a:prstGeom prst="rect">
            <a:avLst/>
          </a:prstGeom>
          <a:solidFill>
            <a:srgbClr val="4A90C4"/>
          </a:solidFill>
          <a:ln/>
        </p:spPr>
      </p:sp>
      <p:sp>
        <p:nvSpPr>
          <p:cNvPr id="7" name="Shape 5"/>
          <p:cNvSpPr/>
          <p:nvPr/>
        </p:nvSpPr>
        <p:spPr>
          <a:xfrm>
            <a:off x="274320" y="1417320"/>
            <a:ext cx="8595360" cy="822960"/>
          </a:xfrm>
          <a:prstGeom prst="rect">
            <a:avLst/>
          </a:prstGeom>
          <a:solidFill>
            <a:srgbClr val="FFF3CD"/>
          </a:solidFill>
          <a:ln w="12700">
            <a:solidFill>
              <a:srgbClr val="D0E8F5"/>
            </a:solidFill>
            <a:prstDash val="solid"/>
          </a:ln>
        </p:spPr>
      </p:sp>
      <p:sp>
        <p:nvSpPr>
          <p:cNvPr id="8" name="Text 6"/>
          <p:cNvSpPr/>
          <p:nvPr/>
        </p:nvSpPr>
        <p:spPr>
          <a:xfrm>
            <a:off x="457200" y="1508760"/>
            <a:ext cx="8229600" cy="274320"/>
          </a:xfrm>
          <a:prstGeom prst="rect">
            <a:avLst/>
          </a:prstGeom>
          <a:noFill/>
          <a:ln/>
        </p:spPr>
        <p:txBody>
          <a:bodyPr wrap="square" lIns="0" tIns="0" rIns="0" bIns="0" rtlCol="0" anchor="ctr"/>
          <a:lstStyle/>
          <a:p>
            <a:pPr marL="0" indent="0">
              <a:buNone/>
            </a:pPr>
            <a:r>
              <a:rPr lang="en-US" sz="1200" b="1" dirty="0">
                <a:solidFill>
                  <a:srgbClr val="7D5A00"/>
                </a:solidFill>
                <a:latin typeface="Calibri" pitchFamily="34" charset="0"/>
                <a:ea typeface="Calibri" pitchFamily="34" charset="-122"/>
                <a:cs typeface="Calibri" pitchFamily="34" charset="-120"/>
              </a:rPr>
              <a:t>Key Finding: SHAP vs Correlation Divergence</a:t>
            </a:r>
            <a:endParaRPr lang="en-US" sz="1200" dirty="0"/>
          </a:p>
        </p:txBody>
      </p:sp>
      <p:sp>
        <p:nvSpPr>
          <p:cNvPr id="9" name="Text 7"/>
          <p:cNvSpPr/>
          <p:nvPr/>
        </p:nvSpPr>
        <p:spPr>
          <a:xfrm>
            <a:off x="457200" y="1783080"/>
            <a:ext cx="8229600" cy="36576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V17 ranks #1 by Pearson correlation (-0.313) but drops to #7 by SHAP importance. V14 ranks #2 by correlation but rises to #1 by SHAP. This demonstrates that linear correlation systematically underestimates features with non-linear threshold effects.</a:t>
            </a:r>
            <a:endParaRPr lang="en-US" sz="1100" dirty="0"/>
          </a:p>
        </p:txBody>
      </p:sp>
      <p:sp>
        <p:nvSpPr>
          <p:cNvPr id="10" name="Text 8"/>
          <p:cNvSpPr/>
          <p:nvPr/>
        </p:nvSpPr>
        <p:spPr>
          <a:xfrm>
            <a:off x="274320" y="2377440"/>
            <a:ext cx="4572000" cy="32004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Ranking Comparison — SHAP vs Correlation</a:t>
            </a:r>
            <a:endParaRPr lang="en-US" sz="1300" dirty="0"/>
          </a:p>
        </p:txBody>
      </p:sp>
      <p:sp>
        <p:nvSpPr>
          <p:cNvPr id="11" name="Shape 9"/>
          <p:cNvSpPr/>
          <p:nvPr/>
        </p:nvSpPr>
        <p:spPr>
          <a:xfrm>
            <a:off x="274320" y="2743200"/>
            <a:ext cx="1005840" cy="320040"/>
          </a:xfrm>
          <a:prstGeom prst="rect">
            <a:avLst/>
          </a:prstGeom>
          <a:solidFill>
            <a:srgbClr val="1A3A5C"/>
          </a:solidFill>
          <a:ln w="6350">
            <a:solidFill>
              <a:srgbClr val="D0E0EE"/>
            </a:solidFill>
            <a:prstDash val="solid"/>
          </a:ln>
        </p:spPr>
      </p:sp>
      <p:sp>
        <p:nvSpPr>
          <p:cNvPr id="12" name="Text 10"/>
          <p:cNvSpPr/>
          <p:nvPr/>
        </p:nvSpPr>
        <p:spPr>
          <a:xfrm>
            <a:off x="320040" y="2743200"/>
            <a:ext cx="91440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Rank</a:t>
            </a:r>
            <a:endParaRPr lang="en-US" sz="1100" dirty="0"/>
          </a:p>
        </p:txBody>
      </p:sp>
      <p:sp>
        <p:nvSpPr>
          <p:cNvPr id="13" name="Shape 11"/>
          <p:cNvSpPr/>
          <p:nvPr/>
        </p:nvSpPr>
        <p:spPr>
          <a:xfrm>
            <a:off x="1371600" y="2743200"/>
            <a:ext cx="1737360" cy="320040"/>
          </a:xfrm>
          <a:prstGeom prst="rect">
            <a:avLst/>
          </a:prstGeom>
          <a:solidFill>
            <a:srgbClr val="1A3A5C"/>
          </a:solidFill>
          <a:ln w="6350">
            <a:solidFill>
              <a:srgbClr val="D0E0EE"/>
            </a:solidFill>
            <a:prstDash val="solid"/>
          </a:ln>
        </p:spPr>
      </p:sp>
      <p:sp>
        <p:nvSpPr>
          <p:cNvPr id="14" name="Text 12"/>
          <p:cNvSpPr/>
          <p:nvPr/>
        </p:nvSpPr>
        <p:spPr>
          <a:xfrm>
            <a:off x="1417320" y="2743200"/>
            <a:ext cx="164592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By Correlation</a:t>
            </a:r>
            <a:endParaRPr lang="en-US" sz="1100" dirty="0"/>
          </a:p>
        </p:txBody>
      </p:sp>
      <p:sp>
        <p:nvSpPr>
          <p:cNvPr id="15" name="Shape 13"/>
          <p:cNvSpPr/>
          <p:nvPr/>
        </p:nvSpPr>
        <p:spPr>
          <a:xfrm>
            <a:off x="3200400" y="2743200"/>
            <a:ext cx="1737360" cy="320040"/>
          </a:xfrm>
          <a:prstGeom prst="rect">
            <a:avLst/>
          </a:prstGeom>
          <a:solidFill>
            <a:srgbClr val="1A3A5C"/>
          </a:solidFill>
          <a:ln w="6350">
            <a:solidFill>
              <a:srgbClr val="D0E0EE"/>
            </a:solidFill>
            <a:prstDash val="solid"/>
          </a:ln>
        </p:spPr>
      </p:sp>
      <p:sp>
        <p:nvSpPr>
          <p:cNvPr id="16" name="Text 14"/>
          <p:cNvSpPr/>
          <p:nvPr/>
        </p:nvSpPr>
        <p:spPr>
          <a:xfrm>
            <a:off x="3246120" y="2743200"/>
            <a:ext cx="164592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By SHAP</a:t>
            </a:r>
            <a:endParaRPr lang="en-US" sz="1100" dirty="0"/>
          </a:p>
        </p:txBody>
      </p:sp>
      <p:sp>
        <p:nvSpPr>
          <p:cNvPr id="17" name="Shape 15"/>
          <p:cNvSpPr/>
          <p:nvPr/>
        </p:nvSpPr>
        <p:spPr>
          <a:xfrm>
            <a:off x="5029200" y="2743200"/>
            <a:ext cx="1371600" cy="320040"/>
          </a:xfrm>
          <a:prstGeom prst="rect">
            <a:avLst/>
          </a:prstGeom>
          <a:solidFill>
            <a:srgbClr val="1A3A5C"/>
          </a:solidFill>
          <a:ln w="6350">
            <a:solidFill>
              <a:srgbClr val="D0E0EE"/>
            </a:solidFill>
            <a:prstDash val="solid"/>
          </a:ln>
        </p:spPr>
      </p:sp>
      <p:sp>
        <p:nvSpPr>
          <p:cNvPr id="18" name="Text 16"/>
          <p:cNvSpPr/>
          <p:nvPr/>
        </p:nvSpPr>
        <p:spPr>
          <a:xfrm>
            <a:off x="5074920" y="2743200"/>
            <a:ext cx="128016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Change</a:t>
            </a:r>
            <a:endParaRPr lang="en-US" sz="1100" dirty="0"/>
          </a:p>
        </p:txBody>
      </p:sp>
      <p:sp>
        <p:nvSpPr>
          <p:cNvPr id="19" name="Shape 17"/>
          <p:cNvSpPr/>
          <p:nvPr/>
        </p:nvSpPr>
        <p:spPr>
          <a:xfrm>
            <a:off x="274320" y="3081528"/>
            <a:ext cx="1005840" cy="320040"/>
          </a:xfrm>
          <a:prstGeom prst="rect">
            <a:avLst/>
          </a:prstGeom>
          <a:solidFill>
            <a:srgbClr val="FFFFFF"/>
          </a:solidFill>
          <a:ln w="6350">
            <a:solidFill>
              <a:srgbClr val="D0E0EE"/>
            </a:solidFill>
            <a:prstDash val="solid"/>
          </a:ln>
        </p:spPr>
      </p:sp>
      <p:sp>
        <p:nvSpPr>
          <p:cNvPr id="20" name="Text 18"/>
          <p:cNvSpPr/>
          <p:nvPr/>
        </p:nvSpPr>
        <p:spPr>
          <a:xfrm>
            <a:off x="320040" y="3081528"/>
            <a:ext cx="91440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1</a:t>
            </a:r>
            <a:endParaRPr lang="en-US" sz="1100" dirty="0"/>
          </a:p>
        </p:txBody>
      </p:sp>
      <p:sp>
        <p:nvSpPr>
          <p:cNvPr id="21" name="Shape 19"/>
          <p:cNvSpPr/>
          <p:nvPr/>
        </p:nvSpPr>
        <p:spPr>
          <a:xfrm>
            <a:off x="1371600" y="3081528"/>
            <a:ext cx="1737360" cy="320040"/>
          </a:xfrm>
          <a:prstGeom prst="rect">
            <a:avLst/>
          </a:prstGeom>
          <a:solidFill>
            <a:srgbClr val="FFFFFF"/>
          </a:solidFill>
          <a:ln w="6350">
            <a:solidFill>
              <a:srgbClr val="D0E0EE"/>
            </a:solidFill>
            <a:prstDash val="solid"/>
          </a:ln>
        </p:spPr>
      </p:sp>
      <p:sp>
        <p:nvSpPr>
          <p:cNvPr id="22" name="Text 20"/>
          <p:cNvSpPr/>
          <p:nvPr/>
        </p:nvSpPr>
        <p:spPr>
          <a:xfrm>
            <a:off x="1417320" y="3081528"/>
            <a:ext cx="164592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V17 (-0.313)</a:t>
            </a:r>
            <a:endParaRPr lang="en-US" sz="1100" dirty="0"/>
          </a:p>
        </p:txBody>
      </p:sp>
      <p:sp>
        <p:nvSpPr>
          <p:cNvPr id="23" name="Shape 21"/>
          <p:cNvSpPr/>
          <p:nvPr/>
        </p:nvSpPr>
        <p:spPr>
          <a:xfrm>
            <a:off x="3200400" y="3081528"/>
            <a:ext cx="1737360" cy="320040"/>
          </a:xfrm>
          <a:prstGeom prst="rect">
            <a:avLst/>
          </a:prstGeom>
          <a:solidFill>
            <a:srgbClr val="FFFFFF"/>
          </a:solidFill>
          <a:ln w="6350">
            <a:solidFill>
              <a:srgbClr val="D0E0EE"/>
            </a:solidFill>
            <a:prstDash val="solid"/>
          </a:ln>
        </p:spPr>
      </p:sp>
      <p:sp>
        <p:nvSpPr>
          <p:cNvPr id="24" name="Text 22"/>
          <p:cNvSpPr/>
          <p:nvPr/>
        </p:nvSpPr>
        <p:spPr>
          <a:xfrm>
            <a:off x="3246120" y="3081528"/>
            <a:ext cx="164592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V14 (0.083)</a:t>
            </a:r>
            <a:endParaRPr lang="en-US" sz="1100" dirty="0"/>
          </a:p>
        </p:txBody>
      </p:sp>
      <p:sp>
        <p:nvSpPr>
          <p:cNvPr id="25" name="Shape 23"/>
          <p:cNvSpPr/>
          <p:nvPr/>
        </p:nvSpPr>
        <p:spPr>
          <a:xfrm>
            <a:off x="5029200" y="3081528"/>
            <a:ext cx="1371600" cy="320040"/>
          </a:xfrm>
          <a:prstGeom prst="rect">
            <a:avLst/>
          </a:prstGeom>
          <a:solidFill>
            <a:srgbClr val="FFFFFF"/>
          </a:solidFill>
          <a:ln w="6350">
            <a:solidFill>
              <a:srgbClr val="D0E0EE"/>
            </a:solidFill>
            <a:prstDash val="solid"/>
          </a:ln>
        </p:spPr>
      </p:sp>
      <p:sp>
        <p:nvSpPr>
          <p:cNvPr id="26" name="Text 24"/>
          <p:cNvSpPr/>
          <p:nvPr/>
        </p:nvSpPr>
        <p:spPr>
          <a:xfrm>
            <a:off x="5074920" y="3081528"/>
            <a:ext cx="1280160" cy="320040"/>
          </a:xfrm>
          <a:prstGeom prst="rect">
            <a:avLst/>
          </a:prstGeom>
          <a:noFill/>
          <a:ln/>
        </p:spPr>
        <p:txBody>
          <a:bodyPr wrap="square" lIns="0" tIns="0" rIns="0" bIns="0" rtlCol="0" anchor="ctr"/>
          <a:lstStyle/>
          <a:p>
            <a:pPr marL="0" indent="0">
              <a:buNone/>
            </a:pPr>
            <a:r>
              <a:rPr lang="en-US" sz="1100" dirty="0">
                <a:solidFill>
                  <a:srgbClr val="27AE60"/>
                </a:solidFill>
                <a:latin typeface="Calibri" pitchFamily="34" charset="0"/>
                <a:ea typeface="Calibri" pitchFamily="34" charset="-122"/>
                <a:cs typeface="Calibri" pitchFamily="34" charset="-120"/>
              </a:rPr>
              <a:t>↑ moved up</a:t>
            </a:r>
            <a:endParaRPr lang="en-US" sz="1100" dirty="0"/>
          </a:p>
        </p:txBody>
      </p:sp>
      <p:sp>
        <p:nvSpPr>
          <p:cNvPr id="27" name="Shape 25"/>
          <p:cNvSpPr/>
          <p:nvPr/>
        </p:nvSpPr>
        <p:spPr>
          <a:xfrm>
            <a:off x="274320" y="3419856"/>
            <a:ext cx="1005840" cy="320040"/>
          </a:xfrm>
          <a:prstGeom prst="rect">
            <a:avLst/>
          </a:prstGeom>
          <a:solidFill>
            <a:srgbClr val="E8F4FD"/>
          </a:solidFill>
          <a:ln w="6350">
            <a:solidFill>
              <a:srgbClr val="D0E0EE"/>
            </a:solidFill>
            <a:prstDash val="solid"/>
          </a:ln>
        </p:spPr>
      </p:sp>
      <p:sp>
        <p:nvSpPr>
          <p:cNvPr id="28" name="Text 26"/>
          <p:cNvSpPr/>
          <p:nvPr/>
        </p:nvSpPr>
        <p:spPr>
          <a:xfrm>
            <a:off x="320040" y="3419856"/>
            <a:ext cx="91440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2</a:t>
            </a:r>
            <a:endParaRPr lang="en-US" sz="1100" dirty="0"/>
          </a:p>
        </p:txBody>
      </p:sp>
      <p:sp>
        <p:nvSpPr>
          <p:cNvPr id="29" name="Shape 27"/>
          <p:cNvSpPr/>
          <p:nvPr/>
        </p:nvSpPr>
        <p:spPr>
          <a:xfrm>
            <a:off x="1371600" y="3419856"/>
            <a:ext cx="1737360" cy="320040"/>
          </a:xfrm>
          <a:prstGeom prst="rect">
            <a:avLst/>
          </a:prstGeom>
          <a:solidFill>
            <a:srgbClr val="E8F4FD"/>
          </a:solidFill>
          <a:ln w="6350">
            <a:solidFill>
              <a:srgbClr val="D0E0EE"/>
            </a:solidFill>
            <a:prstDash val="solid"/>
          </a:ln>
        </p:spPr>
      </p:sp>
      <p:sp>
        <p:nvSpPr>
          <p:cNvPr id="30" name="Text 28"/>
          <p:cNvSpPr/>
          <p:nvPr/>
        </p:nvSpPr>
        <p:spPr>
          <a:xfrm>
            <a:off x="1417320" y="3419856"/>
            <a:ext cx="164592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V14 (-0.293)</a:t>
            </a:r>
            <a:endParaRPr lang="en-US" sz="1100" dirty="0"/>
          </a:p>
        </p:txBody>
      </p:sp>
      <p:sp>
        <p:nvSpPr>
          <p:cNvPr id="31" name="Shape 29"/>
          <p:cNvSpPr/>
          <p:nvPr/>
        </p:nvSpPr>
        <p:spPr>
          <a:xfrm>
            <a:off x="3200400" y="3419856"/>
            <a:ext cx="1737360" cy="320040"/>
          </a:xfrm>
          <a:prstGeom prst="rect">
            <a:avLst/>
          </a:prstGeom>
          <a:solidFill>
            <a:srgbClr val="E8F4FD"/>
          </a:solidFill>
          <a:ln w="6350">
            <a:solidFill>
              <a:srgbClr val="D0E0EE"/>
            </a:solidFill>
            <a:prstDash val="solid"/>
          </a:ln>
        </p:spPr>
      </p:sp>
      <p:sp>
        <p:nvSpPr>
          <p:cNvPr id="32" name="Text 30"/>
          <p:cNvSpPr/>
          <p:nvPr/>
        </p:nvSpPr>
        <p:spPr>
          <a:xfrm>
            <a:off x="3246120" y="3419856"/>
            <a:ext cx="164592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V12 (0.070)</a:t>
            </a:r>
            <a:endParaRPr lang="en-US" sz="1100" dirty="0"/>
          </a:p>
        </p:txBody>
      </p:sp>
      <p:sp>
        <p:nvSpPr>
          <p:cNvPr id="33" name="Shape 31"/>
          <p:cNvSpPr/>
          <p:nvPr/>
        </p:nvSpPr>
        <p:spPr>
          <a:xfrm>
            <a:off x="5029200" y="3419856"/>
            <a:ext cx="1371600" cy="320040"/>
          </a:xfrm>
          <a:prstGeom prst="rect">
            <a:avLst/>
          </a:prstGeom>
          <a:solidFill>
            <a:srgbClr val="E8F4FD"/>
          </a:solidFill>
          <a:ln w="6350">
            <a:solidFill>
              <a:srgbClr val="D0E0EE"/>
            </a:solidFill>
            <a:prstDash val="solid"/>
          </a:ln>
        </p:spPr>
      </p:sp>
      <p:sp>
        <p:nvSpPr>
          <p:cNvPr id="34" name="Text 32"/>
          <p:cNvSpPr/>
          <p:nvPr/>
        </p:nvSpPr>
        <p:spPr>
          <a:xfrm>
            <a:off x="5074920" y="3419856"/>
            <a:ext cx="1280160" cy="320040"/>
          </a:xfrm>
          <a:prstGeom prst="rect">
            <a:avLst/>
          </a:prstGeom>
          <a:noFill/>
          <a:ln/>
        </p:spPr>
        <p:txBody>
          <a:bodyPr wrap="square" lIns="0" tIns="0" rIns="0" bIns="0" rtlCol="0" anchor="ctr"/>
          <a:lstStyle/>
          <a:p>
            <a:pPr marL="0" indent="0">
              <a:buNone/>
            </a:pPr>
            <a:r>
              <a:rPr lang="en-US" sz="1100" dirty="0">
                <a:solidFill>
                  <a:srgbClr val="27AE60"/>
                </a:solidFill>
                <a:latin typeface="Calibri" pitchFamily="34" charset="0"/>
                <a:ea typeface="Calibri" pitchFamily="34" charset="-122"/>
                <a:cs typeface="Calibri" pitchFamily="34" charset="-120"/>
              </a:rPr>
              <a:t>↑ moved up</a:t>
            </a:r>
            <a:endParaRPr lang="en-US" sz="1100" dirty="0"/>
          </a:p>
        </p:txBody>
      </p:sp>
      <p:sp>
        <p:nvSpPr>
          <p:cNvPr id="35" name="Shape 33"/>
          <p:cNvSpPr/>
          <p:nvPr/>
        </p:nvSpPr>
        <p:spPr>
          <a:xfrm>
            <a:off x="274320" y="3758184"/>
            <a:ext cx="1005840" cy="320040"/>
          </a:xfrm>
          <a:prstGeom prst="rect">
            <a:avLst/>
          </a:prstGeom>
          <a:solidFill>
            <a:srgbClr val="FFFFFF"/>
          </a:solidFill>
          <a:ln w="6350">
            <a:solidFill>
              <a:srgbClr val="D0E0EE"/>
            </a:solidFill>
            <a:prstDash val="solid"/>
          </a:ln>
        </p:spPr>
      </p:sp>
      <p:sp>
        <p:nvSpPr>
          <p:cNvPr id="36" name="Text 34"/>
          <p:cNvSpPr/>
          <p:nvPr/>
        </p:nvSpPr>
        <p:spPr>
          <a:xfrm>
            <a:off x="320040" y="3758184"/>
            <a:ext cx="91440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3</a:t>
            </a:r>
            <a:endParaRPr lang="en-US" sz="1100" dirty="0"/>
          </a:p>
        </p:txBody>
      </p:sp>
      <p:sp>
        <p:nvSpPr>
          <p:cNvPr id="37" name="Shape 35"/>
          <p:cNvSpPr/>
          <p:nvPr/>
        </p:nvSpPr>
        <p:spPr>
          <a:xfrm>
            <a:off x="1371600" y="3758184"/>
            <a:ext cx="1737360" cy="320040"/>
          </a:xfrm>
          <a:prstGeom prst="rect">
            <a:avLst/>
          </a:prstGeom>
          <a:solidFill>
            <a:srgbClr val="FFFFFF"/>
          </a:solidFill>
          <a:ln w="6350">
            <a:solidFill>
              <a:srgbClr val="D0E0EE"/>
            </a:solidFill>
            <a:prstDash val="solid"/>
          </a:ln>
        </p:spPr>
      </p:sp>
      <p:sp>
        <p:nvSpPr>
          <p:cNvPr id="38" name="Text 36"/>
          <p:cNvSpPr/>
          <p:nvPr/>
        </p:nvSpPr>
        <p:spPr>
          <a:xfrm>
            <a:off x="1417320" y="3758184"/>
            <a:ext cx="164592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V12 (-0.251)</a:t>
            </a:r>
            <a:endParaRPr lang="en-US" sz="1100" dirty="0"/>
          </a:p>
        </p:txBody>
      </p:sp>
      <p:sp>
        <p:nvSpPr>
          <p:cNvPr id="39" name="Shape 37"/>
          <p:cNvSpPr/>
          <p:nvPr/>
        </p:nvSpPr>
        <p:spPr>
          <a:xfrm>
            <a:off x="3200400" y="3758184"/>
            <a:ext cx="1737360" cy="320040"/>
          </a:xfrm>
          <a:prstGeom prst="rect">
            <a:avLst/>
          </a:prstGeom>
          <a:solidFill>
            <a:srgbClr val="FFFFFF"/>
          </a:solidFill>
          <a:ln w="6350">
            <a:solidFill>
              <a:srgbClr val="D0E0EE"/>
            </a:solidFill>
            <a:prstDash val="solid"/>
          </a:ln>
        </p:spPr>
      </p:sp>
      <p:sp>
        <p:nvSpPr>
          <p:cNvPr id="40" name="Text 38"/>
          <p:cNvSpPr/>
          <p:nvPr/>
        </p:nvSpPr>
        <p:spPr>
          <a:xfrm>
            <a:off x="3246120" y="3758184"/>
            <a:ext cx="164592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V4  (0.061)</a:t>
            </a:r>
            <a:endParaRPr lang="en-US" sz="1100" dirty="0"/>
          </a:p>
        </p:txBody>
      </p:sp>
      <p:sp>
        <p:nvSpPr>
          <p:cNvPr id="41" name="Shape 39"/>
          <p:cNvSpPr/>
          <p:nvPr/>
        </p:nvSpPr>
        <p:spPr>
          <a:xfrm>
            <a:off x="5029200" y="3758184"/>
            <a:ext cx="1371600" cy="320040"/>
          </a:xfrm>
          <a:prstGeom prst="rect">
            <a:avLst/>
          </a:prstGeom>
          <a:solidFill>
            <a:srgbClr val="FFFFFF"/>
          </a:solidFill>
          <a:ln w="6350">
            <a:solidFill>
              <a:srgbClr val="D0E0EE"/>
            </a:solidFill>
            <a:prstDash val="solid"/>
          </a:ln>
        </p:spPr>
      </p:sp>
      <p:sp>
        <p:nvSpPr>
          <p:cNvPr id="42" name="Text 40"/>
          <p:cNvSpPr/>
          <p:nvPr/>
        </p:nvSpPr>
        <p:spPr>
          <a:xfrm>
            <a:off x="5074920" y="3758184"/>
            <a:ext cx="1280160" cy="320040"/>
          </a:xfrm>
          <a:prstGeom prst="rect">
            <a:avLst/>
          </a:prstGeom>
          <a:noFill/>
          <a:ln/>
        </p:spPr>
        <p:txBody>
          <a:bodyPr wrap="square" lIns="0" tIns="0" rIns="0" bIns="0" rtlCol="0" anchor="ctr"/>
          <a:lstStyle/>
          <a:p>
            <a:pPr marL="0" indent="0">
              <a:buNone/>
            </a:pPr>
            <a:r>
              <a:rPr lang="en-US" sz="1100" dirty="0">
                <a:solidFill>
                  <a:srgbClr val="27AE60"/>
                </a:solidFill>
                <a:latin typeface="Calibri" pitchFamily="34" charset="0"/>
                <a:ea typeface="Calibri" pitchFamily="34" charset="-122"/>
                <a:cs typeface="Calibri" pitchFamily="34" charset="-120"/>
              </a:rPr>
              <a:t>↑ moved up</a:t>
            </a:r>
            <a:endParaRPr lang="en-US" sz="1100" dirty="0"/>
          </a:p>
        </p:txBody>
      </p:sp>
      <p:sp>
        <p:nvSpPr>
          <p:cNvPr id="43" name="Shape 41"/>
          <p:cNvSpPr/>
          <p:nvPr/>
        </p:nvSpPr>
        <p:spPr>
          <a:xfrm>
            <a:off x="274320" y="4096512"/>
            <a:ext cx="1005840" cy="320040"/>
          </a:xfrm>
          <a:prstGeom prst="rect">
            <a:avLst/>
          </a:prstGeom>
          <a:solidFill>
            <a:srgbClr val="E8F4FD"/>
          </a:solidFill>
          <a:ln w="6350">
            <a:solidFill>
              <a:srgbClr val="D0E0EE"/>
            </a:solidFill>
            <a:prstDash val="solid"/>
          </a:ln>
        </p:spPr>
      </p:sp>
      <p:sp>
        <p:nvSpPr>
          <p:cNvPr id="44" name="Text 42"/>
          <p:cNvSpPr/>
          <p:nvPr/>
        </p:nvSpPr>
        <p:spPr>
          <a:xfrm>
            <a:off x="320040" y="4096512"/>
            <a:ext cx="91440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4</a:t>
            </a:r>
            <a:endParaRPr lang="en-US" sz="1100" dirty="0"/>
          </a:p>
        </p:txBody>
      </p:sp>
      <p:sp>
        <p:nvSpPr>
          <p:cNvPr id="45" name="Shape 43"/>
          <p:cNvSpPr/>
          <p:nvPr/>
        </p:nvSpPr>
        <p:spPr>
          <a:xfrm>
            <a:off x="1371600" y="4096512"/>
            <a:ext cx="1737360" cy="320040"/>
          </a:xfrm>
          <a:prstGeom prst="rect">
            <a:avLst/>
          </a:prstGeom>
          <a:solidFill>
            <a:srgbClr val="E8F4FD"/>
          </a:solidFill>
          <a:ln w="6350">
            <a:solidFill>
              <a:srgbClr val="D0E0EE"/>
            </a:solidFill>
            <a:prstDash val="solid"/>
          </a:ln>
        </p:spPr>
      </p:sp>
      <p:sp>
        <p:nvSpPr>
          <p:cNvPr id="46" name="Text 44"/>
          <p:cNvSpPr/>
          <p:nvPr/>
        </p:nvSpPr>
        <p:spPr>
          <a:xfrm>
            <a:off x="1417320" y="4096512"/>
            <a:ext cx="164592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V10 (-0.207)</a:t>
            </a:r>
            <a:endParaRPr lang="en-US" sz="1100" dirty="0"/>
          </a:p>
        </p:txBody>
      </p:sp>
      <p:sp>
        <p:nvSpPr>
          <p:cNvPr id="47" name="Shape 45"/>
          <p:cNvSpPr/>
          <p:nvPr/>
        </p:nvSpPr>
        <p:spPr>
          <a:xfrm>
            <a:off x="3200400" y="4096512"/>
            <a:ext cx="1737360" cy="320040"/>
          </a:xfrm>
          <a:prstGeom prst="rect">
            <a:avLst/>
          </a:prstGeom>
          <a:solidFill>
            <a:srgbClr val="E8F4FD"/>
          </a:solidFill>
          <a:ln w="6350">
            <a:solidFill>
              <a:srgbClr val="D0E0EE"/>
            </a:solidFill>
            <a:prstDash val="solid"/>
          </a:ln>
        </p:spPr>
      </p:sp>
      <p:sp>
        <p:nvSpPr>
          <p:cNvPr id="48" name="Text 46"/>
          <p:cNvSpPr/>
          <p:nvPr/>
        </p:nvSpPr>
        <p:spPr>
          <a:xfrm>
            <a:off x="3246120" y="4096512"/>
            <a:ext cx="164592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V10 (0.050)</a:t>
            </a:r>
            <a:endParaRPr lang="en-US" sz="1100" dirty="0"/>
          </a:p>
        </p:txBody>
      </p:sp>
      <p:sp>
        <p:nvSpPr>
          <p:cNvPr id="49" name="Shape 47"/>
          <p:cNvSpPr/>
          <p:nvPr/>
        </p:nvSpPr>
        <p:spPr>
          <a:xfrm>
            <a:off x="5029200" y="4096512"/>
            <a:ext cx="1371600" cy="320040"/>
          </a:xfrm>
          <a:prstGeom prst="rect">
            <a:avLst/>
          </a:prstGeom>
          <a:solidFill>
            <a:srgbClr val="E8F4FD"/>
          </a:solidFill>
          <a:ln w="6350">
            <a:solidFill>
              <a:srgbClr val="D0E0EE"/>
            </a:solidFill>
            <a:prstDash val="solid"/>
          </a:ln>
        </p:spPr>
      </p:sp>
      <p:sp>
        <p:nvSpPr>
          <p:cNvPr id="50" name="Text 48"/>
          <p:cNvSpPr/>
          <p:nvPr/>
        </p:nvSpPr>
        <p:spPr>
          <a:xfrm>
            <a:off x="5074920" y="4096512"/>
            <a:ext cx="128016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same</a:t>
            </a:r>
            <a:endParaRPr lang="en-US" sz="1100" dirty="0"/>
          </a:p>
        </p:txBody>
      </p:sp>
      <p:sp>
        <p:nvSpPr>
          <p:cNvPr id="51" name="Shape 49"/>
          <p:cNvSpPr/>
          <p:nvPr/>
        </p:nvSpPr>
        <p:spPr>
          <a:xfrm>
            <a:off x="274320" y="4434840"/>
            <a:ext cx="1005840" cy="320040"/>
          </a:xfrm>
          <a:prstGeom prst="rect">
            <a:avLst/>
          </a:prstGeom>
          <a:solidFill>
            <a:srgbClr val="FFFFFF"/>
          </a:solidFill>
          <a:ln w="6350">
            <a:solidFill>
              <a:srgbClr val="D0E0EE"/>
            </a:solidFill>
            <a:prstDash val="solid"/>
          </a:ln>
        </p:spPr>
      </p:sp>
      <p:sp>
        <p:nvSpPr>
          <p:cNvPr id="52" name="Text 50"/>
          <p:cNvSpPr/>
          <p:nvPr/>
        </p:nvSpPr>
        <p:spPr>
          <a:xfrm>
            <a:off x="320040" y="4434840"/>
            <a:ext cx="91440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5</a:t>
            </a:r>
            <a:endParaRPr lang="en-US" sz="1100" dirty="0"/>
          </a:p>
        </p:txBody>
      </p:sp>
      <p:sp>
        <p:nvSpPr>
          <p:cNvPr id="53" name="Shape 51"/>
          <p:cNvSpPr/>
          <p:nvPr/>
        </p:nvSpPr>
        <p:spPr>
          <a:xfrm>
            <a:off x="1371600" y="4434840"/>
            <a:ext cx="1737360" cy="320040"/>
          </a:xfrm>
          <a:prstGeom prst="rect">
            <a:avLst/>
          </a:prstGeom>
          <a:solidFill>
            <a:srgbClr val="FFFFFF"/>
          </a:solidFill>
          <a:ln w="6350">
            <a:solidFill>
              <a:srgbClr val="D0E0EE"/>
            </a:solidFill>
            <a:prstDash val="solid"/>
          </a:ln>
        </p:spPr>
      </p:sp>
      <p:sp>
        <p:nvSpPr>
          <p:cNvPr id="54" name="Text 52"/>
          <p:cNvSpPr/>
          <p:nvPr/>
        </p:nvSpPr>
        <p:spPr>
          <a:xfrm>
            <a:off x="1417320" y="4434840"/>
            <a:ext cx="164592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V3  (-0.182)</a:t>
            </a:r>
            <a:endParaRPr lang="en-US" sz="1100" dirty="0"/>
          </a:p>
        </p:txBody>
      </p:sp>
      <p:sp>
        <p:nvSpPr>
          <p:cNvPr id="55" name="Shape 53"/>
          <p:cNvSpPr/>
          <p:nvPr/>
        </p:nvSpPr>
        <p:spPr>
          <a:xfrm>
            <a:off x="3200400" y="4434840"/>
            <a:ext cx="1737360" cy="320040"/>
          </a:xfrm>
          <a:prstGeom prst="rect">
            <a:avLst/>
          </a:prstGeom>
          <a:solidFill>
            <a:srgbClr val="FFFFFF"/>
          </a:solidFill>
          <a:ln w="6350">
            <a:solidFill>
              <a:srgbClr val="D0E0EE"/>
            </a:solidFill>
            <a:prstDash val="solid"/>
          </a:ln>
        </p:spPr>
      </p:sp>
      <p:sp>
        <p:nvSpPr>
          <p:cNvPr id="56" name="Text 54"/>
          <p:cNvSpPr/>
          <p:nvPr/>
        </p:nvSpPr>
        <p:spPr>
          <a:xfrm>
            <a:off x="3246120" y="4434840"/>
            <a:ext cx="164592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V3  (0.045)</a:t>
            </a:r>
            <a:endParaRPr lang="en-US" sz="1100" dirty="0"/>
          </a:p>
        </p:txBody>
      </p:sp>
      <p:sp>
        <p:nvSpPr>
          <p:cNvPr id="57" name="Shape 55"/>
          <p:cNvSpPr/>
          <p:nvPr/>
        </p:nvSpPr>
        <p:spPr>
          <a:xfrm>
            <a:off x="5029200" y="4434840"/>
            <a:ext cx="1371600" cy="320040"/>
          </a:xfrm>
          <a:prstGeom prst="rect">
            <a:avLst/>
          </a:prstGeom>
          <a:solidFill>
            <a:srgbClr val="FFFFFF"/>
          </a:solidFill>
          <a:ln w="6350">
            <a:solidFill>
              <a:srgbClr val="D0E0EE"/>
            </a:solidFill>
            <a:prstDash val="solid"/>
          </a:ln>
        </p:spPr>
      </p:sp>
      <p:sp>
        <p:nvSpPr>
          <p:cNvPr id="58" name="Text 56"/>
          <p:cNvSpPr/>
          <p:nvPr/>
        </p:nvSpPr>
        <p:spPr>
          <a:xfrm>
            <a:off x="5074920" y="4434840"/>
            <a:ext cx="1280160" cy="3200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same</a:t>
            </a:r>
            <a:endParaRPr lang="en-US" sz="1100" dirty="0"/>
          </a:p>
        </p:txBody>
      </p:sp>
      <p:sp>
        <p:nvSpPr>
          <p:cNvPr id="59" name="Shape 57"/>
          <p:cNvSpPr/>
          <p:nvPr/>
        </p:nvSpPr>
        <p:spPr>
          <a:xfrm>
            <a:off x="5303520" y="2377440"/>
            <a:ext cx="3566160" cy="2057400"/>
          </a:xfrm>
          <a:prstGeom prst="rect">
            <a:avLst/>
          </a:prstGeom>
          <a:solidFill>
            <a:srgbClr val="E8F4FD"/>
          </a:solidFill>
          <a:ln w="12700">
            <a:solidFill>
              <a:srgbClr val="D0E8F5"/>
            </a:solidFill>
            <a:prstDash val="solid"/>
          </a:ln>
        </p:spPr>
      </p:sp>
      <p:sp>
        <p:nvSpPr>
          <p:cNvPr id="60" name="Text 58"/>
          <p:cNvSpPr/>
          <p:nvPr/>
        </p:nvSpPr>
        <p:spPr>
          <a:xfrm>
            <a:off x="5486400" y="2468880"/>
            <a:ext cx="32004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SHAP Dependence — V14</a:t>
            </a:r>
            <a:endParaRPr lang="en-US" sz="1200" dirty="0"/>
          </a:p>
        </p:txBody>
      </p:sp>
      <p:sp>
        <p:nvSpPr>
          <p:cNvPr id="61" name="Text 59"/>
          <p:cNvSpPr/>
          <p:nvPr/>
        </p:nvSpPr>
        <p:spPr>
          <a:xfrm>
            <a:off x="5486400" y="2834640"/>
            <a:ext cx="3200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When V14 &lt; -2: SHAP value jumps sharply</a:t>
            </a:r>
            <a:endParaRPr lang="en-US" sz="1000" dirty="0"/>
          </a:p>
        </p:txBody>
      </p:sp>
      <p:sp>
        <p:nvSpPr>
          <p:cNvPr id="62" name="Text 60"/>
          <p:cNvSpPr/>
          <p:nvPr/>
        </p:nvSpPr>
        <p:spPr>
          <a:xfrm>
            <a:off x="5486400" y="3035808"/>
            <a:ext cx="3200400" cy="201168"/>
          </a:xfrm>
          <a:prstGeom prst="rect">
            <a:avLst/>
          </a:prstGeom>
          <a:noFill/>
          <a:ln/>
        </p:spPr>
        <p:txBody>
          <a:bodyPr wrap="square" lIns="0" tIns="0" rIns="0" bIns="0" rtlCol="0" anchor="ctr"/>
          <a:lstStyle/>
          <a:p>
            <a:pPr marL="0" indent="0">
              <a:buNone/>
            </a:pPr>
            <a:r>
              <a:rPr lang="en-US" sz="1000" dirty="0">
                <a:solidFill>
                  <a:srgbClr val="2E6DAD"/>
                </a:solidFill>
                <a:latin typeface="Calibri" pitchFamily="34" charset="0"/>
                <a:ea typeface="Calibri" pitchFamily="34" charset="-122"/>
                <a:cs typeface="Calibri" pitchFamily="34" charset="-120"/>
              </a:rPr>
              <a:t>to +0.10–0.15 → strong fraud signal</a:t>
            </a:r>
            <a:endParaRPr lang="en-US" sz="1000" dirty="0"/>
          </a:p>
        </p:txBody>
      </p:sp>
      <p:sp>
        <p:nvSpPr>
          <p:cNvPr id="63" name="Text 61"/>
          <p:cNvSpPr/>
          <p:nvPr/>
        </p:nvSpPr>
        <p:spPr>
          <a:xfrm>
            <a:off x="5486400" y="3236976"/>
            <a:ext cx="3200400" cy="201168"/>
          </a:xfrm>
          <a:prstGeom prst="rect">
            <a:avLst/>
          </a:prstGeom>
          <a:noFill/>
          <a:ln/>
        </p:spPr>
        <p:txBody>
          <a:bodyPr wrap="square" lIns="0" tIns="0" rIns="0" bIns="0" rtlCol="0" anchor="ctr"/>
          <a:lstStyle/>
          <a:p>
            <a:pPr marL="0" indent="0">
              <a:buNone/>
            </a:pPr>
            <a:endParaRPr lang="en-US" sz="1000" dirty="0"/>
          </a:p>
        </p:txBody>
      </p:sp>
      <p:sp>
        <p:nvSpPr>
          <p:cNvPr id="64" name="Text 62"/>
          <p:cNvSpPr/>
          <p:nvPr/>
        </p:nvSpPr>
        <p:spPr>
          <a:xfrm>
            <a:off x="5486400" y="3438144"/>
            <a:ext cx="3200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When V14 &gt; 0: SHAP near zero</a:t>
            </a:r>
            <a:endParaRPr lang="en-US" sz="1000" dirty="0"/>
          </a:p>
        </p:txBody>
      </p:sp>
      <p:sp>
        <p:nvSpPr>
          <p:cNvPr id="65" name="Text 63"/>
          <p:cNvSpPr/>
          <p:nvPr/>
        </p:nvSpPr>
        <p:spPr>
          <a:xfrm>
            <a:off x="5486400" y="3639312"/>
            <a:ext cx="3200400" cy="201168"/>
          </a:xfrm>
          <a:prstGeom prst="rect">
            <a:avLst/>
          </a:prstGeom>
          <a:noFill/>
          <a:ln/>
        </p:spPr>
        <p:txBody>
          <a:bodyPr wrap="square" lIns="0" tIns="0" rIns="0" bIns="0" rtlCol="0" anchor="ctr"/>
          <a:lstStyle/>
          <a:p>
            <a:pPr marL="0" indent="0">
              <a:buNone/>
            </a:pPr>
            <a:r>
              <a:rPr lang="en-US" sz="1000" dirty="0">
                <a:solidFill>
                  <a:srgbClr val="2E6DAD"/>
                </a:solidFill>
                <a:latin typeface="Calibri" pitchFamily="34" charset="0"/>
                <a:ea typeface="Calibri" pitchFamily="34" charset="-122"/>
                <a:cs typeface="Calibri" pitchFamily="34" charset="-120"/>
              </a:rPr>
              <a:t>→ transaction looks legitimate</a:t>
            </a:r>
            <a:endParaRPr lang="en-US" sz="1000" dirty="0"/>
          </a:p>
        </p:txBody>
      </p:sp>
      <p:sp>
        <p:nvSpPr>
          <p:cNvPr id="66" name="Text 64"/>
          <p:cNvSpPr/>
          <p:nvPr/>
        </p:nvSpPr>
        <p:spPr>
          <a:xfrm>
            <a:off x="5486400" y="3840480"/>
            <a:ext cx="3200400" cy="201168"/>
          </a:xfrm>
          <a:prstGeom prst="rect">
            <a:avLst/>
          </a:prstGeom>
          <a:noFill/>
          <a:ln/>
        </p:spPr>
        <p:txBody>
          <a:bodyPr wrap="square" lIns="0" tIns="0" rIns="0" bIns="0" rtlCol="0" anchor="ctr"/>
          <a:lstStyle/>
          <a:p>
            <a:pPr marL="0" indent="0">
              <a:buNone/>
            </a:pPr>
            <a:endParaRPr lang="en-US" sz="1000" dirty="0"/>
          </a:p>
        </p:txBody>
      </p:sp>
      <p:sp>
        <p:nvSpPr>
          <p:cNvPr id="67" name="Text 65"/>
          <p:cNvSpPr/>
          <p:nvPr/>
        </p:nvSpPr>
        <p:spPr>
          <a:xfrm>
            <a:off x="5486400" y="4041648"/>
            <a:ext cx="3200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Non-linear threshold effect — exactly</a:t>
            </a:r>
            <a:endParaRPr lang="en-US" sz="1000" dirty="0"/>
          </a:p>
        </p:txBody>
      </p:sp>
      <p:sp>
        <p:nvSpPr>
          <p:cNvPr id="68" name="Text 66"/>
          <p:cNvSpPr/>
          <p:nvPr/>
        </p:nvSpPr>
        <p:spPr>
          <a:xfrm>
            <a:off x="5486400" y="4242816"/>
            <a:ext cx="3200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the pattern tree models learn best</a:t>
            </a:r>
            <a:endParaRPr lang="en-US" sz="1000" dirty="0"/>
          </a:p>
        </p:txBody>
      </p:sp>
      <p:sp>
        <p:nvSpPr>
          <p:cNvPr id="69" name="Text 67"/>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Step 3: SHAP Explainability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777240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Handling Class Imbalance</a:t>
            </a:r>
            <a:endParaRPr lang="en-US" sz="2600" dirty="0"/>
          </a:p>
        </p:txBody>
      </p:sp>
      <p:sp>
        <p:nvSpPr>
          <p:cNvPr id="5" name="Text 3"/>
          <p:cNvSpPr/>
          <p:nvPr/>
        </p:nvSpPr>
        <p:spPr>
          <a:xfrm>
            <a:off x="365760" y="749808"/>
            <a:ext cx="777240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598:1 ratio requires careful resampling strategy — accuracy is not a valid metric</a:t>
            </a:r>
            <a:endParaRPr lang="en-US" sz="1300" dirty="0"/>
          </a:p>
        </p:txBody>
      </p:sp>
      <p:sp>
        <p:nvSpPr>
          <p:cNvPr id="6" name="Shape 4"/>
          <p:cNvSpPr/>
          <p:nvPr/>
        </p:nvSpPr>
        <p:spPr>
          <a:xfrm>
            <a:off x="8321040" y="91440"/>
            <a:ext cx="640080" cy="320040"/>
          </a:xfrm>
          <a:prstGeom prst="rect">
            <a:avLst/>
          </a:prstGeom>
          <a:solidFill>
            <a:srgbClr val="4A90C4"/>
          </a:solidFill>
          <a:ln/>
        </p:spPr>
      </p:sp>
      <p:sp>
        <p:nvSpPr>
          <p:cNvPr id="7" name="Shape 5"/>
          <p:cNvSpPr/>
          <p:nvPr/>
        </p:nvSpPr>
        <p:spPr>
          <a:xfrm>
            <a:off x="274320" y="1417320"/>
            <a:ext cx="2011680" cy="2651760"/>
          </a:xfrm>
          <a:prstGeom prst="rect">
            <a:avLst/>
          </a:prstGeom>
          <a:solidFill>
            <a:srgbClr val="E8F4FD"/>
          </a:solidFill>
          <a:ln w="12700">
            <a:solidFill>
              <a:srgbClr val="D0E8F5"/>
            </a:solidFill>
            <a:prstDash val="solid"/>
          </a:ln>
        </p:spPr>
      </p:sp>
      <p:sp>
        <p:nvSpPr>
          <p:cNvPr id="8" name="Shape 6"/>
          <p:cNvSpPr/>
          <p:nvPr/>
        </p:nvSpPr>
        <p:spPr>
          <a:xfrm>
            <a:off x="274320" y="1417320"/>
            <a:ext cx="2011680" cy="411480"/>
          </a:xfrm>
          <a:prstGeom prst="rect">
            <a:avLst/>
          </a:prstGeom>
          <a:solidFill>
            <a:srgbClr val="AAAAAA"/>
          </a:solidFill>
          <a:ln/>
        </p:spPr>
      </p:sp>
      <p:sp>
        <p:nvSpPr>
          <p:cNvPr id="9" name="Text 7"/>
          <p:cNvSpPr/>
          <p:nvPr/>
        </p:nvSpPr>
        <p:spPr>
          <a:xfrm>
            <a:off x="274320" y="1417320"/>
            <a:ext cx="20116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Original</a:t>
            </a:r>
            <a:endParaRPr lang="en-US" sz="1400" dirty="0"/>
          </a:p>
        </p:txBody>
      </p:sp>
      <p:sp>
        <p:nvSpPr>
          <p:cNvPr id="10" name="Text 8"/>
          <p:cNvSpPr/>
          <p:nvPr/>
        </p:nvSpPr>
        <p:spPr>
          <a:xfrm>
            <a:off x="365760" y="1920240"/>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Rows:</a:t>
            </a:r>
            <a:endParaRPr lang="en-US" sz="1000" dirty="0"/>
          </a:p>
        </p:txBody>
      </p:sp>
      <p:sp>
        <p:nvSpPr>
          <p:cNvPr id="11" name="Text 9"/>
          <p:cNvSpPr/>
          <p:nvPr/>
        </p:nvSpPr>
        <p:spPr>
          <a:xfrm>
            <a:off x="914400" y="1920240"/>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226,980</a:t>
            </a:r>
            <a:endParaRPr lang="en-US" sz="1000" dirty="0"/>
          </a:p>
        </p:txBody>
      </p:sp>
      <p:sp>
        <p:nvSpPr>
          <p:cNvPr id="12" name="Text 10"/>
          <p:cNvSpPr/>
          <p:nvPr/>
        </p:nvSpPr>
        <p:spPr>
          <a:xfrm>
            <a:off x="365760" y="2395728"/>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Fraud %:</a:t>
            </a:r>
            <a:endParaRPr lang="en-US" sz="1000" dirty="0"/>
          </a:p>
        </p:txBody>
      </p:sp>
      <p:sp>
        <p:nvSpPr>
          <p:cNvPr id="13" name="Text 11"/>
          <p:cNvSpPr/>
          <p:nvPr/>
        </p:nvSpPr>
        <p:spPr>
          <a:xfrm>
            <a:off x="914400" y="2395728"/>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0.17%</a:t>
            </a:r>
            <a:endParaRPr lang="en-US" sz="1000" dirty="0"/>
          </a:p>
        </p:txBody>
      </p:sp>
      <p:sp>
        <p:nvSpPr>
          <p:cNvPr id="14" name="Text 12"/>
          <p:cNvSpPr/>
          <p:nvPr/>
        </p:nvSpPr>
        <p:spPr>
          <a:xfrm>
            <a:off x="365760" y="2871216"/>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Pro:</a:t>
            </a:r>
            <a:endParaRPr lang="en-US" sz="1000" dirty="0"/>
          </a:p>
        </p:txBody>
      </p:sp>
      <p:sp>
        <p:nvSpPr>
          <p:cNvPr id="15" name="Text 13"/>
          <p:cNvSpPr/>
          <p:nvPr/>
        </p:nvSpPr>
        <p:spPr>
          <a:xfrm>
            <a:off x="914400" y="2871216"/>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No synthetic data risk</a:t>
            </a:r>
            <a:endParaRPr lang="en-US" sz="1000" dirty="0"/>
          </a:p>
        </p:txBody>
      </p:sp>
      <p:sp>
        <p:nvSpPr>
          <p:cNvPr id="16" name="Text 14"/>
          <p:cNvSpPr/>
          <p:nvPr/>
        </p:nvSpPr>
        <p:spPr>
          <a:xfrm>
            <a:off x="365760" y="3346704"/>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Con:</a:t>
            </a:r>
            <a:endParaRPr lang="en-US" sz="1000" dirty="0"/>
          </a:p>
        </p:txBody>
      </p:sp>
      <p:sp>
        <p:nvSpPr>
          <p:cNvPr id="17" name="Text 15"/>
          <p:cNvSpPr/>
          <p:nvPr/>
        </p:nvSpPr>
        <p:spPr>
          <a:xfrm>
            <a:off x="914400" y="3346704"/>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Model biased toward majority</a:t>
            </a:r>
            <a:endParaRPr lang="en-US" sz="1000" dirty="0"/>
          </a:p>
        </p:txBody>
      </p:sp>
      <p:sp>
        <p:nvSpPr>
          <p:cNvPr id="18" name="Shape 16"/>
          <p:cNvSpPr/>
          <p:nvPr/>
        </p:nvSpPr>
        <p:spPr>
          <a:xfrm>
            <a:off x="2450592" y="1417320"/>
            <a:ext cx="2011680" cy="2651760"/>
          </a:xfrm>
          <a:prstGeom prst="rect">
            <a:avLst/>
          </a:prstGeom>
          <a:solidFill>
            <a:srgbClr val="E8F4FD"/>
          </a:solidFill>
          <a:ln w="12700">
            <a:solidFill>
              <a:srgbClr val="D0E8F5"/>
            </a:solidFill>
            <a:prstDash val="solid"/>
          </a:ln>
        </p:spPr>
      </p:sp>
      <p:sp>
        <p:nvSpPr>
          <p:cNvPr id="19" name="Shape 17"/>
          <p:cNvSpPr/>
          <p:nvPr/>
        </p:nvSpPr>
        <p:spPr>
          <a:xfrm>
            <a:off x="2450592" y="1417320"/>
            <a:ext cx="2011680" cy="411480"/>
          </a:xfrm>
          <a:prstGeom prst="rect">
            <a:avLst/>
          </a:prstGeom>
          <a:solidFill>
            <a:srgbClr val="E67E22"/>
          </a:solidFill>
          <a:ln/>
        </p:spPr>
      </p:sp>
      <p:sp>
        <p:nvSpPr>
          <p:cNvPr id="20" name="Text 18"/>
          <p:cNvSpPr/>
          <p:nvPr/>
        </p:nvSpPr>
        <p:spPr>
          <a:xfrm>
            <a:off x="2450592" y="1417320"/>
            <a:ext cx="20116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SMOTE</a:t>
            </a:r>
            <a:endParaRPr lang="en-US" sz="1400" dirty="0"/>
          </a:p>
        </p:txBody>
      </p:sp>
      <p:sp>
        <p:nvSpPr>
          <p:cNvPr id="21" name="Text 19"/>
          <p:cNvSpPr/>
          <p:nvPr/>
        </p:nvSpPr>
        <p:spPr>
          <a:xfrm>
            <a:off x="2542032" y="1920240"/>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Rows:</a:t>
            </a:r>
            <a:endParaRPr lang="en-US" sz="1000" dirty="0"/>
          </a:p>
        </p:txBody>
      </p:sp>
      <p:sp>
        <p:nvSpPr>
          <p:cNvPr id="22" name="Text 20"/>
          <p:cNvSpPr/>
          <p:nvPr/>
        </p:nvSpPr>
        <p:spPr>
          <a:xfrm>
            <a:off x="3090672" y="1920240"/>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453,204</a:t>
            </a:r>
            <a:endParaRPr lang="en-US" sz="1000" dirty="0"/>
          </a:p>
        </p:txBody>
      </p:sp>
      <p:sp>
        <p:nvSpPr>
          <p:cNvPr id="23" name="Text 21"/>
          <p:cNvSpPr/>
          <p:nvPr/>
        </p:nvSpPr>
        <p:spPr>
          <a:xfrm>
            <a:off x="2542032" y="2395728"/>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Fraud %:</a:t>
            </a:r>
            <a:endParaRPr lang="en-US" sz="1000" dirty="0"/>
          </a:p>
        </p:txBody>
      </p:sp>
      <p:sp>
        <p:nvSpPr>
          <p:cNvPr id="24" name="Text 22"/>
          <p:cNvSpPr/>
          <p:nvPr/>
        </p:nvSpPr>
        <p:spPr>
          <a:xfrm>
            <a:off x="3090672" y="2395728"/>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50%</a:t>
            </a:r>
            <a:endParaRPr lang="en-US" sz="1000" dirty="0"/>
          </a:p>
        </p:txBody>
      </p:sp>
      <p:sp>
        <p:nvSpPr>
          <p:cNvPr id="25" name="Text 23"/>
          <p:cNvSpPr/>
          <p:nvPr/>
        </p:nvSpPr>
        <p:spPr>
          <a:xfrm>
            <a:off x="2542032" y="2871216"/>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Pro:</a:t>
            </a:r>
            <a:endParaRPr lang="en-US" sz="1000" dirty="0"/>
          </a:p>
        </p:txBody>
      </p:sp>
      <p:sp>
        <p:nvSpPr>
          <p:cNvPr id="26" name="Text 24"/>
          <p:cNvSpPr/>
          <p:nvPr/>
        </p:nvSpPr>
        <p:spPr>
          <a:xfrm>
            <a:off x="3090672" y="2871216"/>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Maximum fraud signal</a:t>
            </a:r>
            <a:endParaRPr lang="en-US" sz="1000" dirty="0"/>
          </a:p>
        </p:txBody>
      </p:sp>
      <p:sp>
        <p:nvSpPr>
          <p:cNvPr id="27" name="Text 25"/>
          <p:cNvSpPr/>
          <p:nvPr/>
        </p:nvSpPr>
        <p:spPr>
          <a:xfrm>
            <a:off x="2542032" y="3346704"/>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Con:</a:t>
            </a:r>
            <a:endParaRPr lang="en-US" sz="1000" dirty="0"/>
          </a:p>
        </p:txBody>
      </p:sp>
      <p:sp>
        <p:nvSpPr>
          <p:cNvPr id="28" name="Text 26"/>
          <p:cNvSpPr/>
          <p:nvPr/>
        </p:nvSpPr>
        <p:spPr>
          <a:xfrm>
            <a:off x="3090672" y="3346704"/>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226K synthetic samples (599x amplification)</a:t>
            </a:r>
            <a:endParaRPr lang="en-US" sz="1000" dirty="0"/>
          </a:p>
        </p:txBody>
      </p:sp>
      <p:sp>
        <p:nvSpPr>
          <p:cNvPr id="29" name="Shape 27"/>
          <p:cNvSpPr/>
          <p:nvPr/>
        </p:nvSpPr>
        <p:spPr>
          <a:xfrm>
            <a:off x="4626864" y="1417320"/>
            <a:ext cx="2011680" cy="2651760"/>
          </a:xfrm>
          <a:prstGeom prst="rect">
            <a:avLst/>
          </a:prstGeom>
          <a:solidFill>
            <a:srgbClr val="E8F4FD"/>
          </a:solidFill>
          <a:ln w="12700">
            <a:solidFill>
              <a:srgbClr val="D0E8F5"/>
            </a:solidFill>
            <a:prstDash val="solid"/>
          </a:ln>
        </p:spPr>
      </p:sp>
      <p:sp>
        <p:nvSpPr>
          <p:cNvPr id="30" name="Shape 28"/>
          <p:cNvSpPr/>
          <p:nvPr/>
        </p:nvSpPr>
        <p:spPr>
          <a:xfrm>
            <a:off x="4626864" y="1417320"/>
            <a:ext cx="2011680" cy="411480"/>
          </a:xfrm>
          <a:prstGeom prst="rect">
            <a:avLst/>
          </a:prstGeom>
          <a:solidFill>
            <a:srgbClr val="4A90C4"/>
          </a:solidFill>
          <a:ln/>
        </p:spPr>
      </p:sp>
      <p:sp>
        <p:nvSpPr>
          <p:cNvPr id="31" name="Text 29"/>
          <p:cNvSpPr/>
          <p:nvPr/>
        </p:nvSpPr>
        <p:spPr>
          <a:xfrm>
            <a:off x="4626864" y="1417320"/>
            <a:ext cx="20116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Undersample</a:t>
            </a:r>
            <a:endParaRPr lang="en-US" sz="1400" dirty="0"/>
          </a:p>
        </p:txBody>
      </p:sp>
      <p:sp>
        <p:nvSpPr>
          <p:cNvPr id="32" name="Text 30"/>
          <p:cNvSpPr/>
          <p:nvPr/>
        </p:nvSpPr>
        <p:spPr>
          <a:xfrm>
            <a:off x="4718304" y="1920240"/>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Rows:</a:t>
            </a:r>
            <a:endParaRPr lang="en-US" sz="1000" dirty="0"/>
          </a:p>
        </p:txBody>
      </p:sp>
      <p:sp>
        <p:nvSpPr>
          <p:cNvPr id="33" name="Text 31"/>
          <p:cNvSpPr/>
          <p:nvPr/>
        </p:nvSpPr>
        <p:spPr>
          <a:xfrm>
            <a:off x="5266944" y="1920240"/>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756</a:t>
            </a:r>
            <a:endParaRPr lang="en-US" sz="1000" dirty="0"/>
          </a:p>
        </p:txBody>
      </p:sp>
      <p:sp>
        <p:nvSpPr>
          <p:cNvPr id="34" name="Text 32"/>
          <p:cNvSpPr/>
          <p:nvPr/>
        </p:nvSpPr>
        <p:spPr>
          <a:xfrm>
            <a:off x="4718304" y="2395728"/>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Fraud %:</a:t>
            </a:r>
            <a:endParaRPr lang="en-US" sz="1000" dirty="0"/>
          </a:p>
        </p:txBody>
      </p:sp>
      <p:sp>
        <p:nvSpPr>
          <p:cNvPr id="35" name="Text 33"/>
          <p:cNvSpPr/>
          <p:nvPr/>
        </p:nvSpPr>
        <p:spPr>
          <a:xfrm>
            <a:off x="5266944" y="2395728"/>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50%</a:t>
            </a:r>
            <a:endParaRPr lang="en-US" sz="1000" dirty="0"/>
          </a:p>
        </p:txBody>
      </p:sp>
      <p:sp>
        <p:nvSpPr>
          <p:cNvPr id="36" name="Text 34"/>
          <p:cNvSpPr/>
          <p:nvPr/>
        </p:nvSpPr>
        <p:spPr>
          <a:xfrm>
            <a:off x="4718304" y="2871216"/>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Pro:</a:t>
            </a:r>
            <a:endParaRPr lang="en-US" sz="1000" dirty="0"/>
          </a:p>
        </p:txBody>
      </p:sp>
      <p:sp>
        <p:nvSpPr>
          <p:cNvPr id="37" name="Text 35"/>
          <p:cNvSpPr/>
          <p:nvPr/>
        </p:nvSpPr>
        <p:spPr>
          <a:xfrm>
            <a:off x="5266944" y="2871216"/>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No synthetic data</a:t>
            </a:r>
            <a:endParaRPr lang="en-US" sz="1000" dirty="0"/>
          </a:p>
        </p:txBody>
      </p:sp>
      <p:sp>
        <p:nvSpPr>
          <p:cNvPr id="38" name="Text 36"/>
          <p:cNvSpPr/>
          <p:nvPr/>
        </p:nvSpPr>
        <p:spPr>
          <a:xfrm>
            <a:off x="4718304" y="3346704"/>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Con:</a:t>
            </a:r>
            <a:endParaRPr lang="en-US" sz="1000" dirty="0"/>
          </a:p>
        </p:txBody>
      </p:sp>
      <p:sp>
        <p:nvSpPr>
          <p:cNvPr id="39" name="Text 37"/>
          <p:cNvSpPr/>
          <p:nvPr/>
        </p:nvSpPr>
        <p:spPr>
          <a:xfrm>
            <a:off x="5266944" y="3346704"/>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Discards 226K legitimate transactions</a:t>
            </a:r>
            <a:endParaRPr lang="en-US" sz="1000" dirty="0"/>
          </a:p>
        </p:txBody>
      </p:sp>
      <p:sp>
        <p:nvSpPr>
          <p:cNvPr id="40" name="Shape 38"/>
          <p:cNvSpPr/>
          <p:nvPr/>
        </p:nvSpPr>
        <p:spPr>
          <a:xfrm>
            <a:off x="6803136" y="1417320"/>
            <a:ext cx="2011680" cy="2651760"/>
          </a:xfrm>
          <a:prstGeom prst="rect">
            <a:avLst/>
          </a:prstGeom>
          <a:solidFill>
            <a:srgbClr val="E8F4FD"/>
          </a:solidFill>
          <a:ln w="12700">
            <a:solidFill>
              <a:srgbClr val="D0E8F5"/>
            </a:solidFill>
            <a:prstDash val="solid"/>
          </a:ln>
        </p:spPr>
      </p:sp>
      <p:sp>
        <p:nvSpPr>
          <p:cNvPr id="41" name="Shape 39"/>
          <p:cNvSpPr/>
          <p:nvPr/>
        </p:nvSpPr>
        <p:spPr>
          <a:xfrm>
            <a:off x="6803136" y="1417320"/>
            <a:ext cx="2011680" cy="411480"/>
          </a:xfrm>
          <a:prstGeom prst="rect">
            <a:avLst/>
          </a:prstGeom>
          <a:solidFill>
            <a:srgbClr val="27AE60"/>
          </a:solidFill>
          <a:ln/>
        </p:spPr>
      </p:sp>
      <p:sp>
        <p:nvSpPr>
          <p:cNvPr id="42" name="Text 40"/>
          <p:cNvSpPr/>
          <p:nvPr/>
        </p:nvSpPr>
        <p:spPr>
          <a:xfrm>
            <a:off x="6803136" y="1417320"/>
            <a:ext cx="20116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Combined</a:t>
            </a:r>
            <a:endParaRPr lang="en-US" sz="1400" dirty="0"/>
          </a:p>
        </p:txBody>
      </p:sp>
      <p:sp>
        <p:nvSpPr>
          <p:cNvPr id="43" name="Text 41"/>
          <p:cNvSpPr/>
          <p:nvPr/>
        </p:nvSpPr>
        <p:spPr>
          <a:xfrm>
            <a:off x="6894576" y="1920240"/>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Rows:</a:t>
            </a:r>
            <a:endParaRPr lang="en-US" sz="1000" dirty="0"/>
          </a:p>
        </p:txBody>
      </p:sp>
      <p:sp>
        <p:nvSpPr>
          <p:cNvPr id="44" name="Text 42"/>
          <p:cNvSpPr/>
          <p:nvPr/>
        </p:nvSpPr>
        <p:spPr>
          <a:xfrm>
            <a:off x="7443216" y="1920240"/>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45,320</a:t>
            </a:r>
            <a:endParaRPr lang="en-US" sz="1000" dirty="0"/>
          </a:p>
        </p:txBody>
      </p:sp>
      <p:sp>
        <p:nvSpPr>
          <p:cNvPr id="45" name="Text 43"/>
          <p:cNvSpPr/>
          <p:nvPr/>
        </p:nvSpPr>
        <p:spPr>
          <a:xfrm>
            <a:off x="6894576" y="2395728"/>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Fraud %:</a:t>
            </a:r>
            <a:endParaRPr lang="en-US" sz="1000" dirty="0"/>
          </a:p>
        </p:txBody>
      </p:sp>
      <p:sp>
        <p:nvSpPr>
          <p:cNvPr id="46" name="Text 44"/>
          <p:cNvSpPr/>
          <p:nvPr/>
        </p:nvSpPr>
        <p:spPr>
          <a:xfrm>
            <a:off x="7443216" y="2395728"/>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50%</a:t>
            </a:r>
            <a:endParaRPr lang="en-US" sz="1000" dirty="0"/>
          </a:p>
        </p:txBody>
      </p:sp>
      <p:sp>
        <p:nvSpPr>
          <p:cNvPr id="47" name="Text 45"/>
          <p:cNvSpPr/>
          <p:nvPr/>
        </p:nvSpPr>
        <p:spPr>
          <a:xfrm>
            <a:off x="6894576" y="2871216"/>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Pro:</a:t>
            </a:r>
            <a:endParaRPr lang="en-US" sz="1000" dirty="0"/>
          </a:p>
        </p:txBody>
      </p:sp>
      <p:sp>
        <p:nvSpPr>
          <p:cNvPr id="48" name="Text 46"/>
          <p:cNvSpPr/>
          <p:nvPr/>
        </p:nvSpPr>
        <p:spPr>
          <a:xfrm>
            <a:off x="7443216" y="2871216"/>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Best of both worlds</a:t>
            </a:r>
            <a:endParaRPr lang="en-US" sz="1000" dirty="0"/>
          </a:p>
        </p:txBody>
      </p:sp>
      <p:sp>
        <p:nvSpPr>
          <p:cNvPr id="49" name="Text 47"/>
          <p:cNvSpPr/>
          <p:nvPr/>
        </p:nvSpPr>
        <p:spPr>
          <a:xfrm>
            <a:off x="6894576" y="3346704"/>
            <a:ext cx="548640" cy="411480"/>
          </a:xfrm>
          <a:prstGeom prst="rect">
            <a:avLst/>
          </a:prstGeom>
          <a:noFill/>
          <a:ln/>
        </p:spPr>
        <p:txBody>
          <a:bodyPr wrap="square" lIns="0" tIns="0" rIns="0" bIns="0" rtlCol="0" anchor="ctr"/>
          <a:lstStyle/>
          <a:p>
            <a:pPr marL="0" indent="0">
              <a:buNone/>
            </a:pPr>
            <a:r>
              <a:rPr lang="en-US" sz="1000" b="1" dirty="0">
                <a:solidFill>
                  <a:srgbClr val="2E6DAD"/>
                </a:solidFill>
                <a:latin typeface="Calibri" pitchFamily="34" charset="0"/>
                <a:ea typeface="Calibri" pitchFamily="34" charset="-122"/>
                <a:cs typeface="Calibri" pitchFamily="34" charset="-120"/>
              </a:rPr>
              <a:t>Con:</a:t>
            </a:r>
            <a:endParaRPr lang="en-US" sz="1000" dirty="0"/>
          </a:p>
        </p:txBody>
      </p:sp>
      <p:sp>
        <p:nvSpPr>
          <p:cNvPr id="50" name="Text 48"/>
          <p:cNvSpPr/>
          <p:nvPr/>
        </p:nvSpPr>
        <p:spPr>
          <a:xfrm>
            <a:off x="7443216" y="3346704"/>
            <a:ext cx="1280160" cy="411480"/>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Moderate synthetic amplification (60x)</a:t>
            </a:r>
            <a:endParaRPr lang="en-US" sz="1000" dirty="0"/>
          </a:p>
        </p:txBody>
      </p:sp>
      <p:sp>
        <p:nvSpPr>
          <p:cNvPr id="51" name="Shape 49"/>
          <p:cNvSpPr/>
          <p:nvPr/>
        </p:nvSpPr>
        <p:spPr>
          <a:xfrm>
            <a:off x="274320" y="4206240"/>
            <a:ext cx="8595360" cy="502920"/>
          </a:xfrm>
          <a:prstGeom prst="rect">
            <a:avLst/>
          </a:prstGeom>
          <a:solidFill>
            <a:srgbClr val="1A3A5C"/>
          </a:solidFill>
          <a:ln/>
        </p:spPr>
      </p:sp>
      <p:sp>
        <p:nvSpPr>
          <p:cNvPr id="52" name="Text 50"/>
          <p:cNvSpPr/>
          <p:nvPr/>
        </p:nvSpPr>
        <p:spPr>
          <a:xfrm>
            <a:off x="457200" y="4270248"/>
            <a:ext cx="82296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Critical Rule: All resampling applied to TRAINING set only. Test set always uses original imbalanced distribution.</a:t>
            </a:r>
            <a:endParaRPr lang="en-US" sz="1200" dirty="0"/>
          </a:p>
        </p:txBody>
      </p:sp>
      <p:sp>
        <p:nvSpPr>
          <p:cNvPr id="53" name="Text 51"/>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Step 3: Imbalance Handling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777240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Model Implementation &amp; Comparison</a:t>
            </a:r>
            <a:endParaRPr lang="en-US" sz="2600" dirty="0"/>
          </a:p>
        </p:txBody>
      </p:sp>
      <p:sp>
        <p:nvSpPr>
          <p:cNvPr id="5" name="Text 3"/>
          <p:cNvSpPr/>
          <p:nvPr/>
        </p:nvSpPr>
        <p:spPr>
          <a:xfrm>
            <a:off x="365760" y="749808"/>
            <a:ext cx="777240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4 models × 4 strategies — evaluated on original imbalanced test set</a:t>
            </a:r>
            <a:endParaRPr lang="en-US" sz="1300" dirty="0"/>
          </a:p>
        </p:txBody>
      </p:sp>
      <p:sp>
        <p:nvSpPr>
          <p:cNvPr id="6" name="Shape 4"/>
          <p:cNvSpPr/>
          <p:nvPr/>
        </p:nvSpPr>
        <p:spPr>
          <a:xfrm>
            <a:off x="8321040" y="91440"/>
            <a:ext cx="640080" cy="320040"/>
          </a:xfrm>
          <a:prstGeom prst="rect">
            <a:avLst/>
          </a:prstGeom>
          <a:solidFill>
            <a:srgbClr val="4A90C4"/>
          </a:solidFill>
          <a:ln/>
        </p:spPr>
      </p:sp>
      <p:sp>
        <p:nvSpPr>
          <p:cNvPr id="7" name="Shape 5"/>
          <p:cNvSpPr/>
          <p:nvPr/>
        </p:nvSpPr>
        <p:spPr>
          <a:xfrm>
            <a:off x="274320" y="1417320"/>
            <a:ext cx="8595360" cy="640080"/>
          </a:xfrm>
          <a:prstGeom prst="rect">
            <a:avLst/>
          </a:prstGeom>
          <a:solidFill>
            <a:srgbClr val="E8F4FD"/>
          </a:solidFill>
          <a:ln w="12700">
            <a:solidFill>
              <a:srgbClr val="D0E8F5"/>
            </a:solidFill>
            <a:prstDash val="solid"/>
          </a:ln>
        </p:spPr>
      </p:sp>
      <p:sp>
        <p:nvSpPr>
          <p:cNvPr id="8" name="Text 6"/>
          <p:cNvSpPr/>
          <p:nvPr/>
        </p:nvSpPr>
        <p:spPr>
          <a:xfrm>
            <a:off x="457200" y="1508760"/>
            <a:ext cx="822960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Setup: GridSearchCV tuned on Combined strategy (45,320 rows) | SVM skipped on SMOTE (453K rows — runtime constraint) | 15 selected features</a:t>
            </a:r>
            <a:endParaRPr lang="en-US" sz="1100" dirty="0"/>
          </a:p>
        </p:txBody>
      </p:sp>
      <p:sp>
        <p:nvSpPr>
          <p:cNvPr id="9" name="Shape 7"/>
          <p:cNvSpPr/>
          <p:nvPr/>
        </p:nvSpPr>
        <p:spPr>
          <a:xfrm>
            <a:off x="274320" y="2148840"/>
            <a:ext cx="1463040" cy="347472"/>
          </a:xfrm>
          <a:prstGeom prst="rect">
            <a:avLst/>
          </a:prstGeom>
          <a:solidFill>
            <a:srgbClr val="1A3A5C"/>
          </a:solidFill>
          <a:ln/>
        </p:spPr>
      </p:sp>
      <p:sp>
        <p:nvSpPr>
          <p:cNvPr id="10" name="Text 8"/>
          <p:cNvSpPr/>
          <p:nvPr/>
        </p:nvSpPr>
        <p:spPr>
          <a:xfrm>
            <a:off x="310896" y="2148840"/>
            <a:ext cx="138988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Model</a:t>
            </a:r>
            <a:endParaRPr lang="en-US" sz="1000" dirty="0"/>
          </a:p>
        </p:txBody>
      </p:sp>
      <p:sp>
        <p:nvSpPr>
          <p:cNvPr id="11" name="Shape 9"/>
          <p:cNvSpPr/>
          <p:nvPr/>
        </p:nvSpPr>
        <p:spPr>
          <a:xfrm>
            <a:off x="1783080" y="2148840"/>
            <a:ext cx="1280160" cy="347472"/>
          </a:xfrm>
          <a:prstGeom prst="rect">
            <a:avLst/>
          </a:prstGeom>
          <a:solidFill>
            <a:srgbClr val="1A3A5C"/>
          </a:solidFill>
          <a:ln/>
        </p:spPr>
      </p:sp>
      <p:sp>
        <p:nvSpPr>
          <p:cNvPr id="12" name="Text 10"/>
          <p:cNvSpPr/>
          <p:nvPr/>
        </p:nvSpPr>
        <p:spPr>
          <a:xfrm>
            <a:off x="1819656" y="2148840"/>
            <a:ext cx="120700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Strategy</a:t>
            </a:r>
            <a:endParaRPr lang="en-US" sz="1000" dirty="0"/>
          </a:p>
        </p:txBody>
      </p:sp>
      <p:sp>
        <p:nvSpPr>
          <p:cNvPr id="13" name="Shape 11"/>
          <p:cNvSpPr/>
          <p:nvPr/>
        </p:nvSpPr>
        <p:spPr>
          <a:xfrm>
            <a:off x="3108960" y="2148840"/>
            <a:ext cx="1005840" cy="347472"/>
          </a:xfrm>
          <a:prstGeom prst="rect">
            <a:avLst/>
          </a:prstGeom>
          <a:solidFill>
            <a:srgbClr val="1A3A5C"/>
          </a:solidFill>
          <a:ln/>
        </p:spPr>
      </p:sp>
      <p:sp>
        <p:nvSpPr>
          <p:cNvPr id="14" name="Text 12"/>
          <p:cNvSpPr/>
          <p:nvPr/>
        </p:nvSpPr>
        <p:spPr>
          <a:xfrm>
            <a:off x="3145536" y="2148840"/>
            <a:ext cx="93268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AUC-ROC</a:t>
            </a:r>
            <a:endParaRPr lang="en-US" sz="1000" dirty="0"/>
          </a:p>
        </p:txBody>
      </p:sp>
      <p:sp>
        <p:nvSpPr>
          <p:cNvPr id="15" name="Shape 13"/>
          <p:cNvSpPr/>
          <p:nvPr/>
        </p:nvSpPr>
        <p:spPr>
          <a:xfrm>
            <a:off x="4160520" y="2148840"/>
            <a:ext cx="1005840" cy="347472"/>
          </a:xfrm>
          <a:prstGeom prst="rect">
            <a:avLst/>
          </a:prstGeom>
          <a:solidFill>
            <a:srgbClr val="1A3A5C"/>
          </a:solidFill>
          <a:ln/>
        </p:spPr>
      </p:sp>
      <p:sp>
        <p:nvSpPr>
          <p:cNvPr id="16" name="Text 14"/>
          <p:cNvSpPr/>
          <p:nvPr/>
        </p:nvSpPr>
        <p:spPr>
          <a:xfrm>
            <a:off x="4197096" y="2148840"/>
            <a:ext cx="93268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PR-AUC</a:t>
            </a:r>
            <a:endParaRPr lang="en-US" sz="1000" dirty="0"/>
          </a:p>
        </p:txBody>
      </p:sp>
      <p:sp>
        <p:nvSpPr>
          <p:cNvPr id="17" name="Shape 15"/>
          <p:cNvSpPr/>
          <p:nvPr/>
        </p:nvSpPr>
        <p:spPr>
          <a:xfrm>
            <a:off x="5212080" y="2148840"/>
            <a:ext cx="914400" cy="347472"/>
          </a:xfrm>
          <a:prstGeom prst="rect">
            <a:avLst/>
          </a:prstGeom>
          <a:solidFill>
            <a:srgbClr val="1A3A5C"/>
          </a:solidFill>
          <a:ln/>
        </p:spPr>
      </p:sp>
      <p:sp>
        <p:nvSpPr>
          <p:cNvPr id="18" name="Text 16"/>
          <p:cNvSpPr/>
          <p:nvPr/>
        </p:nvSpPr>
        <p:spPr>
          <a:xfrm>
            <a:off x="5248656" y="2148840"/>
            <a:ext cx="84124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F1</a:t>
            </a:r>
            <a:endParaRPr lang="en-US" sz="1000" dirty="0"/>
          </a:p>
        </p:txBody>
      </p:sp>
      <p:sp>
        <p:nvSpPr>
          <p:cNvPr id="19" name="Shape 17"/>
          <p:cNvSpPr/>
          <p:nvPr/>
        </p:nvSpPr>
        <p:spPr>
          <a:xfrm>
            <a:off x="6172200" y="2148840"/>
            <a:ext cx="914400" cy="347472"/>
          </a:xfrm>
          <a:prstGeom prst="rect">
            <a:avLst/>
          </a:prstGeom>
          <a:solidFill>
            <a:srgbClr val="1A3A5C"/>
          </a:solidFill>
          <a:ln/>
        </p:spPr>
      </p:sp>
      <p:sp>
        <p:nvSpPr>
          <p:cNvPr id="20" name="Text 18"/>
          <p:cNvSpPr/>
          <p:nvPr/>
        </p:nvSpPr>
        <p:spPr>
          <a:xfrm>
            <a:off x="6208776" y="2148840"/>
            <a:ext cx="84124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p>
        </p:txBody>
      </p:sp>
      <p:sp>
        <p:nvSpPr>
          <p:cNvPr id="21" name="Shape 19"/>
          <p:cNvSpPr/>
          <p:nvPr/>
        </p:nvSpPr>
        <p:spPr>
          <a:xfrm>
            <a:off x="7132320" y="2148840"/>
            <a:ext cx="1005840" cy="347472"/>
          </a:xfrm>
          <a:prstGeom prst="rect">
            <a:avLst/>
          </a:prstGeom>
          <a:solidFill>
            <a:srgbClr val="1A3A5C"/>
          </a:solidFill>
          <a:ln/>
        </p:spPr>
      </p:sp>
      <p:sp>
        <p:nvSpPr>
          <p:cNvPr id="22" name="Text 20"/>
          <p:cNvSpPr/>
          <p:nvPr/>
        </p:nvSpPr>
        <p:spPr>
          <a:xfrm>
            <a:off x="7168896" y="2148840"/>
            <a:ext cx="93268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Precision</a:t>
            </a:r>
            <a:endParaRPr lang="en-US" sz="1000" dirty="0"/>
          </a:p>
        </p:txBody>
      </p:sp>
      <p:sp>
        <p:nvSpPr>
          <p:cNvPr id="23" name="Shape 21"/>
          <p:cNvSpPr/>
          <p:nvPr/>
        </p:nvSpPr>
        <p:spPr>
          <a:xfrm>
            <a:off x="274320" y="2542032"/>
            <a:ext cx="1463040" cy="356616"/>
          </a:xfrm>
          <a:prstGeom prst="rect">
            <a:avLst/>
          </a:prstGeom>
          <a:solidFill>
            <a:srgbClr val="E8F5E9"/>
          </a:solidFill>
          <a:ln w="6350">
            <a:solidFill>
              <a:srgbClr val="D0E0EE"/>
            </a:solidFill>
            <a:prstDash val="solid"/>
          </a:ln>
        </p:spPr>
      </p:sp>
      <p:sp>
        <p:nvSpPr>
          <p:cNvPr id="24" name="Text 22"/>
          <p:cNvSpPr/>
          <p:nvPr/>
        </p:nvSpPr>
        <p:spPr>
          <a:xfrm>
            <a:off x="310896" y="2542032"/>
            <a:ext cx="1389888" cy="356616"/>
          </a:xfrm>
          <a:prstGeom prst="rect">
            <a:avLst/>
          </a:prstGeom>
          <a:noFill/>
          <a:ln/>
        </p:spPr>
        <p:txBody>
          <a:bodyPr wrap="square" lIns="0" tIns="0" rIns="0" bIns="0" rtlCol="0" anchor="ctr"/>
          <a:lstStyle/>
          <a:p>
            <a:pPr marL="0" indent="0" algn="ctr">
              <a:buNone/>
            </a:pPr>
            <a:r>
              <a:rPr lang="en-US" sz="1100" dirty="0">
                <a:solidFill>
                  <a:srgbClr val="27AE60"/>
                </a:solidFill>
                <a:latin typeface="Calibri" pitchFamily="34" charset="0"/>
                <a:ea typeface="Calibri" pitchFamily="34" charset="-122"/>
                <a:cs typeface="Calibri" pitchFamily="34" charset="-120"/>
              </a:rPr>
              <a:t>XGBoost</a:t>
            </a:r>
            <a:endParaRPr lang="en-US" sz="1100" dirty="0"/>
          </a:p>
        </p:txBody>
      </p:sp>
      <p:sp>
        <p:nvSpPr>
          <p:cNvPr id="25" name="Shape 23"/>
          <p:cNvSpPr/>
          <p:nvPr/>
        </p:nvSpPr>
        <p:spPr>
          <a:xfrm>
            <a:off x="1783080" y="2542032"/>
            <a:ext cx="1280160" cy="356616"/>
          </a:xfrm>
          <a:prstGeom prst="rect">
            <a:avLst/>
          </a:prstGeom>
          <a:solidFill>
            <a:srgbClr val="E8F5E9"/>
          </a:solidFill>
          <a:ln w="6350">
            <a:solidFill>
              <a:srgbClr val="D0E0EE"/>
            </a:solidFill>
            <a:prstDash val="solid"/>
          </a:ln>
        </p:spPr>
      </p:sp>
      <p:sp>
        <p:nvSpPr>
          <p:cNvPr id="26" name="Text 24"/>
          <p:cNvSpPr/>
          <p:nvPr/>
        </p:nvSpPr>
        <p:spPr>
          <a:xfrm>
            <a:off x="1819656" y="2542032"/>
            <a:ext cx="1207008" cy="356616"/>
          </a:xfrm>
          <a:prstGeom prst="rect">
            <a:avLst/>
          </a:prstGeom>
          <a:noFill/>
          <a:ln/>
        </p:spPr>
        <p:txBody>
          <a:bodyPr wrap="square" lIns="0" tIns="0" rIns="0" bIns="0" rtlCol="0" anchor="ctr"/>
          <a:lstStyle/>
          <a:p>
            <a:pPr marL="0" indent="0" algn="ctr">
              <a:buNone/>
            </a:pPr>
            <a:r>
              <a:rPr lang="en-US" sz="1100" dirty="0">
                <a:solidFill>
                  <a:srgbClr val="27AE60"/>
                </a:solidFill>
                <a:latin typeface="Calibri" pitchFamily="34" charset="0"/>
                <a:ea typeface="Calibri" pitchFamily="34" charset="-122"/>
                <a:cs typeface="Calibri" pitchFamily="34" charset="-120"/>
              </a:rPr>
              <a:t>Original</a:t>
            </a:r>
            <a:endParaRPr lang="en-US" sz="1100" dirty="0"/>
          </a:p>
        </p:txBody>
      </p:sp>
      <p:sp>
        <p:nvSpPr>
          <p:cNvPr id="27" name="Shape 25"/>
          <p:cNvSpPr/>
          <p:nvPr/>
        </p:nvSpPr>
        <p:spPr>
          <a:xfrm>
            <a:off x="3108960" y="2542032"/>
            <a:ext cx="1005840" cy="356616"/>
          </a:xfrm>
          <a:prstGeom prst="rect">
            <a:avLst/>
          </a:prstGeom>
          <a:solidFill>
            <a:srgbClr val="E8F5E9"/>
          </a:solidFill>
          <a:ln w="6350">
            <a:solidFill>
              <a:srgbClr val="D0E0EE"/>
            </a:solidFill>
            <a:prstDash val="solid"/>
          </a:ln>
        </p:spPr>
      </p:sp>
      <p:sp>
        <p:nvSpPr>
          <p:cNvPr id="28" name="Text 26"/>
          <p:cNvSpPr/>
          <p:nvPr/>
        </p:nvSpPr>
        <p:spPr>
          <a:xfrm>
            <a:off x="3145536" y="2542032"/>
            <a:ext cx="932688" cy="356616"/>
          </a:xfrm>
          <a:prstGeom prst="rect">
            <a:avLst/>
          </a:prstGeom>
          <a:noFill/>
          <a:ln/>
        </p:spPr>
        <p:txBody>
          <a:bodyPr wrap="square" lIns="0" tIns="0" rIns="0" bIns="0"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0.9660</a:t>
            </a:r>
            <a:endParaRPr lang="en-US" sz="1100" dirty="0"/>
          </a:p>
        </p:txBody>
      </p:sp>
      <p:sp>
        <p:nvSpPr>
          <p:cNvPr id="29" name="Shape 27"/>
          <p:cNvSpPr/>
          <p:nvPr/>
        </p:nvSpPr>
        <p:spPr>
          <a:xfrm>
            <a:off x="4160520" y="2542032"/>
            <a:ext cx="1005840" cy="356616"/>
          </a:xfrm>
          <a:prstGeom prst="rect">
            <a:avLst/>
          </a:prstGeom>
          <a:solidFill>
            <a:srgbClr val="E8F5E9"/>
          </a:solidFill>
          <a:ln w="6350">
            <a:solidFill>
              <a:srgbClr val="D0E0EE"/>
            </a:solidFill>
            <a:prstDash val="solid"/>
          </a:ln>
        </p:spPr>
      </p:sp>
      <p:sp>
        <p:nvSpPr>
          <p:cNvPr id="30" name="Text 28"/>
          <p:cNvSpPr/>
          <p:nvPr/>
        </p:nvSpPr>
        <p:spPr>
          <a:xfrm>
            <a:off x="4197096" y="2542032"/>
            <a:ext cx="932688" cy="356616"/>
          </a:xfrm>
          <a:prstGeom prst="rect">
            <a:avLst/>
          </a:prstGeom>
          <a:noFill/>
          <a:ln/>
        </p:spPr>
        <p:txBody>
          <a:bodyPr wrap="square" lIns="0" tIns="0" rIns="0" bIns="0"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0.8056</a:t>
            </a:r>
            <a:endParaRPr lang="en-US" sz="1100" dirty="0"/>
          </a:p>
        </p:txBody>
      </p:sp>
      <p:sp>
        <p:nvSpPr>
          <p:cNvPr id="31" name="Shape 29"/>
          <p:cNvSpPr/>
          <p:nvPr/>
        </p:nvSpPr>
        <p:spPr>
          <a:xfrm>
            <a:off x="5212080" y="2542032"/>
            <a:ext cx="914400" cy="356616"/>
          </a:xfrm>
          <a:prstGeom prst="rect">
            <a:avLst/>
          </a:prstGeom>
          <a:solidFill>
            <a:srgbClr val="E8F5E9"/>
          </a:solidFill>
          <a:ln w="6350">
            <a:solidFill>
              <a:srgbClr val="D0E0EE"/>
            </a:solidFill>
            <a:prstDash val="solid"/>
          </a:ln>
        </p:spPr>
      </p:sp>
      <p:sp>
        <p:nvSpPr>
          <p:cNvPr id="32" name="Text 30"/>
          <p:cNvSpPr/>
          <p:nvPr/>
        </p:nvSpPr>
        <p:spPr>
          <a:xfrm>
            <a:off x="5248656" y="2542032"/>
            <a:ext cx="841248" cy="356616"/>
          </a:xfrm>
          <a:prstGeom prst="rect">
            <a:avLst/>
          </a:prstGeom>
          <a:noFill/>
          <a:ln/>
        </p:spPr>
        <p:txBody>
          <a:bodyPr wrap="square" lIns="0" tIns="0" rIns="0" bIns="0"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0.8144</a:t>
            </a:r>
            <a:endParaRPr lang="en-US" sz="1100" dirty="0"/>
          </a:p>
        </p:txBody>
      </p:sp>
      <p:sp>
        <p:nvSpPr>
          <p:cNvPr id="33" name="Shape 31"/>
          <p:cNvSpPr/>
          <p:nvPr/>
        </p:nvSpPr>
        <p:spPr>
          <a:xfrm>
            <a:off x="6172200" y="2542032"/>
            <a:ext cx="914400" cy="356616"/>
          </a:xfrm>
          <a:prstGeom prst="rect">
            <a:avLst/>
          </a:prstGeom>
          <a:solidFill>
            <a:srgbClr val="E8F5E9"/>
          </a:solidFill>
          <a:ln w="6350">
            <a:solidFill>
              <a:srgbClr val="D0E0EE"/>
            </a:solidFill>
            <a:prstDash val="solid"/>
          </a:ln>
        </p:spPr>
      </p:sp>
      <p:sp>
        <p:nvSpPr>
          <p:cNvPr id="34" name="Text 32"/>
          <p:cNvSpPr/>
          <p:nvPr/>
        </p:nvSpPr>
        <p:spPr>
          <a:xfrm>
            <a:off x="6208776" y="2542032"/>
            <a:ext cx="841248" cy="356616"/>
          </a:xfrm>
          <a:prstGeom prst="rect">
            <a:avLst/>
          </a:prstGeom>
          <a:noFill/>
          <a:ln/>
        </p:spPr>
        <p:txBody>
          <a:bodyPr wrap="square" lIns="0" tIns="0" rIns="0" bIns="0"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0.7158</a:t>
            </a:r>
            <a:endParaRPr lang="en-US" sz="1100" dirty="0"/>
          </a:p>
        </p:txBody>
      </p:sp>
      <p:sp>
        <p:nvSpPr>
          <p:cNvPr id="35" name="Shape 33"/>
          <p:cNvSpPr/>
          <p:nvPr/>
        </p:nvSpPr>
        <p:spPr>
          <a:xfrm>
            <a:off x="7132320" y="2542032"/>
            <a:ext cx="1005840" cy="356616"/>
          </a:xfrm>
          <a:prstGeom prst="rect">
            <a:avLst/>
          </a:prstGeom>
          <a:solidFill>
            <a:srgbClr val="E8F5E9"/>
          </a:solidFill>
          <a:ln w="6350">
            <a:solidFill>
              <a:srgbClr val="D0E0EE"/>
            </a:solidFill>
            <a:prstDash val="solid"/>
          </a:ln>
        </p:spPr>
      </p:sp>
      <p:sp>
        <p:nvSpPr>
          <p:cNvPr id="36" name="Text 34"/>
          <p:cNvSpPr/>
          <p:nvPr/>
        </p:nvSpPr>
        <p:spPr>
          <a:xfrm>
            <a:off x="7168896" y="2542032"/>
            <a:ext cx="932688" cy="356616"/>
          </a:xfrm>
          <a:prstGeom prst="rect">
            <a:avLst/>
          </a:prstGeom>
          <a:noFill/>
          <a:ln/>
        </p:spPr>
        <p:txBody>
          <a:bodyPr wrap="square" lIns="0" tIns="0" rIns="0" bIns="0"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0.9444</a:t>
            </a:r>
            <a:endParaRPr lang="en-US" sz="1100" dirty="0"/>
          </a:p>
        </p:txBody>
      </p:sp>
      <p:sp>
        <p:nvSpPr>
          <p:cNvPr id="37" name="Shape 35"/>
          <p:cNvSpPr/>
          <p:nvPr/>
        </p:nvSpPr>
        <p:spPr>
          <a:xfrm>
            <a:off x="274320" y="2916936"/>
            <a:ext cx="1463040" cy="356616"/>
          </a:xfrm>
          <a:prstGeom prst="rect">
            <a:avLst/>
          </a:prstGeom>
          <a:solidFill>
            <a:srgbClr val="FFFFFF"/>
          </a:solidFill>
          <a:ln w="6350">
            <a:solidFill>
              <a:srgbClr val="D0E0EE"/>
            </a:solidFill>
            <a:prstDash val="solid"/>
          </a:ln>
        </p:spPr>
      </p:sp>
      <p:sp>
        <p:nvSpPr>
          <p:cNvPr id="38" name="Text 36"/>
          <p:cNvSpPr/>
          <p:nvPr/>
        </p:nvSpPr>
        <p:spPr>
          <a:xfrm>
            <a:off x="310896" y="2916936"/>
            <a:ext cx="13898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Random Forest</a:t>
            </a:r>
            <a:endParaRPr lang="en-US" sz="1100" dirty="0"/>
          </a:p>
        </p:txBody>
      </p:sp>
      <p:sp>
        <p:nvSpPr>
          <p:cNvPr id="39" name="Shape 37"/>
          <p:cNvSpPr/>
          <p:nvPr/>
        </p:nvSpPr>
        <p:spPr>
          <a:xfrm>
            <a:off x="1783080" y="2916936"/>
            <a:ext cx="1280160" cy="356616"/>
          </a:xfrm>
          <a:prstGeom prst="rect">
            <a:avLst/>
          </a:prstGeom>
          <a:solidFill>
            <a:srgbClr val="FFFFFF"/>
          </a:solidFill>
          <a:ln w="6350">
            <a:solidFill>
              <a:srgbClr val="D0E0EE"/>
            </a:solidFill>
            <a:prstDash val="solid"/>
          </a:ln>
        </p:spPr>
      </p:sp>
      <p:sp>
        <p:nvSpPr>
          <p:cNvPr id="40" name="Text 38"/>
          <p:cNvSpPr/>
          <p:nvPr/>
        </p:nvSpPr>
        <p:spPr>
          <a:xfrm>
            <a:off x="1819656" y="2916936"/>
            <a:ext cx="120700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SMOTE</a:t>
            </a:r>
            <a:endParaRPr lang="en-US" sz="1100" dirty="0"/>
          </a:p>
        </p:txBody>
      </p:sp>
      <p:sp>
        <p:nvSpPr>
          <p:cNvPr id="41" name="Shape 39"/>
          <p:cNvSpPr/>
          <p:nvPr/>
        </p:nvSpPr>
        <p:spPr>
          <a:xfrm>
            <a:off x="3108960" y="2916936"/>
            <a:ext cx="1005840" cy="356616"/>
          </a:xfrm>
          <a:prstGeom prst="rect">
            <a:avLst/>
          </a:prstGeom>
          <a:solidFill>
            <a:srgbClr val="FFFFFF"/>
          </a:solidFill>
          <a:ln w="6350">
            <a:solidFill>
              <a:srgbClr val="D0E0EE"/>
            </a:solidFill>
            <a:prstDash val="solid"/>
          </a:ln>
        </p:spPr>
      </p:sp>
      <p:sp>
        <p:nvSpPr>
          <p:cNvPr id="42" name="Text 40"/>
          <p:cNvSpPr/>
          <p:nvPr/>
        </p:nvSpPr>
        <p:spPr>
          <a:xfrm>
            <a:off x="3145536" y="2916936"/>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0.9682</a:t>
            </a:r>
            <a:endParaRPr lang="en-US" sz="1100" dirty="0"/>
          </a:p>
        </p:txBody>
      </p:sp>
      <p:sp>
        <p:nvSpPr>
          <p:cNvPr id="43" name="Shape 41"/>
          <p:cNvSpPr/>
          <p:nvPr/>
        </p:nvSpPr>
        <p:spPr>
          <a:xfrm>
            <a:off x="4160520" y="2916936"/>
            <a:ext cx="1005840" cy="356616"/>
          </a:xfrm>
          <a:prstGeom prst="rect">
            <a:avLst/>
          </a:prstGeom>
          <a:solidFill>
            <a:srgbClr val="FFFFFF"/>
          </a:solidFill>
          <a:ln w="6350">
            <a:solidFill>
              <a:srgbClr val="D0E0EE"/>
            </a:solidFill>
            <a:prstDash val="solid"/>
          </a:ln>
        </p:spPr>
      </p:sp>
      <p:sp>
        <p:nvSpPr>
          <p:cNvPr id="44" name="Text 42"/>
          <p:cNvSpPr/>
          <p:nvPr/>
        </p:nvSpPr>
        <p:spPr>
          <a:xfrm>
            <a:off x="4197096" y="2916936"/>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0.8058</a:t>
            </a:r>
            <a:endParaRPr lang="en-US" sz="1100" dirty="0"/>
          </a:p>
        </p:txBody>
      </p:sp>
      <p:sp>
        <p:nvSpPr>
          <p:cNvPr id="45" name="Shape 43"/>
          <p:cNvSpPr/>
          <p:nvPr/>
        </p:nvSpPr>
        <p:spPr>
          <a:xfrm>
            <a:off x="5212080" y="2916936"/>
            <a:ext cx="914400" cy="356616"/>
          </a:xfrm>
          <a:prstGeom prst="rect">
            <a:avLst/>
          </a:prstGeom>
          <a:solidFill>
            <a:srgbClr val="FFFFFF"/>
          </a:solidFill>
          <a:ln w="6350">
            <a:solidFill>
              <a:srgbClr val="D0E0EE"/>
            </a:solidFill>
            <a:prstDash val="solid"/>
          </a:ln>
        </p:spPr>
      </p:sp>
      <p:sp>
        <p:nvSpPr>
          <p:cNvPr id="46" name="Text 44"/>
          <p:cNvSpPr/>
          <p:nvPr/>
        </p:nvSpPr>
        <p:spPr>
          <a:xfrm>
            <a:off x="5248656" y="2916936"/>
            <a:ext cx="84124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0.7933</a:t>
            </a:r>
            <a:endParaRPr lang="en-US" sz="1100" dirty="0"/>
          </a:p>
        </p:txBody>
      </p:sp>
      <p:sp>
        <p:nvSpPr>
          <p:cNvPr id="47" name="Shape 45"/>
          <p:cNvSpPr/>
          <p:nvPr/>
        </p:nvSpPr>
        <p:spPr>
          <a:xfrm>
            <a:off x="6172200" y="2916936"/>
            <a:ext cx="914400" cy="356616"/>
          </a:xfrm>
          <a:prstGeom prst="rect">
            <a:avLst/>
          </a:prstGeom>
          <a:solidFill>
            <a:srgbClr val="FFFFFF"/>
          </a:solidFill>
          <a:ln w="6350">
            <a:solidFill>
              <a:srgbClr val="D0E0EE"/>
            </a:solidFill>
            <a:prstDash val="solid"/>
          </a:ln>
        </p:spPr>
      </p:sp>
      <p:sp>
        <p:nvSpPr>
          <p:cNvPr id="48" name="Text 46"/>
          <p:cNvSpPr/>
          <p:nvPr/>
        </p:nvSpPr>
        <p:spPr>
          <a:xfrm>
            <a:off x="6208776" y="2916936"/>
            <a:ext cx="84124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0.7474</a:t>
            </a:r>
            <a:endParaRPr lang="en-US" sz="1100" dirty="0"/>
          </a:p>
        </p:txBody>
      </p:sp>
      <p:sp>
        <p:nvSpPr>
          <p:cNvPr id="49" name="Shape 47"/>
          <p:cNvSpPr/>
          <p:nvPr/>
        </p:nvSpPr>
        <p:spPr>
          <a:xfrm>
            <a:off x="7132320" y="2916936"/>
            <a:ext cx="1005840" cy="356616"/>
          </a:xfrm>
          <a:prstGeom prst="rect">
            <a:avLst/>
          </a:prstGeom>
          <a:solidFill>
            <a:srgbClr val="FFFFFF"/>
          </a:solidFill>
          <a:ln w="6350">
            <a:solidFill>
              <a:srgbClr val="D0E0EE"/>
            </a:solidFill>
            <a:prstDash val="solid"/>
          </a:ln>
        </p:spPr>
      </p:sp>
      <p:sp>
        <p:nvSpPr>
          <p:cNvPr id="50" name="Text 48"/>
          <p:cNvSpPr/>
          <p:nvPr/>
        </p:nvSpPr>
        <p:spPr>
          <a:xfrm>
            <a:off x="7168896" y="2916936"/>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0.8452</a:t>
            </a:r>
            <a:endParaRPr lang="en-US" sz="1100" dirty="0"/>
          </a:p>
        </p:txBody>
      </p:sp>
      <p:sp>
        <p:nvSpPr>
          <p:cNvPr id="51" name="Shape 49"/>
          <p:cNvSpPr/>
          <p:nvPr/>
        </p:nvSpPr>
        <p:spPr>
          <a:xfrm>
            <a:off x="274320" y="3291840"/>
            <a:ext cx="1463040" cy="356616"/>
          </a:xfrm>
          <a:prstGeom prst="rect">
            <a:avLst/>
          </a:prstGeom>
          <a:solidFill>
            <a:srgbClr val="E8F4FD"/>
          </a:solidFill>
          <a:ln w="6350">
            <a:solidFill>
              <a:srgbClr val="D0E0EE"/>
            </a:solidFill>
            <a:prstDash val="solid"/>
          </a:ln>
        </p:spPr>
      </p:sp>
      <p:sp>
        <p:nvSpPr>
          <p:cNvPr id="52" name="Text 50"/>
          <p:cNvSpPr/>
          <p:nvPr/>
        </p:nvSpPr>
        <p:spPr>
          <a:xfrm>
            <a:off x="310896" y="3291840"/>
            <a:ext cx="13898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Random Forest</a:t>
            </a:r>
            <a:endParaRPr lang="en-US" sz="1100" dirty="0"/>
          </a:p>
        </p:txBody>
      </p:sp>
      <p:sp>
        <p:nvSpPr>
          <p:cNvPr id="53" name="Shape 51"/>
          <p:cNvSpPr/>
          <p:nvPr/>
        </p:nvSpPr>
        <p:spPr>
          <a:xfrm>
            <a:off x="1783080" y="3291840"/>
            <a:ext cx="1280160" cy="356616"/>
          </a:xfrm>
          <a:prstGeom prst="rect">
            <a:avLst/>
          </a:prstGeom>
          <a:solidFill>
            <a:srgbClr val="E8F4FD"/>
          </a:solidFill>
          <a:ln w="6350">
            <a:solidFill>
              <a:srgbClr val="D0E0EE"/>
            </a:solidFill>
            <a:prstDash val="solid"/>
          </a:ln>
        </p:spPr>
      </p:sp>
      <p:sp>
        <p:nvSpPr>
          <p:cNvPr id="54" name="Text 52"/>
          <p:cNvSpPr/>
          <p:nvPr/>
        </p:nvSpPr>
        <p:spPr>
          <a:xfrm>
            <a:off x="1819656" y="3291840"/>
            <a:ext cx="120700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Combined</a:t>
            </a:r>
            <a:endParaRPr lang="en-US" sz="1100" dirty="0"/>
          </a:p>
        </p:txBody>
      </p:sp>
      <p:sp>
        <p:nvSpPr>
          <p:cNvPr id="55" name="Shape 53"/>
          <p:cNvSpPr/>
          <p:nvPr/>
        </p:nvSpPr>
        <p:spPr>
          <a:xfrm>
            <a:off x="3108960" y="3291840"/>
            <a:ext cx="1005840" cy="356616"/>
          </a:xfrm>
          <a:prstGeom prst="rect">
            <a:avLst/>
          </a:prstGeom>
          <a:solidFill>
            <a:srgbClr val="E8F4FD"/>
          </a:solidFill>
          <a:ln w="6350">
            <a:solidFill>
              <a:srgbClr val="D0E0EE"/>
            </a:solidFill>
            <a:prstDash val="solid"/>
          </a:ln>
        </p:spPr>
      </p:sp>
      <p:sp>
        <p:nvSpPr>
          <p:cNvPr id="56" name="Text 54"/>
          <p:cNvSpPr/>
          <p:nvPr/>
        </p:nvSpPr>
        <p:spPr>
          <a:xfrm>
            <a:off x="3145536" y="3291840"/>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0.9733</a:t>
            </a:r>
            <a:endParaRPr lang="en-US" sz="1100" dirty="0"/>
          </a:p>
        </p:txBody>
      </p:sp>
      <p:sp>
        <p:nvSpPr>
          <p:cNvPr id="57" name="Shape 55"/>
          <p:cNvSpPr/>
          <p:nvPr/>
        </p:nvSpPr>
        <p:spPr>
          <a:xfrm>
            <a:off x="4160520" y="3291840"/>
            <a:ext cx="1005840" cy="356616"/>
          </a:xfrm>
          <a:prstGeom prst="rect">
            <a:avLst/>
          </a:prstGeom>
          <a:solidFill>
            <a:srgbClr val="E8F4FD"/>
          </a:solidFill>
          <a:ln w="6350">
            <a:solidFill>
              <a:srgbClr val="D0E0EE"/>
            </a:solidFill>
            <a:prstDash val="solid"/>
          </a:ln>
        </p:spPr>
      </p:sp>
      <p:sp>
        <p:nvSpPr>
          <p:cNvPr id="58" name="Text 56"/>
          <p:cNvSpPr/>
          <p:nvPr/>
        </p:nvSpPr>
        <p:spPr>
          <a:xfrm>
            <a:off x="4197096" y="3291840"/>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0.7438</a:t>
            </a:r>
            <a:endParaRPr lang="en-US" sz="1100" dirty="0"/>
          </a:p>
        </p:txBody>
      </p:sp>
      <p:sp>
        <p:nvSpPr>
          <p:cNvPr id="59" name="Shape 57"/>
          <p:cNvSpPr/>
          <p:nvPr/>
        </p:nvSpPr>
        <p:spPr>
          <a:xfrm>
            <a:off x="5212080" y="3291840"/>
            <a:ext cx="914400" cy="356616"/>
          </a:xfrm>
          <a:prstGeom prst="rect">
            <a:avLst/>
          </a:prstGeom>
          <a:solidFill>
            <a:srgbClr val="E8F4FD"/>
          </a:solidFill>
          <a:ln w="6350">
            <a:solidFill>
              <a:srgbClr val="D0E0EE"/>
            </a:solidFill>
            <a:prstDash val="solid"/>
          </a:ln>
        </p:spPr>
      </p:sp>
      <p:sp>
        <p:nvSpPr>
          <p:cNvPr id="60" name="Text 58"/>
          <p:cNvSpPr/>
          <p:nvPr/>
        </p:nvSpPr>
        <p:spPr>
          <a:xfrm>
            <a:off x="5248656" y="3291840"/>
            <a:ext cx="84124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0.6816</a:t>
            </a:r>
            <a:endParaRPr lang="en-US" sz="1100" dirty="0"/>
          </a:p>
        </p:txBody>
      </p:sp>
      <p:sp>
        <p:nvSpPr>
          <p:cNvPr id="61" name="Shape 59"/>
          <p:cNvSpPr/>
          <p:nvPr/>
        </p:nvSpPr>
        <p:spPr>
          <a:xfrm>
            <a:off x="6172200" y="3291840"/>
            <a:ext cx="914400" cy="356616"/>
          </a:xfrm>
          <a:prstGeom prst="rect">
            <a:avLst/>
          </a:prstGeom>
          <a:solidFill>
            <a:srgbClr val="E8F4FD"/>
          </a:solidFill>
          <a:ln w="6350">
            <a:solidFill>
              <a:srgbClr val="D0E0EE"/>
            </a:solidFill>
            <a:prstDash val="solid"/>
          </a:ln>
        </p:spPr>
      </p:sp>
      <p:sp>
        <p:nvSpPr>
          <p:cNvPr id="62" name="Text 60"/>
          <p:cNvSpPr/>
          <p:nvPr/>
        </p:nvSpPr>
        <p:spPr>
          <a:xfrm>
            <a:off x="6208776" y="3291840"/>
            <a:ext cx="84124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0.8000</a:t>
            </a:r>
            <a:endParaRPr lang="en-US" sz="1100" dirty="0"/>
          </a:p>
        </p:txBody>
      </p:sp>
      <p:sp>
        <p:nvSpPr>
          <p:cNvPr id="63" name="Shape 61"/>
          <p:cNvSpPr/>
          <p:nvPr/>
        </p:nvSpPr>
        <p:spPr>
          <a:xfrm>
            <a:off x="7132320" y="3291840"/>
            <a:ext cx="1005840" cy="356616"/>
          </a:xfrm>
          <a:prstGeom prst="rect">
            <a:avLst/>
          </a:prstGeom>
          <a:solidFill>
            <a:srgbClr val="E8F4FD"/>
          </a:solidFill>
          <a:ln w="6350">
            <a:solidFill>
              <a:srgbClr val="D0E0EE"/>
            </a:solidFill>
            <a:prstDash val="solid"/>
          </a:ln>
        </p:spPr>
      </p:sp>
      <p:sp>
        <p:nvSpPr>
          <p:cNvPr id="64" name="Text 62"/>
          <p:cNvSpPr/>
          <p:nvPr/>
        </p:nvSpPr>
        <p:spPr>
          <a:xfrm>
            <a:off x="7168896" y="3291840"/>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0.5938</a:t>
            </a:r>
            <a:endParaRPr lang="en-US" sz="1100" dirty="0"/>
          </a:p>
        </p:txBody>
      </p:sp>
      <p:sp>
        <p:nvSpPr>
          <p:cNvPr id="65" name="Shape 63"/>
          <p:cNvSpPr/>
          <p:nvPr/>
        </p:nvSpPr>
        <p:spPr>
          <a:xfrm>
            <a:off x="274320" y="3666744"/>
            <a:ext cx="1463040" cy="356616"/>
          </a:xfrm>
          <a:prstGeom prst="rect">
            <a:avLst/>
          </a:prstGeom>
          <a:solidFill>
            <a:srgbClr val="FFFFFF"/>
          </a:solidFill>
          <a:ln w="6350">
            <a:solidFill>
              <a:srgbClr val="D0E0EE"/>
            </a:solidFill>
            <a:prstDash val="solid"/>
          </a:ln>
        </p:spPr>
      </p:sp>
      <p:sp>
        <p:nvSpPr>
          <p:cNvPr id="66" name="Text 64"/>
          <p:cNvSpPr/>
          <p:nvPr/>
        </p:nvSpPr>
        <p:spPr>
          <a:xfrm>
            <a:off x="310896" y="3666744"/>
            <a:ext cx="13898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XGBoost</a:t>
            </a:r>
            <a:endParaRPr lang="en-US" sz="1100" dirty="0"/>
          </a:p>
        </p:txBody>
      </p:sp>
      <p:sp>
        <p:nvSpPr>
          <p:cNvPr id="67" name="Shape 65"/>
          <p:cNvSpPr/>
          <p:nvPr/>
        </p:nvSpPr>
        <p:spPr>
          <a:xfrm>
            <a:off x="1783080" y="3666744"/>
            <a:ext cx="1280160" cy="356616"/>
          </a:xfrm>
          <a:prstGeom prst="rect">
            <a:avLst/>
          </a:prstGeom>
          <a:solidFill>
            <a:srgbClr val="FFFFFF"/>
          </a:solidFill>
          <a:ln w="6350">
            <a:solidFill>
              <a:srgbClr val="D0E0EE"/>
            </a:solidFill>
            <a:prstDash val="solid"/>
          </a:ln>
        </p:spPr>
      </p:sp>
      <p:sp>
        <p:nvSpPr>
          <p:cNvPr id="68" name="Text 66"/>
          <p:cNvSpPr/>
          <p:nvPr/>
        </p:nvSpPr>
        <p:spPr>
          <a:xfrm>
            <a:off x="1819656" y="3666744"/>
            <a:ext cx="120700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Combined</a:t>
            </a:r>
            <a:endParaRPr lang="en-US" sz="1100" dirty="0"/>
          </a:p>
        </p:txBody>
      </p:sp>
      <p:sp>
        <p:nvSpPr>
          <p:cNvPr id="69" name="Shape 67"/>
          <p:cNvSpPr/>
          <p:nvPr/>
        </p:nvSpPr>
        <p:spPr>
          <a:xfrm>
            <a:off x="3108960" y="3666744"/>
            <a:ext cx="1005840" cy="356616"/>
          </a:xfrm>
          <a:prstGeom prst="rect">
            <a:avLst/>
          </a:prstGeom>
          <a:solidFill>
            <a:srgbClr val="FFFFFF"/>
          </a:solidFill>
          <a:ln w="6350">
            <a:solidFill>
              <a:srgbClr val="D0E0EE"/>
            </a:solidFill>
            <a:prstDash val="solid"/>
          </a:ln>
        </p:spPr>
      </p:sp>
      <p:sp>
        <p:nvSpPr>
          <p:cNvPr id="70" name="Text 68"/>
          <p:cNvSpPr/>
          <p:nvPr/>
        </p:nvSpPr>
        <p:spPr>
          <a:xfrm>
            <a:off x="3145536" y="3666744"/>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0.9731</a:t>
            </a:r>
            <a:endParaRPr lang="en-US" sz="1100" dirty="0"/>
          </a:p>
        </p:txBody>
      </p:sp>
      <p:sp>
        <p:nvSpPr>
          <p:cNvPr id="71" name="Shape 69"/>
          <p:cNvSpPr/>
          <p:nvPr/>
        </p:nvSpPr>
        <p:spPr>
          <a:xfrm>
            <a:off x="4160520" y="3666744"/>
            <a:ext cx="1005840" cy="356616"/>
          </a:xfrm>
          <a:prstGeom prst="rect">
            <a:avLst/>
          </a:prstGeom>
          <a:solidFill>
            <a:srgbClr val="FFFFFF"/>
          </a:solidFill>
          <a:ln w="6350">
            <a:solidFill>
              <a:srgbClr val="D0E0EE"/>
            </a:solidFill>
            <a:prstDash val="solid"/>
          </a:ln>
        </p:spPr>
      </p:sp>
      <p:sp>
        <p:nvSpPr>
          <p:cNvPr id="72" name="Text 70"/>
          <p:cNvSpPr/>
          <p:nvPr/>
        </p:nvSpPr>
        <p:spPr>
          <a:xfrm>
            <a:off x="4197096" y="3666744"/>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0.7908</a:t>
            </a:r>
            <a:endParaRPr lang="en-US" sz="1100" dirty="0"/>
          </a:p>
        </p:txBody>
      </p:sp>
      <p:sp>
        <p:nvSpPr>
          <p:cNvPr id="73" name="Shape 71"/>
          <p:cNvSpPr/>
          <p:nvPr/>
        </p:nvSpPr>
        <p:spPr>
          <a:xfrm>
            <a:off x="5212080" y="3666744"/>
            <a:ext cx="914400" cy="356616"/>
          </a:xfrm>
          <a:prstGeom prst="rect">
            <a:avLst/>
          </a:prstGeom>
          <a:solidFill>
            <a:srgbClr val="FFFFFF"/>
          </a:solidFill>
          <a:ln w="6350">
            <a:solidFill>
              <a:srgbClr val="D0E0EE"/>
            </a:solidFill>
            <a:prstDash val="solid"/>
          </a:ln>
        </p:spPr>
      </p:sp>
      <p:sp>
        <p:nvSpPr>
          <p:cNvPr id="74" name="Text 72"/>
          <p:cNvSpPr/>
          <p:nvPr/>
        </p:nvSpPr>
        <p:spPr>
          <a:xfrm>
            <a:off x="5248656" y="3666744"/>
            <a:ext cx="84124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0.4653</a:t>
            </a:r>
            <a:endParaRPr lang="en-US" sz="1100" dirty="0"/>
          </a:p>
        </p:txBody>
      </p:sp>
      <p:sp>
        <p:nvSpPr>
          <p:cNvPr id="75" name="Shape 73"/>
          <p:cNvSpPr/>
          <p:nvPr/>
        </p:nvSpPr>
        <p:spPr>
          <a:xfrm>
            <a:off x="6172200" y="3666744"/>
            <a:ext cx="914400" cy="356616"/>
          </a:xfrm>
          <a:prstGeom prst="rect">
            <a:avLst/>
          </a:prstGeom>
          <a:solidFill>
            <a:srgbClr val="FFFFFF"/>
          </a:solidFill>
          <a:ln w="6350">
            <a:solidFill>
              <a:srgbClr val="D0E0EE"/>
            </a:solidFill>
            <a:prstDash val="solid"/>
          </a:ln>
        </p:spPr>
      </p:sp>
      <p:sp>
        <p:nvSpPr>
          <p:cNvPr id="76" name="Text 74"/>
          <p:cNvSpPr/>
          <p:nvPr/>
        </p:nvSpPr>
        <p:spPr>
          <a:xfrm>
            <a:off x="6208776" y="3666744"/>
            <a:ext cx="84124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0.8105</a:t>
            </a:r>
            <a:endParaRPr lang="en-US" sz="1100" dirty="0"/>
          </a:p>
        </p:txBody>
      </p:sp>
      <p:sp>
        <p:nvSpPr>
          <p:cNvPr id="77" name="Shape 75"/>
          <p:cNvSpPr/>
          <p:nvPr/>
        </p:nvSpPr>
        <p:spPr>
          <a:xfrm>
            <a:off x="7132320" y="3666744"/>
            <a:ext cx="1005840" cy="356616"/>
          </a:xfrm>
          <a:prstGeom prst="rect">
            <a:avLst/>
          </a:prstGeom>
          <a:solidFill>
            <a:srgbClr val="FFFFFF"/>
          </a:solidFill>
          <a:ln w="6350">
            <a:solidFill>
              <a:srgbClr val="D0E0EE"/>
            </a:solidFill>
            <a:prstDash val="solid"/>
          </a:ln>
        </p:spPr>
      </p:sp>
      <p:sp>
        <p:nvSpPr>
          <p:cNvPr id="78" name="Text 76"/>
          <p:cNvSpPr/>
          <p:nvPr/>
        </p:nvSpPr>
        <p:spPr>
          <a:xfrm>
            <a:off x="7168896" y="3666744"/>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0.3263</a:t>
            </a:r>
            <a:endParaRPr lang="en-US" sz="1100" dirty="0"/>
          </a:p>
        </p:txBody>
      </p:sp>
      <p:sp>
        <p:nvSpPr>
          <p:cNvPr id="79" name="Shape 77"/>
          <p:cNvSpPr/>
          <p:nvPr/>
        </p:nvSpPr>
        <p:spPr>
          <a:xfrm>
            <a:off x="274320" y="4041648"/>
            <a:ext cx="1463040" cy="356616"/>
          </a:xfrm>
          <a:prstGeom prst="rect">
            <a:avLst/>
          </a:prstGeom>
          <a:solidFill>
            <a:srgbClr val="E8F4FD"/>
          </a:solidFill>
          <a:ln w="6350">
            <a:solidFill>
              <a:srgbClr val="D0E0EE"/>
            </a:solidFill>
            <a:prstDash val="solid"/>
          </a:ln>
        </p:spPr>
      </p:sp>
      <p:sp>
        <p:nvSpPr>
          <p:cNvPr id="80" name="Text 78"/>
          <p:cNvSpPr/>
          <p:nvPr/>
        </p:nvSpPr>
        <p:spPr>
          <a:xfrm>
            <a:off x="310896" y="4041648"/>
            <a:ext cx="13898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XGBoost</a:t>
            </a:r>
            <a:endParaRPr lang="en-US" sz="1100" dirty="0"/>
          </a:p>
        </p:txBody>
      </p:sp>
      <p:sp>
        <p:nvSpPr>
          <p:cNvPr id="81" name="Shape 79"/>
          <p:cNvSpPr/>
          <p:nvPr/>
        </p:nvSpPr>
        <p:spPr>
          <a:xfrm>
            <a:off x="1783080" y="4041648"/>
            <a:ext cx="1280160" cy="356616"/>
          </a:xfrm>
          <a:prstGeom prst="rect">
            <a:avLst/>
          </a:prstGeom>
          <a:solidFill>
            <a:srgbClr val="E8F4FD"/>
          </a:solidFill>
          <a:ln w="6350">
            <a:solidFill>
              <a:srgbClr val="D0E0EE"/>
            </a:solidFill>
            <a:prstDash val="solid"/>
          </a:ln>
        </p:spPr>
      </p:sp>
      <p:sp>
        <p:nvSpPr>
          <p:cNvPr id="82" name="Text 80"/>
          <p:cNvSpPr/>
          <p:nvPr/>
        </p:nvSpPr>
        <p:spPr>
          <a:xfrm>
            <a:off x="1819656" y="4041648"/>
            <a:ext cx="120700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Undersample</a:t>
            </a:r>
            <a:endParaRPr lang="en-US" sz="1100" dirty="0"/>
          </a:p>
        </p:txBody>
      </p:sp>
      <p:sp>
        <p:nvSpPr>
          <p:cNvPr id="83" name="Shape 81"/>
          <p:cNvSpPr/>
          <p:nvPr/>
        </p:nvSpPr>
        <p:spPr>
          <a:xfrm>
            <a:off x="3108960" y="4041648"/>
            <a:ext cx="1005840" cy="356616"/>
          </a:xfrm>
          <a:prstGeom prst="rect">
            <a:avLst/>
          </a:prstGeom>
          <a:solidFill>
            <a:srgbClr val="E8F4FD"/>
          </a:solidFill>
          <a:ln w="6350">
            <a:solidFill>
              <a:srgbClr val="D0E0EE"/>
            </a:solidFill>
            <a:prstDash val="solid"/>
          </a:ln>
        </p:spPr>
      </p:sp>
      <p:sp>
        <p:nvSpPr>
          <p:cNvPr id="84" name="Text 82"/>
          <p:cNvSpPr/>
          <p:nvPr/>
        </p:nvSpPr>
        <p:spPr>
          <a:xfrm>
            <a:off x="3145536" y="4041648"/>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0.9741</a:t>
            </a:r>
            <a:endParaRPr lang="en-US" sz="1100" dirty="0"/>
          </a:p>
        </p:txBody>
      </p:sp>
      <p:sp>
        <p:nvSpPr>
          <p:cNvPr id="85" name="Shape 83"/>
          <p:cNvSpPr/>
          <p:nvPr/>
        </p:nvSpPr>
        <p:spPr>
          <a:xfrm>
            <a:off x="4160520" y="4041648"/>
            <a:ext cx="1005840" cy="356616"/>
          </a:xfrm>
          <a:prstGeom prst="rect">
            <a:avLst/>
          </a:prstGeom>
          <a:solidFill>
            <a:srgbClr val="E8F4FD"/>
          </a:solidFill>
          <a:ln w="6350">
            <a:solidFill>
              <a:srgbClr val="D0E0EE"/>
            </a:solidFill>
            <a:prstDash val="solid"/>
          </a:ln>
        </p:spPr>
      </p:sp>
      <p:sp>
        <p:nvSpPr>
          <p:cNvPr id="86" name="Text 84"/>
          <p:cNvSpPr/>
          <p:nvPr/>
        </p:nvSpPr>
        <p:spPr>
          <a:xfrm>
            <a:off x="4197096" y="4041648"/>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0.7196</a:t>
            </a:r>
            <a:endParaRPr lang="en-US" sz="1100" dirty="0"/>
          </a:p>
        </p:txBody>
      </p:sp>
      <p:sp>
        <p:nvSpPr>
          <p:cNvPr id="87" name="Shape 85"/>
          <p:cNvSpPr/>
          <p:nvPr/>
        </p:nvSpPr>
        <p:spPr>
          <a:xfrm>
            <a:off x="5212080" y="4041648"/>
            <a:ext cx="914400" cy="356616"/>
          </a:xfrm>
          <a:prstGeom prst="rect">
            <a:avLst/>
          </a:prstGeom>
          <a:solidFill>
            <a:srgbClr val="E8F4FD"/>
          </a:solidFill>
          <a:ln w="6350">
            <a:solidFill>
              <a:srgbClr val="D0E0EE"/>
            </a:solidFill>
            <a:prstDash val="solid"/>
          </a:ln>
        </p:spPr>
      </p:sp>
      <p:sp>
        <p:nvSpPr>
          <p:cNvPr id="88" name="Text 86"/>
          <p:cNvSpPr/>
          <p:nvPr/>
        </p:nvSpPr>
        <p:spPr>
          <a:xfrm>
            <a:off x="5248656" y="4041648"/>
            <a:ext cx="84124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0.0899</a:t>
            </a:r>
            <a:endParaRPr lang="en-US" sz="1100" dirty="0"/>
          </a:p>
        </p:txBody>
      </p:sp>
      <p:sp>
        <p:nvSpPr>
          <p:cNvPr id="89" name="Shape 87"/>
          <p:cNvSpPr/>
          <p:nvPr/>
        </p:nvSpPr>
        <p:spPr>
          <a:xfrm>
            <a:off x="6172200" y="4041648"/>
            <a:ext cx="914400" cy="356616"/>
          </a:xfrm>
          <a:prstGeom prst="rect">
            <a:avLst/>
          </a:prstGeom>
          <a:solidFill>
            <a:srgbClr val="E8F4FD"/>
          </a:solidFill>
          <a:ln w="6350">
            <a:solidFill>
              <a:srgbClr val="D0E0EE"/>
            </a:solidFill>
            <a:prstDash val="solid"/>
          </a:ln>
        </p:spPr>
      </p:sp>
      <p:sp>
        <p:nvSpPr>
          <p:cNvPr id="90" name="Text 88"/>
          <p:cNvSpPr/>
          <p:nvPr/>
        </p:nvSpPr>
        <p:spPr>
          <a:xfrm>
            <a:off x="6208776" y="4041648"/>
            <a:ext cx="84124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0.8737</a:t>
            </a:r>
            <a:endParaRPr lang="en-US" sz="1100" dirty="0"/>
          </a:p>
        </p:txBody>
      </p:sp>
      <p:sp>
        <p:nvSpPr>
          <p:cNvPr id="91" name="Shape 89"/>
          <p:cNvSpPr/>
          <p:nvPr/>
        </p:nvSpPr>
        <p:spPr>
          <a:xfrm>
            <a:off x="7132320" y="4041648"/>
            <a:ext cx="1005840" cy="356616"/>
          </a:xfrm>
          <a:prstGeom prst="rect">
            <a:avLst/>
          </a:prstGeom>
          <a:solidFill>
            <a:srgbClr val="E8F4FD"/>
          </a:solidFill>
          <a:ln w="6350">
            <a:solidFill>
              <a:srgbClr val="D0E0EE"/>
            </a:solidFill>
            <a:prstDash val="solid"/>
          </a:ln>
        </p:spPr>
      </p:sp>
      <p:sp>
        <p:nvSpPr>
          <p:cNvPr id="92" name="Text 90"/>
          <p:cNvSpPr/>
          <p:nvPr/>
        </p:nvSpPr>
        <p:spPr>
          <a:xfrm>
            <a:off x="7168896" y="4041648"/>
            <a:ext cx="932688" cy="356616"/>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0.0474</a:t>
            </a:r>
            <a:endParaRPr lang="en-US" sz="1100" dirty="0"/>
          </a:p>
        </p:txBody>
      </p:sp>
      <p:sp>
        <p:nvSpPr>
          <p:cNvPr id="93" name="Text 91"/>
          <p:cNvSpPr/>
          <p:nvPr/>
        </p:nvSpPr>
        <p:spPr>
          <a:xfrm>
            <a:off x="8183880" y="2606040"/>
            <a:ext cx="868680" cy="320040"/>
          </a:xfrm>
          <a:prstGeom prst="rect">
            <a:avLst/>
          </a:prstGeom>
          <a:noFill/>
          <a:ln/>
        </p:spPr>
        <p:txBody>
          <a:bodyPr wrap="square" lIns="0" tIns="0" rIns="0" bIns="0"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 RECOMMENDED</a:t>
            </a:r>
            <a:endParaRPr lang="en-US" sz="900" dirty="0"/>
          </a:p>
        </p:txBody>
      </p:sp>
      <p:sp>
        <p:nvSpPr>
          <p:cNvPr id="94" name="Text 92"/>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Step 4: Model Comparison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777240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Recommended Model: XGBoost | Original</a:t>
            </a:r>
            <a:endParaRPr lang="en-US" sz="2600" dirty="0"/>
          </a:p>
        </p:txBody>
      </p:sp>
      <p:sp>
        <p:nvSpPr>
          <p:cNvPr id="5" name="Text 3"/>
          <p:cNvSpPr/>
          <p:nvPr/>
        </p:nvSpPr>
        <p:spPr>
          <a:xfrm>
            <a:off x="365760" y="749808"/>
            <a:ext cx="777240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Highest F1 (0.814) + Highest Precision (94.4%) + Joint-best PR-AUC (0.806)</a:t>
            </a:r>
            <a:endParaRPr lang="en-US" sz="1300" dirty="0"/>
          </a:p>
        </p:txBody>
      </p:sp>
      <p:sp>
        <p:nvSpPr>
          <p:cNvPr id="6" name="Shape 4"/>
          <p:cNvSpPr/>
          <p:nvPr/>
        </p:nvSpPr>
        <p:spPr>
          <a:xfrm>
            <a:off x="8321040" y="91440"/>
            <a:ext cx="640080" cy="320040"/>
          </a:xfrm>
          <a:prstGeom prst="rect">
            <a:avLst/>
          </a:prstGeom>
          <a:solidFill>
            <a:srgbClr val="4A90C4"/>
          </a:solidFill>
          <a:ln/>
        </p:spPr>
      </p:sp>
      <p:sp>
        <p:nvSpPr>
          <p:cNvPr id="7" name="Shape 5"/>
          <p:cNvSpPr/>
          <p:nvPr/>
        </p:nvSpPr>
        <p:spPr>
          <a:xfrm>
            <a:off x="274320" y="1417320"/>
            <a:ext cx="1920240" cy="1005840"/>
          </a:xfrm>
          <a:prstGeom prst="rect">
            <a:avLst/>
          </a:prstGeom>
          <a:solidFill>
            <a:srgbClr val="E8F4FD"/>
          </a:solidFill>
          <a:ln w="12700">
            <a:solidFill>
              <a:srgbClr val="D0E8F5"/>
            </a:solidFill>
            <a:prstDash val="solid"/>
          </a:ln>
        </p:spPr>
      </p:sp>
      <p:sp>
        <p:nvSpPr>
          <p:cNvPr id="8" name="Text 6"/>
          <p:cNvSpPr/>
          <p:nvPr/>
        </p:nvSpPr>
        <p:spPr>
          <a:xfrm>
            <a:off x="274320" y="1490472"/>
            <a:ext cx="1920240" cy="502920"/>
          </a:xfrm>
          <a:prstGeom prst="rect">
            <a:avLst/>
          </a:prstGeom>
          <a:noFill/>
          <a:ln/>
        </p:spPr>
        <p:txBody>
          <a:bodyPr wrap="square" lIns="0" tIns="0" rIns="0" bIns="0" rtlCol="0" anchor="ctr"/>
          <a:lstStyle/>
          <a:p>
            <a:pPr marL="0" indent="0" algn="ctr">
              <a:buNone/>
            </a:pPr>
            <a:r>
              <a:rPr lang="en-US" sz="2800" b="1" dirty="0">
                <a:solidFill>
                  <a:srgbClr val="1A3A5C"/>
                </a:solidFill>
                <a:latin typeface="Calibri" pitchFamily="34" charset="0"/>
                <a:ea typeface="Calibri" pitchFamily="34" charset="-122"/>
                <a:cs typeface="Calibri" pitchFamily="34" charset="-120"/>
              </a:rPr>
              <a:t>0.966</a:t>
            </a:r>
            <a:endParaRPr lang="en-US" sz="2800" dirty="0"/>
          </a:p>
        </p:txBody>
      </p:sp>
      <p:sp>
        <p:nvSpPr>
          <p:cNvPr id="9" name="Text 7"/>
          <p:cNvSpPr/>
          <p:nvPr/>
        </p:nvSpPr>
        <p:spPr>
          <a:xfrm>
            <a:off x="274320" y="1984248"/>
            <a:ext cx="1920240" cy="32004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AUC-ROC</a:t>
            </a:r>
            <a:endParaRPr lang="en-US" sz="1100" dirty="0"/>
          </a:p>
        </p:txBody>
      </p:sp>
      <p:sp>
        <p:nvSpPr>
          <p:cNvPr id="10" name="Shape 8"/>
          <p:cNvSpPr/>
          <p:nvPr/>
        </p:nvSpPr>
        <p:spPr>
          <a:xfrm>
            <a:off x="2450592" y="1417320"/>
            <a:ext cx="1920240" cy="1005840"/>
          </a:xfrm>
          <a:prstGeom prst="rect">
            <a:avLst/>
          </a:prstGeom>
          <a:solidFill>
            <a:srgbClr val="E8F4FD"/>
          </a:solidFill>
          <a:ln w="12700">
            <a:solidFill>
              <a:srgbClr val="D0E8F5"/>
            </a:solidFill>
            <a:prstDash val="solid"/>
          </a:ln>
        </p:spPr>
      </p:sp>
      <p:sp>
        <p:nvSpPr>
          <p:cNvPr id="11" name="Text 9"/>
          <p:cNvSpPr/>
          <p:nvPr/>
        </p:nvSpPr>
        <p:spPr>
          <a:xfrm>
            <a:off x="2450592" y="1490472"/>
            <a:ext cx="1920240" cy="502920"/>
          </a:xfrm>
          <a:prstGeom prst="rect">
            <a:avLst/>
          </a:prstGeom>
          <a:noFill/>
          <a:ln/>
        </p:spPr>
        <p:txBody>
          <a:bodyPr wrap="square" lIns="0" tIns="0" rIns="0" bIns="0" rtlCol="0" anchor="ctr"/>
          <a:lstStyle/>
          <a:p>
            <a:pPr marL="0" indent="0" algn="ctr">
              <a:buNone/>
            </a:pPr>
            <a:r>
              <a:rPr lang="en-US" sz="2800" b="1" dirty="0">
                <a:solidFill>
                  <a:srgbClr val="2E6DAD"/>
                </a:solidFill>
                <a:latin typeface="Calibri" pitchFamily="34" charset="0"/>
                <a:ea typeface="Calibri" pitchFamily="34" charset="-122"/>
                <a:cs typeface="Calibri" pitchFamily="34" charset="-120"/>
              </a:rPr>
              <a:t>0.806</a:t>
            </a:r>
            <a:endParaRPr lang="en-US" sz="2800" dirty="0"/>
          </a:p>
        </p:txBody>
      </p:sp>
      <p:sp>
        <p:nvSpPr>
          <p:cNvPr id="12" name="Text 10"/>
          <p:cNvSpPr/>
          <p:nvPr/>
        </p:nvSpPr>
        <p:spPr>
          <a:xfrm>
            <a:off x="2450592" y="1984248"/>
            <a:ext cx="1920240" cy="32004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PR-AUC</a:t>
            </a:r>
            <a:endParaRPr lang="en-US" sz="1100" dirty="0"/>
          </a:p>
        </p:txBody>
      </p:sp>
      <p:sp>
        <p:nvSpPr>
          <p:cNvPr id="13" name="Shape 11"/>
          <p:cNvSpPr/>
          <p:nvPr/>
        </p:nvSpPr>
        <p:spPr>
          <a:xfrm>
            <a:off x="4626864" y="1417320"/>
            <a:ext cx="1920240" cy="1005840"/>
          </a:xfrm>
          <a:prstGeom prst="rect">
            <a:avLst/>
          </a:prstGeom>
          <a:solidFill>
            <a:srgbClr val="E8F4FD"/>
          </a:solidFill>
          <a:ln w="12700">
            <a:solidFill>
              <a:srgbClr val="D0E8F5"/>
            </a:solidFill>
            <a:prstDash val="solid"/>
          </a:ln>
        </p:spPr>
      </p:sp>
      <p:sp>
        <p:nvSpPr>
          <p:cNvPr id="14" name="Text 12"/>
          <p:cNvSpPr/>
          <p:nvPr/>
        </p:nvSpPr>
        <p:spPr>
          <a:xfrm>
            <a:off x="4626864" y="1490472"/>
            <a:ext cx="1920240" cy="502920"/>
          </a:xfrm>
          <a:prstGeom prst="rect">
            <a:avLst/>
          </a:prstGeom>
          <a:noFill/>
          <a:ln/>
        </p:spPr>
        <p:txBody>
          <a:bodyPr wrap="square" lIns="0" tIns="0" rIns="0" bIns="0" rtlCol="0" anchor="ctr"/>
          <a:lstStyle/>
          <a:p>
            <a:pPr marL="0" indent="0" algn="ctr">
              <a:buNone/>
            </a:pPr>
            <a:r>
              <a:rPr lang="en-US" sz="2800" b="1" dirty="0">
                <a:solidFill>
                  <a:srgbClr val="27AE60"/>
                </a:solidFill>
                <a:latin typeface="Calibri" pitchFamily="34" charset="0"/>
                <a:ea typeface="Calibri" pitchFamily="34" charset="-122"/>
                <a:cs typeface="Calibri" pitchFamily="34" charset="-120"/>
              </a:rPr>
              <a:t>0.814</a:t>
            </a:r>
            <a:endParaRPr lang="en-US" sz="2800" dirty="0"/>
          </a:p>
        </p:txBody>
      </p:sp>
      <p:sp>
        <p:nvSpPr>
          <p:cNvPr id="15" name="Text 13"/>
          <p:cNvSpPr/>
          <p:nvPr/>
        </p:nvSpPr>
        <p:spPr>
          <a:xfrm>
            <a:off x="4626864" y="1984248"/>
            <a:ext cx="1920240" cy="32004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F1-Score</a:t>
            </a:r>
            <a:endParaRPr lang="en-US" sz="1100" dirty="0"/>
          </a:p>
        </p:txBody>
      </p:sp>
      <p:sp>
        <p:nvSpPr>
          <p:cNvPr id="16" name="Shape 14"/>
          <p:cNvSpPr/>
          <p:nvPr/>
        </p:nvSpPr>
        <p:spPr>
          <a:xfrm>
            <a:off x="6803136" y="1417320"/>
            <a:ext cx="1920240" cy="1005840"/>
          </a:xfrm>
          <a:prstGeom prst="rect">
            <a:avLst/>
          </a:prstGeom>
          <a:solidFill>
            <a:srgbClr val="E8F4FD"/>
          </a:solidFill>
          <a:ln w="12700">
            <a:solidFill>
              <a:srgbClr val="D0E8F5"/>
            </a:solidFill>
            <a:prstDash val="solid"/>
          </a:ln>
        </p:spPr>
      </p:sp>
      <p:sp>
        <p:nvSpPr>
          <p:cNvPr id="17" name="Text 15"/>
          <p:cNvSpPr/>
          <p:nvPr/>
        </p:nvSpPr>
        <p:spPr>
          <a:xfrm>
            <a:off x="6803136" y="1490472"/>
            <a:ext cx="1920240" cy="502920"/>
          </a:xfrm>
          <a:prstGeom prst="rect">
            <a:avLst/>
          </a:prstGeom>
          <a:noFill/>
          <a:ln/>
        </p:spPr>
        <p:txBody>
          <a:bodyPr wrap="square" lIns="0" tIns="0" rIns="0" bIns="0" rtlCol="0" anchor="ctr"/>
          <a:lstStyle/>
          <a:p>
            <a:pPr marL="0" indent="0" algn="ctr">
              <a:buNone/>
            </a:pPr>
            <a:r>
              <a:rPr lang="en-US" sz="2800" b="1" dirty="0">
                <a:solidFill>
                  <a:srgbClr val="E67E22"/>
                </a:solidFill>
                <a:latin typeface="Calibri" pitchFamily="34" charset="0"/>
                <a:ea typeface="Calibri" pitchFamily="34" charset="-122"/>
                <a:cs typeface="Calibri" pitchFamily="34" charset="-120"/>
              </a:rPr>
              <a:t>94.4%</a:t>
            </a:r>
            <a:endParaRPr lang="en-US" sz="2800" dirty="0"/>
          </a:p>
        </p:txBody>
      </p:sp>
      <p:sp>
        <p:nvSpPr>
          <p:cNvPr id="18" name="Text 16"/>
          <p:cNvSpPr/>
          <p:nvPr/>
        </p:nvSpPr>
        <p:spPr>
          <a:xfrm>
            <a:off x="6803136" y="1984248"/>
            <a:ext cx="1920240" cy="32004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Precision</a:t>
            </a:r>
            <a:endParaRPr lang="en-US" sz="1100" dirty="0"/>
          </a:p>
        </p:txBody>
      </p:sp>
      <p:sp>
        <p:nvSpPr>
          <p:cNvPr id="19" name="Shape 17"/>
          <p:cNvSpPr/>
          <p:nvPr/>
        </p:nvSpPr>
        <p:spPr>
          <a:xfrm>
            <a:off x="274320" y="2606040"/>
            <a:ext cx="3931920" cy="2103120"/>
          </a:xfrm>
          <a:prstGeom prst="rect">
            <a:avLst/>
          </a:prstGeom>
          <a:solidFill>
            <a:srgbClr val="E8F4FD"/>
          </a:solidFill>
          <a:ln w="12700">
            <a:solidFill>
              <a:srgbClr val="D0E8F5"/>
            </a:solidFill>
            <a:prstDash val="solid"/>
          </a:ln>
        </p:spPr>
      </p:sp>
      <p:sp>
        <p:nvSpPr>
          <p:cNvPr id="20" name="Text 18"/>
          <p:cNvSpPr/>
          <p:nvPr/>
        </p:nvSpPr>
        <p:spPr>
          <a:xfrm>
            <a:off x="457200" y="2697480"/>
            <a:ext cx="3566160" cy="32004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Confusion Matrix (Test Set)</a:t>
            </a:r>
            <a:endParaRPr lang="en-US" sz="1200" dirty="0"/>
          </a:p>
        </p:txBody>
      </p:sp>
      <p:sp>
        <p:nvSpPr>
          <p:cNvPr id="21" name="Shape 19"/>
          <p:cNvSpPr/>
          <p:nvPr/>
        </p:nvSpPr>
        <p:spPr>
          <a:xfrm>
            <a:off x="320040" y="3063240"/>
            <a:ext cx="1188720" cy="457200"/>
          </a:xfrm>
          <a:prstGeom prst="rect">
            <a:avLst/>
          </a:prstGeom>
          <a:solidFill>
            <a:srgbClr val="1A3A5C"/>
          </a:solidFill>
          <a:ln w="6350">
            <a:solidFill>
              <a:srgbClr val="CCCCCC"/>
            </a:solidFill>
            <a:prstDash val="solid"/>
          </a:ln>
        </p:spPr>
      </p:sp>
      <p:sp>
        <p:nvSpPr>
          <p:cNvPr id="22" name="Text 20"/>
          <p:cNvSpPr/>
          <p:nvPr/>
        </p:nvSpPr>
        <p:spPr>
          <a:xfrm>
            <a:off x="320040" y="3063240"/>
            <a:ext cx="1188720" cy="457200"/>
          </a:xfrm>
          <a:prstGeom prst="rect">
            <a:avLst/>
          </a:prstGeom>
          <a:noFill/>
          <a:ln/>
        </p:spPr>
        <p:txBody>
          <a:bodyPr wrap="square" lIns="0" tIns="0" rIns="0" bIns="0" rtlCol="0" anchor="ctr"/>
          <a:lstStyle/>
          <a:p>
            <a:pPr marL="0" indent="0" algn="ctr">
              <a:buNone/>
            </a:pPr>
            <a:endParaRPr lang="en-US" sz="900" dirty="0"/>
          </a:p>
        </p:txBody>
      </p:sp>
      <p:sp>
        <p:nvSpPr>
          <p:cNvPr id="23" name="Shape 21"/>
          <p:cNvSpPr/>
          <p:nvPr/>
        </p:nvSpPr>
        <p:spPr>
          <a:xfrm>
            <a:off x="1554480" y="3063240"/>
            <a:ext cx="1188720" cy="457200"/>
          </a:xfrm>
          <a:prstGeom prst="rect">
            <a:avLst/>
          </a:prstGeom>
          <a:solidFill>
            <a:srgbClr val="1A3A5C"/>
          </a:solidFill>
          <a:ln w="6350">
            <a:solidFill>
              <a:srgbClr val="CCCCCC"/>
            </a:solidFill>
            <a:prstDash val="solid"/>
          </a:ln>
        </p:spPr>
      </p:sp>
      <p:sp>
        <p:nvSpPr>
          <p:cNvPr id="24" name="Text 22"/>
          <p:cNvSpPr/>
          <p:nvPr/>
        </p:nvSpPr>
        <p:spPr>
          <a:xfrm>
            <a:off x="1554480" y="3063240"/>
            <a:ext cx="118872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Predicted Legit</a:t>
            </a:r>
            <a:endParaRPr lang="en-US" sz="900" dirty="0"/>
          </a:p>
        </p:txBody>
      </p:sp>
      <p:sp>
        <p:nvSpPr>
          <p:cNvPr id="25" name="Shape 23"/>
          <p:cNvSpPr/>
          <p:nvPr/>
        </p:nvSpPr>
        <p:spPr>
          <a:xfrm>
            <a:off x="2788920" y="3063240"/>
            <a:ext cx="1188720" cy="457200"/>
          </a:xfrm>
          <a:prstGeom prst="rect">
            <a:avLst/>
          </a:prstGeom>
          <a:solidFill>
            <a:srgbClr val="1A3A5C"/>
          </a:solidFill>
          <a:ln w="6350">
            <a:solidFill>
              <a:srgbClr val="CCCCCC"/>
            </a:solidFill>
            <a:prstDash val="solid"/>
          </a:ln>
        </p:spPr>
      </p:sp>
      <p:sp>
        <p:nvSpPr>
          <p:cNvPr id="26" name="Text 24"/>
          <p:cNvSpPr/>
          <p:nvPr/>
        </p:nvSpPr>
        <p:spPr>
          <a:xfrm>
            <a:off x="2788920" y="3063240"/>
            <a:ext cx="118872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Predicted Fraud</a:t>
            </a:r>
            <a:endParaRPr lang="en-US" sz="900" dirty="0"/>
          </a:p>
        </p:txBody>
      </p:sp>
      <p:sp>
        <p:nvSpPr>
          <p:cNvPr id="27" name="Shape 25"/>
          <p:cNvSpPr/>
          <p:nvPr/>
        </p:nvSpPr>
        <p:spPr>
          <a:xfrm>
            <a:off x="320040" y="3538728"/>
            <a:ext cx="1188720" cy="457200"/>
          </a:xfrm>
          <a:prstGeom prst="rect">
            <a:avLst/>
          </a:prstGeom>
          <a:solidFill>
            <a:srgbClr val="1A3A5C"/>
          </a:solidFill>
          <a:ln w="6350">
            <a:solidFill>
              <a:srgbClr val="CCCCCC"/>
            </a:solidFill>
            <a:prstDash val="solid"/>
          </a:ln>
        </p:spPr>
      </p:sp>
      <p:sp>
        <p:nvSpPr>
          <p:cNvPr id="28" name="Text 26"/>
          <p:cNvSpPr/>
          <p:nvPr/>
        </p:nvSpPr>
        <p:spPr>
          <a:xfrm>
            <a:off x="320040" y="3538728"/>
            <a:ext cx="118872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Actual Legit</a:t>
            </a:r>
            <a:endParaRPr lang="en-US" sz="900" dirty="0"/>
          </a:p>
        </p:txBody>
      </p:sp>
      <p:sp>
        <p:nvSpPr>
          <p:cNvPr id="29" name="Shape 27"/>
          <p:cNvSpPr/>
          <p:nvPr/>
        </p:nvSpPr>
        <p:spPr>
          <a:xfrm>
            <a:off x="1554480" y="3538728"/>
            <a:ext cx="1188720" cy="457200"/>
          </a:xfrm>
          <a:prstGeom prst="rect">
            <a:avLst/>
          </a:prstGeom>
          <a:solidFill>
            <a:srgbClr val="E8F5E9"/>
          </a:solidFill>
          <a:ln w="6350">
            <a:solidFill>
              <a:srgbClr val="CCCCCC"/>
            </a:solidFill>
            <a:prstDash val="solid"/>
          </a:ln>
        </p:spPr>
      </p:sp>
      <p:sp>
        <p:nvSpPr>
          <p:cNvPr id="30" name="Text 28"/>
          <p:cNvSpPr/>
          <p:nvPr/>
        </p:nvSpPr>
        <p:spPr>
          <a:xfrm>
            <a:off x="1554480" y="3538728"/>
            <a:ext cx="1188720" cy="457200"/>
          </a:xfrm>
          <a:prstGeom prst="rect">
            <a:avLst/>
          </a:prstGeom>
          <a:noFill/>
          <a:ln/>
        </p:spPr>
        <p:txBody>
          <a:bodyPr wrap="square" lIns="0" tIns="0" rIns="0" bIns="0" rtlCol="0" anchor="ctr"/>
          <a:lstStyle/>
          <a:p>
            <a:pPr marL="0" indent="0" algn="ctr">
              <a:buNone/>
            </a:pPr>
            <a:r>
              <a:rPr lang="en-US" sz="1100" b="1" dirty="0">
                <a:solidFill>
                  <a:srgbClr val="111111"/>
                </a:solidFill>
                <a:latin typeface="Calibri" pitchFamily="34" charset="0"/>
                <a:ea typeface="Calibri" pitchFamily="34" charset="-122"/>
                <a:cs typeface="Calibri" pitchFamily="34" charset="-120"/>
              </a:rPr>
              <a:t>54,629 (TN)</a:t>
            </a:r>
            <a:endParaRPr lang="en-US" sz="1100" dirty="0"/>
          </a:p>
        </p:txBody>
      </p:sp>
      <p:sp>
        <p:nvSpPr>
          <p:cNvPr id="31" name="Shape 29"/>
          <p:cNvSpPr/>
          <p:nvPr/>
        </p:nvSpPr>
        <p:spPr>
          <a:xfrm>
            <a:off x="2788920" y="3538728"/>
            <a:ext cx="1188720" cy="457200"/>
          </a:xfrm>
          <a:prstGeom prst="rect">
            <a:avLst/>
          </a:prstGeom>
          <a:solidFill>
            <a:srgbClr val="FFF3E0"/>
          </a:solidFill>
          <a:ln w="6350">
            <a:solidFill>
              <a:srgbClr val="CCCCCC"/>
            </a:solidFill>
            <a:prstDash val="solid"/>
          </a:ln>
        </p:spPr>
      </p:sp>
      <p:sp>
        <p:nvSpPr>
          <p:cNvPr id="32" name="Text 30"/>
          <p:cNvSpPr/>
          <p:nvPr/>
        </p:nvSpPr>
        <p:spPr>
          <a:xfrm>
            <a:off x="2788920" y="3538728"/>
            <a:ext cx="1188720" cy="457200"/>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22 (FP)</a:t>
            </a:r>
            <a:endParaRPr lang="en-US" sz="1100" dirty="0"/>
          </a:p>
        </p:txBody>
      </p:sp>
      <p:sp>
        <p:nvSpPr>
          <p:cNvPr id="33" name="Shape 31"/>
          <p:cNvSpPr/>
          <p:nvPr/>
        </p:nvSpPr>
        <p:spPr>
          <a:xfrm>
            <a:off x="320040" y="4014216"/>
            <a:ext cx="1188720" cy="457200"/>
          </a:xfrm>
          <a:prstGeom prst="rect">
            <a:avLst/>
          </a:prstGeom>
          <a:solidFill>
            <a:srgbClr val="1A3A5C"/>
          </a:solidFill>
          <a:ln w="6350">
            <a:solidFill>
              <a:srgbClr val="CCCCCC"/>
            </a:solidFill>
            <a:prstDash val="solid"/>
          </a:ln>
        </p:spPr>
      </p:sp>
      <p:sp>
        <p:nvSpPr>
          <p:cNvPr id="34" name="Text 32"/>
          <p:cNvSpPr/>
          <p:nvPr/>
        </p:nvSpPr>
        <p:spPr>
          <a:xfrm>
            <a:off x="320040" y="4014216"/>
            <a:ext cx="118872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Actual Fraud</a:t>
            </a:r>
            <a:endParaRPr lang="en-US" sz="900" dirty="0"/>
          </a:p>
        </p:txBody>
      </p:sp>
      <p:sp>
        <p:nvSpPr>
          <p:cNvPr id="35" name="Shape 33"/>
          <p:cNvSpPr/>
          <p:nvPr/>
        </p:nvSpPr>
        <p:spPr>
          <a:xfrm>
            <a:off x="1554480" y="4014216"/>
            <a:ext cx="1188720" cy="457200"/>
          </a:xfrm>
          <a:prstGeom prst="rect">
            <a:avLst/>
          </a:prstGeom>
          <a:solidFill>
            <a:srgbClr val="FFEBEE"/>
          </a:solidFill>
          <a:ln w="6350">
            <a:solidFill>
              <a:srgbClr val="CCCCCC"/>
            </a:solidFill>
            <a:prstDash val="solid"/>
          </a:ln>
        </p:spPr>
      </p:sp>
      <p:sp>
        <p:nvSpPr>
          <p:cNvPr id="36" name="Text 34"/>
          <p:cNvSpPr/>
          <p:nvPr/>
        </p:nvSpPr>
        <p:spPr>
          <a:xfrm>
            <a:off x="1554480" y="4014216"/>
            <a:ext cx="1188720" cy="457200"/>
          </a:xfrm>
          <a:prstGeom prst="rect">
            <a:avLst/>
          </a:prstGeom>
          <a:noFill/>
          <a:ln/>
        </p:spPr>
        <p:txBody>
          <a:bodyPr wrap="square" lIns="0" tIns="0" rIns="0" bIns="0"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27 (FN)</a:t>
            </a:r>
            <a:endParaRPr lang="en-US" sz="1100" dirty="0"/>
          </a:p>
        </p:txBody>
      </p:sp>
      <p:sp>
        <p:nvSpPr>
          <p:cNvPr id="37" name="Shape 35"/>
          <p:cNvSpPr/>
          <p:nvPr/>
        </p:nvSpPr>
        <p:spPr>
          <a:xfrm>
            <a:off x="2788920" y="4014216"/>
            <a:ext cx="1188720" cy="457200"/>
          </a:xfrm>
          <a:prstGeom prst="rect">
            <a:avLst/>
          </a:prstGeom>
          <a:solidFill>
            <a:srgbClr val="E3F2FD"/>
          </a:solidFill>
          <a:ln w="6350">
            <a:solidFill>
              <a:srgbClr val="CCCCCC"/>
            </a:solidFill>
            <a:prstDash val="solid"/>
          </a:ln>
        </p:spPr>
      </p:sp>
      <p:sp>
        <p:nvSpPr>
          <p:cNvPr id="38" name="Text 36"/>
          <p:cNvSpPr/>
          <p:nvPr/>
        </p:nvSpPr>
        <p:spPr>
          <a:xfrm>
            <a:off x="2788920" y="4014216"/>
            <a:ext cx="1188720" cy="457200"/>
          </a:xfrm>
          <a:prstGeom prst="rect">
            <a:avLst/>
          </a:prstGeom>
          <a:noFill/>
          <a:ln/>
        </p:spPr>
        <p:txBody>
          <a:bodyPr wrap="square" lIns="0" tIns="0" rIns="0" bIns="0" rtlCol="0" anchor="ctr"/>
          <a:lstStyle/>
          <a:p>
            <a:pPr marL="0" indent="0" algn="ctr">
              <a:buNone/>
            </a:pPr>
            <a:r>
              <a:rPr lang="en-US" sz="1100" b="1" dirty="0">
                <a:solidFill>
                  <a:srgbClr val="111111"/>
                </a:solidFill>
                <a:latin typeface="Calibri" pitchFamily="34" charset="0"/>
                <a:ea typeface="Calibri" pitchFamily="34" charset="-122"/>
                <a:cs typeface="Calibri" pitchFamily="34" charset="-120"/>
              </a:rPr>
              <a:t>68 (TP)</a:t>
            </a:r>
            <a:endParaRPr lang="en-US" sz="1100" dirty="0"/>
          </a:p>
        </p:txBody>
      </p:sp>
      <p:sp>
        <p:nvSpPr>
          <p:cNvPr id="39" name="Shape 37"/>
          <p:cNvSpPr/>
          <p:nvPr/>
        </p:nvSpPr>
        <p:spPr>
          <a:xfrm>
            <a:off x="4389120" y="2606040"/>
            <a:ext cx="4480560" cy="2103120"/>
          </a:xfrm>
          <a:prstGeom prst="rect">
            <a:avLst/>
          </a:prstGeom>
          <a:solidFill>
            <a:srgbClr val="F0FFF4"/>
          </a:solidFill>
          <a:ln w="12700">
            <a:solidFill>
              <a:srgbClr val="D0E8F5"/>
            </a:solidFill>
            <a:prstDash val="solid"/>
          </a:ln>
        </p:spPr>
      </p:sp>
      <p:sp>
        <p:nvSpPr>
          <p:cNvPr id="40" name="Text 38"/>
          <p:cNvSpPr/>
          <p:nvPr/>
        </p:nvSpPr>
        <p:spPr>
          <a:xfrm>
            <a:off x="4572000" y="2697480"/>
            <a:ext cx="4114800" cy="32004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Why XGBoost | Original?</a:t>
            </a:r>
            <a:endParaRPr lang="en-US" sz="1200" dirty="0"/>
          </a:p>
        </p:txBody>
      </p:sp>
      <p:sp>
        <p:nvSpPr>
          <p:cNvPr id="41" name="Text 39"/>
          <p:cNvSpPr/>
          <p:nvPr/>
        </p:nvSpPr>
        <p:spPr>
          <a:xfrm>
            <a:off x="4572000" y="3063240"/>
            <a:ext cx="4114800" cy="246888"/>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 Highest F1 (0.814) of all 15 model variants</a:t>
            </a:r>
            <a:endParaRPr lang="en-US" sz="1100" dirty="0"/>
          </a:p>
        </p:txBody>
      </p:sp>
      <p:sp>
        <p:nvSpPr>
          <p:cNvPr id="42" name="Text 40"/>
          <p:cNvSpPr/>
          <p:nvPr/>
        </p:nvSpPr>
        <p:spPr>
          <a:xfrm>
            <a:off x="4572000" y="3319272"/>
            <a:ext cx="4114800" cy="246888"/>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Only ~22 false positives out of 56,746 tests</a:t>
            </a:r>
            <a:endParaRPr lang="en-US" sz="1100" dirty="0"/>
          </a:p>
        </p:txBody>
      </p:sp>
      <p:sp>
        <p:nvSpPr>
          <p:cNvPr id="43" name="Text 41"/>
          <p:cNvSpPr/>
          <p:nvPr/>
        </p:nvSpPr>
        <p:spPr>
          <a:xfrm>
            <a:off x="4572000" y="3575304"/>
            <a:ext cx="4114800" cy="246888"/>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No resampling needed — model learns fraud</a:t>
            </a:r>
            <a:endParaRPr lang="en-US" sz="1100" dirty="0"/>
          </a:p>
        </p:txBody>
      </p:sp>
      <p:sp>
        <p:nvSpPr>
          <p:cNvPr id="44" name="Text 42"/>
          <p:cNvSpPr/>
          <p:nvPr/>
        </p:nvSpPr>
        <p:spPr>
          <a:xfrm>
            <a:off x="4572000" y="3831336"/>
            <a:ext cx="4114800" cy="246888"/>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signal from original distribution</a:t>
            </a:r>
            <a:endParaRPr lang="en-US" sz="1100" dirty="0"/>
          </a:p>
        </p:txBody>
      </p:sp>
      <p:sp>
        <p:nvSpPr>
          <p:cNvPr id="45" name="Text 43"/>
          <p:cNvSpPr/>
          <p:nvPr/>
        </p:nvSpPr>
        <p:spPr>
          <a:xfrm>
            <a:off x="4572000" y="4087368"/>
            <a:ext cx="4114800" cy="246888"/>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Well-tuned XGBoost outperforms resampled</a:t>
            </a:r>
            <a:endParaRPr lang="en-US" sz="1100" dirty="0"/>
          </a:p>
        </p:txBody>
      </p:sp>
      <p:sp>
        <p:nvSpPr>
          <p:cNvPr id="46" name="Text 44"/>
          <p:cNvSpPr/>
          <p:nvPr/>
        </p:nvSpPr>
        <p:spPr>
          <a:xfrm>
            <a:off x="4572000" y="4343400"/>
            <a:ext cx="4114800" cy="246888"/>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alternatives on F1 and precision</a:t>
            </a:r>
            <a:endParaRPr lang="en-US" sz="1100" dirty="0"/>
          </a:p>
        </p:txBody>
      </p:sp>
      <p:sp>
        <p:nvSpPr>
          <p:cNvPr id="47" name="Text 45"/>
          <p:cNvSpPr/>
          <p:nvPr/>
        </p:nvSpPr>
        <p:spPr>
          <a:xfrm>
            <a:off x="4572000" y="4599432"/>
            <a:ext cx="4114800" cy="246888"/>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PR-AUC 0.806 — best metric for imbalanced data</a:t>
            </a:r>
            <a:endParaRPr lang="en-US" sz="1100" dirty="0"/>
          </a:p>
        </p:txBody>
      </p:sp>
      <p:sp>
        <p:nvSpPr>
          <p:cNvPr id="48" name="Text 46"/>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Step 4: Recommended Model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777240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Ethical AI &amp; Bias Auditing</a:t>
            </a:r>
            <a:endParaRPr lang="en-US" sz="2600" dirty="0"/>
          </a:p>
        </p:txBody>
      </p:sp>
      <p:sp>
        <p:nvSpPr>
          <p:cNvPr id="5" name="Text 3"/>
          <p:cNvSpPr/>
          <p:nvPr/>
        </p:nvSpPr>
        <p:spPr>
          <a:xfrm>
            <a:off x="365760" y="749808"/>
            <a:ext cx="777240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Step 5 — Fairness across transaction amount and time-of-day segments</a:t>
            </a:r>
            <a:endParaRPr lang="en-US" sz="1300" dirty="0"/>
          </a:p>
        </p:txBody>
      </p:sp>
      <p:sp>
        <p:nvSpPr>
          <p:cNvPr id="6" name="Shape 4"/>
          <p:cNvSpPr/>
          <p:nvPr/>
        </p:nvSpPr>
        <p:spPr>
          <a:xfrm>
            <a:off x="8321040" y="91440"/>
            <a:ext cx="640080" cy="320040"/>
          </a:xfrm>
          <a:prstGeom prst="rect">
            <a:avLst/>
          </a:prstGeom>
          <a:solidFill>
            <a:srgbClr val="4A90C4"/>
          </a:solidFill>
          <a:ln/>
        </p:spPr>
      </p:sp>
      <p:sp>
        <p:nvSpPr>
          <p:cNvPr id="7" name="Shape 5"/>
          <p:cNvSpPr/>
          <p:nvPr/>
        </p:nvSpPr>
        <p:spPr>
          <a:xfrm>
            <a:off x="274320" y="1417320"/>
            <a:ext cx="4023360" cy="1920240"/>
          </a:xfrm>
          <a:prstGeom prst="rect">
            <a:avLst/>
          </a:prstGeom>
          <a:solidFill>
            <a:srgbClr val="E8F4FD"/>
          </a:solidFill>
          <a:ln w="12700">
            <a:solidFill>
              <a:srgbClr val="D0E8F5"/>
            </a:solidFill>
            <a:prstDash val="solid"/>
          </a:ln>
        </p:spPr>
      </p:sp>
      <p:sp>
        <p:nvSpPr>
          <p:cNvPr id="8" name="Text 6"/>
          <p:cNvSpPr/>
          <p:nvPr/>
        </p:nvSpPr>
        <p:spPr>
          <a:xfrm>
            <a:off x="457200" y="1508760"/>
            <a:ext cx="3657600" cy="32004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Key Limitations Documented</a:t>
            </a:r>
            <a:endParaRPr lang="en-US" sz="1200" dirty="0"/>
          </a:p>
        </p:txBody>
      </p:sp>
      <p:sp>
        <p:nvSpPr>
          <p:cNvPr id="9" name="Text 7"/>
          <p:cNvSpPr/>
          <p:nvPr/>
        </p:nvSpPr>
        <p:spPr>
          <a:xfrm>
            <a:off x="457200" y="1874520"/>
            <a:ext cx="320040" cy="219456"/>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L1:</a:t>
            </a:r>
            <a:endParaRPr lang="en-US" sz="1000" dirty="0"/>
          </a:p>
        </p:txBody>
      </p:sp>
      <p:sp>
        <p:nvSpPr>
          <p:cNvPr id="10" name="Text 8"/>
          <p:cNvSpPr/>
          <p:nvPr/>
        </p:nvSpPr>
        <p:spPr>
          <a:xfrm>
            <a:off x="777240" y="1874520"/>
            <a:ext cx="3383280" cy="219456"/>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Class imbalance → low precision despite resampling</a:t>
            </a:r>
            <a:endParaRPr lang="en-US" sz="1000" dirty="0"/>
          </a:p>
        </p:txBody>
      </p:sp>
      <p:sp>
        <p:nvSpPr>
          <p:cNvPr id="11" name="Text 9"/>
          <p:cNvSpPr/>
          <p:nvPr/>
        </p:nvSpPr>
        <p:spPr>
          <a:xfrm>
            <a:off x="457200" y="2112264"/>
            <a:ext cx="320040" cy="219456"/>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L2:</a:t>
            </a:r>
            <a:endParaRPr lang="en-US" sz="1000" dirty="0"/>
          </a:p>
        </p:txBody>
      </p:sp>
      <p:sp>
        <p:nvSpPr>
          <p:cNvPr id="12" name="Text 10"/>
          <p:cNvSpPr/>
          <p:nvPr/>
        </p:nvSpPr>
        <p:spPr>
          <a:xfrm>
            <a:off x="777240" y="2112264"/>
            <a:ext cx="3383280" cy="219456"/>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Random split → temporal leakage risk (no time-based split)</a:t>
            </a:r>
            <a:endParaRPr lang="en-US" sz="1000" dirty="0"/>
          </a:p>
        </p:txBody>
      </p:sp>
      <p:sp>
        <p:nvSpPr>
          <p:cNvPr id="13" name="Text 11"/>
          <p:cNvSpPr/>
          <p:nvPr/>
        </p:nvSpPr>
        <p:spPr>
          <a:xfrm>
            <a:off x="457200" y="2350008"/>
            <a:ext cx="320040" cy="219456"/>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L3:</a:t>
            </a:r>
            <a:endParaRPr lang="en-US" sz="1000" dirty="0"/>
          </a:p>
        </p:txBody>
      </p:sp>
      <p:sp>
        <p:nvSpPr>
          <p:cNvPr id="14" name="Text 12"/>
          <p:cNvSpPr/>
          <p:nvPr/>
        </p:nvSpPr>
        <p:spPr>
          <a:xfrm>
            <a:off x="777240" y="2350008"/>
            <a:ext cx="3383280" cy="219456"/>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PCA opacity → cannot verify original feature composition</a:t>
            </a:r>
            <a:endParaRPr lang="en-US" sz="1000" dirty="0"/>
          </a:p>
        </p:txBody>
      </p:sp>
      <p:sp>
        <p:nvSpPr>
          <p:cNvPr id="15" name="Text 13"/>
          <p:cNvSpPr/>
          <p:nvPr/>
        </p:nvSpPr>
        <p:spPr>
          <a:xfrm>
            <a:off x="457200" y="2587752"/>
            <a:ext cx="320040" cy="219456"/>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L4:</a:t>
            </a:r>
            <a:endParaRPr lang="en-US" sz="1000" dirty="0"/>
          </a:p>
        </p:txBody>
      </p:sp>
      <p:sp>
        <p:nvSpPr>
          <p:cNvPr id="16" name="Text 14"/>
          <p:cNvSpPr/>
          <p:nvPr/>
        </p:nvSpPr>
        <p:spPr>
          <a:xfrm>
            <a:off x="777240" y="2587752"/>
            <a:ext cx="3383280" cy="219456"/>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SMOTE amplification → overfitting risk on synthetic data</a:t>
            </a:r>
            <a:endParaRPr lang="en-US" sz="1000" dirty="0"/>
          </a:p>
        </p:txBody>
      </p:sp>
      <p:sp>
        <p:nvSpPr>
          <p:cNvPr id="17" name="Text 15"/>
          <p:cNvSpPr/>
          <p:nvPr/>
        </p:nvSpPr>
        <p:spPr>
          <a:xfrm>
            <a:off x="457200" y="2825496"/>
            <a:ext cx="320040" cy="219456"/>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L5:</a:t>
            </a:r>
            <a:endParaRPr lang="en-US" sz="1000" dirty="0"/>
          </a:p>
        </p:txBody>
      </p:sp>
      <p:sp>
        <p:nvSpPr>
          <p:cNvPr id="18" name="Text 16"/>
          <p:cNvSpPr/>
          <p:nvPr/>
        </p:nvSpPr>
        <p:spPr>
          <a:xfrm>
            <a:off x="777240" y="2825496"/>
            <a:ext cx="3383280" cy="219456"/>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Default 0.5 threshold → not optimised for business cost ratio</a:t>
            </a:r>
            <a:endParaRPr lang="en-US" sz="1000" dirty="0"/>
          </a:p>
        </p:txBody>
      </p:sp>
      <p:sp>
        <p:nvSpPr>
          <p:cNvPr id="19" name="Text 17"/>
          <p:cNvSpPr/>
          <p:nvPr/>
        </p:nvSpPr>
        <p:spPr>
          <a:xfrm>
            <a:off x="457200" y="3063240"/>
            <a:ext cx="320040" cy="219456"/>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L6:</a:t>
            </a:r>
            <a:endParaRPr lang="en-US" sz="1000" dirty="0"/>
          </a:p>
        </p:txBody>
      </p:sp>
      <p:sp>
        <p:nvSpPr>
          <p:cNvPr id="20" name="Text 18"/>
          <p:cNvSpPr/>
          <p:nvPr/>
        </p:nvSpPr>
        <p:spPr>
          <a:xfrm>
            <a:off x="777240" y="3063240"/>
            <a:ext cx="3383280" cy="219456"/>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2013 European data → limited direct PH applicability</a:t>
            </a:r>
            <a:endParaRPr lang="en-US" sz="1000" dirty="0"/>
          </a:p>
        </p:txBody>
      </p:sp>
      <p:sp>
        <p:nvSpPr>
          <p:cNvPr id="21" name="Shape 19"/>
          <p:cNvSpPr/>
          <p:nvPr/>
        </p:nvSpPr>
        <p:spPr>
          <a:xfrm>
            <a:off x="4526280" y="1417320"/>
            <a:ext cx="4343400" cy="1920240"/>
          </a:xfrm>
          <a:prstGeom prst="rect">
            <a:avLst/>
          </a:prstGeom>
          <a:solidFill>
            <a:srgbClr val="F0FFF4"/>
          </a:solidFill>
          <a:ln w="12700">
            <a:solidFill>
              <a:srgbClr val="D0E8F5"/>
            </a:solidFill>
            <a:prstDash val="solid"/>
          </a:ln>
        </p:spPr>
      </p:sp>
      <p:sp>
        <p:nvSpPr>
          <p:cNvPr id="22" name="Text 20"/>
          <p:cNvSpPr/>
          <p:nvPr/>
        </p:nvSpPr>
        <p:spPr>
          <a:xfrm>
            <a:off x="4709160" y="1508760"/>
            <a:ext cx="3977640" cy="32004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Fairness Metrics (Amount Segments)</a:t>
            </a:r>
            <a:endParaRPr lang="en-US" sz="1200" dirty="0"/>
          </a:p>
        </p:txBody>
      </p:sp>
      <p:sp>
        <p:nvSpPr>
          <p:cNvPr id="23" name="Text 21"/>
          <p:cNvSpPr/>
          <p:nvPr/>
        </p:nvSpPr>
        <p:spPr>
          <a:xfrm>
            <a:off x="4709160" y="1828800"/>
            <a:ext cx="3977640"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Segments: Low / Mid / High Amount (by Q25, Q75 thresholds)</a:t>
            </a:r>
            <a:endParaRPr lang="en-US" sz="1000" dirty="0"/>
          </a:p>
        </p:txBody>
      </p:sp>
      <p:sp>
        <p:nvSpPr>
          <p:cNvPr id="24" name="Text 22"/>
          <p:cNvSpPr/>
          <p:nvPr/>
        </p:nvSpPr>
        <p:spPr>
          <a:xfrm>
            <a:off x="4709160" y="2148840"/>
            <a:ext cx="1828800" cy="34747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Demographic Parity:</a:t>
            </a:r>
            <a:endParaRPr lang="en-US" sz="1100" dirty="0"/>
          </a:p>
        </p:txBody>
      </p:sp>
      <p:sp>
        <p:nvSpPr>
          <p:cNvPr id="25" name="Text 23"/>
          <p:cNvSpPr/>
          <p:nvPr/>
        </p:nvSpPr>
        <p:spPr>
          <a:xfrm>
            <a:off x="6537960" y="2148840"/>
            <a:ext cx="2148840" cy="34747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Flag rate compared across segments</a:t>
            </a:r>
            <a:endParaRPr lang="en-US" sz="1100" dirty="0"/>
          </a:p>
        </p:txBody>
      </p:sp>
      <p:sp>
        <p:nvSpPr>
          <p:cNvPr id="26" name="Text 24"/>
          <p:cNvSpPr/>
          <p:nvPr/>
        </p:nvSpPr>
        <p:spPr>
          <a:xfrm>
            <a:off x="4709160" y="2532888"/>
            <a:ext cx="1828800" cy="34747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Equalised Odds:</a:t>
            </a:r>
            <a:endParaRPr lang="en-US" sz="1100" dirty="0"/>
          </a:p>
        </p:txBody>
      </p:sp>
      <p:sp>
        <p:nvSpPr>
          <p:cNvPr id="27" name="Text 25"/>
          <p:cNvSpPr/>
          <p:nvPr/>
        </p:nvSpPr>
        <p:spPr>
          <a:xfrm>
            <a:off x="6537960" y="2532888"/>
            <a:ext cx="2148840" cy="34747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Recall gap ≤ 0.10 threshold</a:t>
            </a:r>
            <a:endParaRPr lang="en-US" sz="1100" dirty="0"/>
          </a:p>
        </p:txBody>
      </p:sp>
      <p:sp>
        <p:nvSpPr>
          <p:cNvPr id="28" name="Text 26"/>
          <p:cNvSpPr/>
          <p:nvPr/>
        </p:nvSpPr>
        <p:spPr>
          <a:xfrm>
            <a:off x="4709160" y="2916936"/>
            <a:ext cx="1828800" cy="34747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Disparate Impact:</a:t>
            </a:r>
            <a:endParaRPr lang="en-US" sz="1100" dirty="0"/>
          </a:p>
        </p:txBody>
      </p:sp>
      <p:sp>
        <p:nvSpPr>
          <p:cNvPr id="29" name="Text 27"/>
          <p:cNvSpPr/>
          <p:nvPr/>
        </p:nvSpPr>
        <p:spPr>
          <a:xfrm>
            <a:off x="6537960" y="2916936"/>
            <a:ext cx="2148840" cy="34747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DI ratio 0.80–1.25 (80% rule)</a:t>
            </a:r>
            <a:endParaRPr lang="en-US" sz="1100" dirty="0"/>
          </a:p>
        </p:txBody>
      </p:sp>
      <p:sp>
        <p:nvSpPr>
          <p:cNvPr id="30" name="Shape 28"/>
          <p:cNvSpPr/>
          <p:nvPr/>
        </p:nvSpPr>
        <p:spPr>
          <a:xfrm>
            <a:off x="274320" y="3429000"/>
            <a:ext cx="8595360" cy="1234440"/>
          </a:xfrm>
          <a:prstGeom prst="rect">
            <a:avLst/>
          </a:prstGeom>
          <a:solidFill>
            <a:srgbClr val="E8F4FD"/>
          </a:solidFill>
          <a:ln w="12700">
            <a:solidFill>
              <a:srgbClr val="D0E8F5"/>
            </a:solidFill>
            <a:prstDash val="solid"/>
          </a:ln>
        </p:spPr>
      </p:sp>
      <p:sp>
        <p:nvSpPr>
          <p:cNvPr id="31" name="Text 29"/>
          <p:cNvSpPr/>
          <p:nvPr/>
        </p:nvSpPr>
        <p:spPr>
          <a:xfrm>
            <a:off x="457200" y="3520440"/>
            <a:ext cx="8229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6 Proposed Mitigations</a:t>
            </a:r>
            <a:endParaRPr lang="en-US" sz="1200" dirty="0"/>
          </a:p>
        </p:txBody>
      </p:sp>
      <p:sp>
        <p:nvSpPr>
          <p:cNvPr id="32" name="Text 30"/>
          <p:cNvSpPr/>
          <p:nvPr/>
        </p:nvSpPr>
        <p:spPr>
          <a:xfrm>
            <a:off x="457200" y="3840480"/>
            <a:ext cx="4114800" cy="237744"/>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 M1: Segment-specific threshold calibration</a:t>
            </a:r>
            <a:endParaRPr lang="en-US" sz="1000" dirty="0"/>
          </a:p>
        </p:txBody>
      </p:sp>
      <p:sp>
        <p:nvSpPr>
          <p:cNvPr id="33" name="Text 31"/>
          <p:cNvSpPr/>
          <p:nvPr/>
        </p:nvSpPr>
        <p:spPr>
          <a:xfrm>
            <a:off x="457200" y="4087368"/>
            <a:ext cx="4114800" cy="237744"/>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 M2: Sample reweighting by segment</a:t>
            </a:r>
            <a:endParaRPr lang="en-US" sz="1000" dirty="0"/>
          </a:p>
        </p:txBody>
      </p:sp>
      <p:sp>
        <p:nvSpPr>
          <p:cNvPr id="34" name="Text 32"/>
          <p:cNvSpPr/>
          <p:nvPr/>
        </p:nvSpPr>
        <p:spPr>
          <a:xfrm>
            <a:off x="457200" y="4334256"/>
            <a:ext cx="4114800" cy="237744"/>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 M3: Time-based train/test split</a:t>
            </a:r>
            <a:endParaRPr lang="en-US" sz="1000" dirty="0"/>
          </a:p>
        </p:txBody>
      </p:sp>
      <p:sp>
        <p:nvSpPr>
          <p:cNvPr id="35" name="Text 33"/>
          <p:cNvSpPr/>
          <p:nvPr/>
        </p:nvSpPr>
        <p:spPr>
          <a:xfrm>
            <a:off x="4846320" y="3840480"/>
            <a:ext cx="4114800" cy="237744"/>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 M4: Human-in-the-loop (p=0.3–0.7)</a:t>
            </a:r>
            <a:endParaRPr lang="en-US" sz="1000" dirty="0"/>
          </a:p>
        </p:txBody>
      </p:sp>
      <p:sp>
        <p:nvSpPr>
          <p:cNvPr id="36" name="Text 34"/>
          <p:cNvSpPr/>
          <p:nvPr/>
        </p:nvSpPr>
        <p:spPr>
          <a:xfrm>
            <a:off x="4846320" y="4087368"/>
            <a:ext cx="4114800" cy="237744"/>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 M5: SHAP explanations for declined transactions</a:t>
            </a:r>
            <a:endParaRPr lang="en-US" sz="1000" dirty="0"/>
          </a:p>
        </p:txBody>
      </p:sp>
      <p:sp>
        <p:nvSpPr>
          <p:cNvPr id="37" name="Text 35"/>
          <p:cNvSpPr/>
          <p:nvPr/>
        </p:nvSpPr>
        <p:spPr>
          <a:xfrm>
            <a:off x="4846320" y="4334256"/>
            <a:ext cx="4114800" cy="237744"/>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 M6: Periodic retraining + fairness monitoring</a:t>
            </a:r>
            <a:endParaRPr lang="en-US" sz="1000" dirty="0"/>
          </a:p>
        </p:txBody>
      </p:sp>
      <p:sp>
        <p:nvSpPr>
          <p:cNvPr id="38" name="Text 36"/>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Step 5: Ethical AI</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5C"/>
          </a:solidFill>
          <a:ln/>
        </p:spPr>
      </p:sp>
      <p:sp>
        <p:nvSpPr>
          <p:cNvPr id="3" name="Shape 1"/>
          <p:cNvSpPr/>
          <p:nvPr/>
        </p:nvSpPr>
        <p:spPr>
          <a:xfrm>
            <a:off x="0" y="0"/>
            <a:ext cx="109728" cy="5143500"/>
          </a:xfrm>
          <a:prstGeom prst="rect">
            <a:avLst/>
          </a:prstGeom>
          <a:solidFill>
            <a:srgbClr val="2E6DAD"/>
          </a:solidFill>
          <a:ln/>
        </p:spPr>
      </p:sp>
      <p:sp>
        <p:nvSpPr>
          <p:cNvPr id="4" name="Text 2"/>
          <p:cNvSpPr/>
          <p:nvPr/>
        </p:nvSpPr>
        <p:spPr>
          <a:xfrm>
            <a:off x="457200" y="274320"/>
            <a:ext cx="822960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Conclusions &amp; Next Steps</a:t>
            </a:r>
            <a:endParaRPr lang="en-US" sz="2800" dirty="0"/>
          </a:p>
        </p:txBody>
      </p:sp>
      <p:sp>
        <p:nvSpPr>
          <p:cNvPr id="5" name="Shape 3"/>
          <p:cNvSpPr/>
          <p:nvPr/>
        </p:nvSpPr>
        <p:spPr>
          <a:xfrm>
            <a:off x="457200" y="868680"/>
            <a:ext cx="8229600" cy="36576"/>
          </a:xfrm>
          <a:prstGeom prst="rect">
            <a:avLst/>
          </a:prstGeom>
          <a:solidFill>
            <a:srgbClr val="4A90C4"/>
          </a:solidFill>
          <a:ln/>
        </p:spPr>
      </p:sp>
      <p:sp>
        <p:nvSpPr>
          <p:cNvPr id="6" name="Shape 4"/>
          <p:cNvSpPr/>
          <p:nvPr/>
        </p:nvSpPr>
        <p:spPr>
          <a:xfrm>
            <a:off x="457200" y="1051560"/>
            <a:ext cx="4114800" cy="1371600"/>
          </a:xfrm>
          <a:prstGeom prst="rect">
            <a:avLst/>
          </a:prstGeom>
          <a:solidFill>
            <a:srgbClr val="1E4976"/>
          </a:solidFill>
          <a:ln w="12700">
            <a:solidFill>
              <a:srgbClr val="4A90C4"/>
            </a:solidFill>
            <a:prstDash val="solid"/>
          </a:ln>
        </p:spPr>
      </p:sp>
      <p:sp>
        <p:nvSpPr>
          <p:cNvPr id="7" name="Text 5"/>
          <p:cNvSpPr/>
          <p:nvPr/>
        </p:nvSpPr>
        <p:spPr>
          <a:xfrm>
            <a:off x="640080" y="1143000"/>
            <a:ext cx="3749040" cy="365760"/>
          </a:xfrm>
          <a:prstGeom prst="rect">
            <a:avLst/>
          </a:prstGeom>
          <a:noFill/>
          <a:ln/>
        </p:spPr>
        <p:txBody>
          <a:bodyPr wrap="square" lIns="0" tIns="0" rIns="0" bIns="0" rtlCol="0" anchor="ctr"/>
          <a:lstStyle/>
          <a:p>
            <a:pPr marL="0" indent="0">
              <a:buNone/>
            </a:pPr>
            <a:r>
              <a:rPr lang="en-US" sz="1400" b="1" dirty="0">
                <a:solidFill>
                  <a:srgbClr val="A8C8E8"/>
                </a:solidFill>
                <a:latin typeface="Calibri" pitchFamily="34" charset="0"/>
                <a:ea typeface="Calibri" pitchFamily="34" charset="-122"/>
                <a:cs typeface="Calibri" pitchFamily="34" charset="-120"/>
              </a:rPr>
              <a:t>Dataset</a:t>
            </a:r>
            <a:endParaRPr lang="en-US" sz="1400" dirty="0"/>
          </a:p>
        </p:txBody>
      </p:sp>
      <p:sp>
        <p:nvSpPr>
          <p:cNvPr id="8" name="Text 6"/>
          <p:cNvSpPr/>
          <p:nvPr/>
        </p:nvSpPr>
        <p:spPr>
          <a:xfrm>
            <a:off x="640080" y="1508760"/>
            <a:ext cx="374904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283,726 transactions | 473 fraud</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598:1 imbalance after cleaning</a:t>
            </a:r>
            <a:endParaRPr lang="en-US" sz="1200" dirty="0"/>
          </a:p>
        </p:txBody>
      </p:sp>
      <p:sp>
        <p:nvSpPr>
          <p:cNvPr id="9" name="Shape 7"/>
          <p:cNvSpPr/>
          <p:nvPr/>
        </p:nvSpPr>
        <p:spPr>
          <a:xfrm>
            <a:off x="4846320" y="1051560"/>
            <a:ext cx="4114800" cy="1371600"/>
          </a:xfrm>
          <a:prstGeom prst="rect">
            <a:avLst/>
          </a:prstGeom>
          <a:solidFill>
            <a:srgbClr val="1E4976"/>
          </a:solidFill>
          <a:ln w="12700">
            <a:solidFill>
              <a:srgbClr val="4A90C4"/>
            </a:solidFill>
            <a:prstDash val="solid"/>
          </a:ln>
        </p:spPr>
      </p:sp>
      <p:sp>
        <p:nvSpPr>
          <p:cNvPr id="10" name="Text 8"/>
          <p:cNvSpPr/>
          <p:nvPr/>
        </p:nvSpPr>
        <p:spPr>
          <a:xfrm>
            <a:off x="5029200" y="1143000"/>
            <a:ext cx="3749040" cy="365760"/>
          </a:xfrm>
          <a:prstGeom prst="rect">
            <a:avLst/>
          </a:prstGeom>
          <a:noFill/>
          <a:ln/>
        </p:spPr>
        <p:txBody>
          <a:bodyPr wrap="square" lIns="0" tIns="0" rIns="0" bIns="0" rtlCol="0" anchor="ctr"/>
          <a:lstStyle/>
          <a:p>
            <a:pPr marL="0" indent="0">
              <a:buNone/>
            </a:pPr>
            <a:r>
              <a:rPr lang="en-US" sz="1400" b="1" dirty="0">
                <a:solidFill>
                  <a:srgbClr val="A8C8E8"/>
                </a:solidFill>
                <a:latin typeface="Calibri" pitchFamily="34" charset="0"/>
                <a:ea typeface="Calibri" pitchFamily="34" charset="-122"/>
                <a:cs typeface="Calibri" pitchFamily="34" charset="-120"/>
              </a:rPr>
              <a:t>Features</a:t>
            </a:r>
            <a:endParaRPr lang="en-US" sz="1400" dirty="0"/>
          </a:p>
        </p:txBody>
      </p:sp>
      <p:sp>
        <p:nvSpPr>
          <p:cNvPr id="11" name="Text 9"/>
          <p:cNvSpPr/>
          <p:nvPr/>
        </p:nvSpPr>
        <p:spPr>
          <a:xfrm>
            <a:off x="5029200" y="1508760"/>
            <a:ext cx="374904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15 selected from 32</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53% dimensionality reduction</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V14, V12, V4 top SHAP predictors</a:t>
            </a:r>
            <a:endParaRPr lang="en-US" sz="1200" dirty="0"/>
          </a:p>
        </p:txBody>
      </p:sp>
      <p:sp>
        <p:nvSpPr>
          <p:cNvPr id="12" name="Shape 10"/>
          <p:cNvSpPr/>
          <p:nvPr/>
        </p:nvSpPr>
        <p:spPr>
          <a:xfrm>
            <a:off x="457200" y="2560320"/>
            <a:ext cx="4114800" cy="1371600"/>
          </a:xfrm>
          <a:prstGeom prst="rect">
            <a:avLst/>
          </a:prstGeom>
          <a:solidFill>
            <a:srgbClr val="1E4976"/>
          </a:solidFill>
          <a:ln w="12700">
            <a:solidFill>
              <a:srgbClr val="4A90C4"/>
            </a:solidFill>
            <a:prstDash val="solid"/>
          </a:ln>
        </p:spPr>
      </p:sp>
      <p:sp>
        <p:nvSpPr>
          <p:cNvPr id="13" name="Text 11"/>
          <p:cNvSpPr/>
          <p:nvPr/>
        </p:nvSpPr>
        <p:spPr>
          <a:xfrm>
            <a:off x="640080" y="2651760"/>
            <a:ext cx="3749040" cy="365760"/>
          </a:xfrm>
          <a:prstGeom prst="rect">
            <a:avLst/>
          </a:prstGeom>
          <a:noFill/>
          <a:ln/>
        </p:spPr>
        <p:txBody>
          <a:bodyPr wrap="square" lIns="0" tIns="0" rIns="0" bIns="0" rtlCol="0" anchor="ctr"/>
          <a:lstStyle/>
          <a:p>
            <a:pPr marL="0" indent="0">
              <a:buNone/>
            </a:pPr>
            <a:r>
              <a:rPr lang="en-US" sz="1400" b="1" dirty="0">
                <a:solidFill>
                  <a:srgbClr val="A8C8E8"/>
                </a:solidFill>
                <a:latin typeface="Calibri" pitchFamily="34" charset="0"/>
                <a:ea typeface="Calibri" pitchFamily="34" charset="-122"/>
                <a:cs typeface="Calibri" pitchFamily="34" charset="-120"/>
              </a:rPr>
              <a:t>Best Model</a:t>
            </a:r>
            <a:endParaRPr lang="en-US" sz="1400" dirty="0"/>
          </a:p>
        </p:txBody>
      </p:sp>
      <p:sp>
        <p:nvSpPr>
          <p:cNvPr id="14" name="Text 12"/>
          <p:cNvSpPr/>
          <p:nvPr/>
        </p:nvSpPr>
        <p:spPr>
          <a:xfrm>
            <a:off x="640080" y="3017520"/>
            <a:ext cx="374904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XGBoost | Original</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F1=0.814 | Precision=94.4%</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PR-AUC=0.806</a:t>
            </a:r>
            <a:endParaRPr lang="en-US" sz="1200" dirty="0"/>
          </a:p>
        </p:txBody>
      </p:sp>
      <p:sp>
        <p:nvSpPr>
          <p:cNvPr id="15" name="Shape 13"/>
          <p:cNvSpPr/>
          <p:nvPr/>
        </p:nvSpPr>
        <p:spPr>
          <a:xfrm>
            <a:off x="4846320" y="2560320"/>
            <a:ext cx="4114800" cy="1371600"/>
          </a:xfrm>
          <a:prstGeom prst="rect">
            <a:avLst/>
          </a:prstGeom>
          <a:solidFill>
            <a:srgbClr val="1E4976"/>
          </a:solidFill>
          <a:ln w="12700">
            <a:solidFill>
              <a:srgbClr val="4A90C4"/>
            </a:solidFill>
            <a:prstDash val="solid"/>
          </a:ln>
        </p:spPr>
      </p:sp>
      <p:sp>
        <p:nvSpPr>
          <p:cNvPr id="16" name="Text 14"/>
          <p:cNvSpPr/>
          <p:nvPr/>
        </p:nvSpPr>
        <p:spPr>
          <a:xfrm>
            <a:off x="5029200" y="2651760"/>
            <a:ext cx="3749040" cy="365760"/>
          </a:xfrm>
          <a:prstGeom prst="rect">
            <a:avLst/>
          </a:prstGeom>
          <a:noFill/>
          <a:ln/>
        </p:spPr>
        <p:txBody>
          <a:bodyPr wrap="square" lIns="0" tIns="0" rIns="0" bIns="0" rtlCol="0" anchor="ctr"/>
          <a:lstStyle/>
          <a:p>
            <a:pPr marL="0" indent="0">
              <a:buNone/>
            </a:pPr>
            <a:r>
              <a:rPr lang="en-US" sz="1400" b="1" dirty="0">
                <a:solidFill>
                  <a:srgbClr val="A8C8E8"/>
                </a:solidFill>
                <a:latin typeface="Calibri" pitchFamily="34" charset="0"/>
                <a:ea typeface="Calibri" pitchFamily="34" charset="-122"/>
                <a:cs typeface="Calibri" pitchFamily="34" charset="-120"/>
              </a:rPr>
              <a:t>Fairness</a:t>
            </a:r>
            <a:endParaRPr lang="en-US" sz="1400" dirty="0"/>
          </a:p>
        </p:txBody>
      </p:sp>
      <p:sp>
        <p:nvSpPr>
          <p:cNvPr id="17" name="Text 15"/>
          <p:cNvSpPr/>
          <p:nvPr/>
        </p:nvSpPr>
        <p:spPr>
          <a:xfrm>
            <a:off x="5029200" y="3017520"/>
            <a:ext cx="374904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6 limitations documented</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6 mitigations proposed</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Bias audited across Amount + Time</a:t>
            </a:r>
            <a:endParaRPr lang="en-US" sz="1200" dirty="0"/>
          </a:p>
        </p:txBody>
      </p:sp>
      <p:sp>
        <p:nvSpPr>
          <p:cNvPr id="18" name="Shape 16"/>
          <p:cNvSpPr/>
          <p:nvPr/>
        </p:nvSpPr>
        <p:spPr>
          <a:xfrm>
            <a:off x="457200" y="4206240"/>
            <a:ext cx="8321040" cy="594360"/>
          </a:xfrm>
          <a:prstGeom prst="rect">
            <a:avLst/>
          </a:prstGeom>
          <a:solidFill>
            <a:srgbClr val="1E4976"/>
          </a:solidFill>
          <a:ln w="12700">
            <a:solidFill>
              <a:srgbClr val="4A90C4"/>
            </a:solidFill>
            <a:prstDash val="solid"/>
          </a:ln>
        </p:spPr>
      </p:sp>
      <p:sp>
        <p:nvSpPr>
          <p:cNvPr id="19" name="Text 17"/>
          <p:cNvSpPr/>
          <p:nvPr/>
        </p:nvSpPr>
        <p:spPr>
          <a:xfrm>
            <a:off x="640080" y="4270248"/>
            <a:ext cx="7955280" cy="475488"/>
          </a:xfrm>
          <a:prstGeom prst="rect">
            <a:avLst/>
          </a:prstGeom>
          <a:noFill/>
          <a:ln/>
        </p:spPr>
        <p:txBody>
          <a:bodyPr wrap="square" lIns="0" tIns="0" rIns="0" bIns="0" rtlCol="0" anchor="ctr"/>
          <a:lstStyle/>
          <a:p>
            <a:pPr marL="0" indent="0">
              <a:buNone/>
            </a:pPr>
            <a:r>
              <a:rPr lang="en-US" sz="1000" dirty="0">
                <a:solidFill>
                  <a:srgbClr val="A8C8E8"/>
                </a:solidFill>
                <a:latin typeface="Calibri" pitchFamily="34" charset="0"/>
                <a:ea typeface="Calibri" pitchFamily="34" charset="-122"/>
                <a:cs typeface="Calibri" pitchFamily="34" charset="-120"/>
              </a:rPr>
              <a:t>Philippine Context: While based on 2013 European data, this framework is directly transferable to the PH digital payments landscape. With BSP-mandated fraud reporting and growing GCash/Maya adoption, local transaction data validation represents the clear next step toward production deployment.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1304AF-7AEF-15DF-716C-DFA2B9658D8E}"/>
              </a:ext>
            </a:extLst>
          </p:cNvPr>
          <p:cNvSpPr txBox="1"/>
          <p:nvPr/>
        </p:nvSpPr>
        <p:spPr>
          <a:xfrm>
            <a:off x="542334" y="768141"/>
            <a:ext cx="8601666" cy="3970318"/>
          </a:xfrm>
          <a:prstGeom prst="rect">
            <a:avLst/>
          </a:prstGeom>
          <a:noFill/>
        </p:spPr>
        <p:txBody>
          <a:bodyPr wrap="square">
            <a:spAutoFit/>
          </a:bodyPr>
          <a:lstStyle/>
          <a:p>
            <a:pPr>
              <a:buNone/>
            </a:pPr>
            <a:r>
              <a:rPr lang="en-US" sz="1400" b="1" dirty="0"/>
              <a:t>AI Assistance, Content Enhancement, and Source Declaration</a:t>
            </a:r>
          </a:p>
          <a:p>
            <a:pPr>
              <a:buNone/>
            </a:pPr>
            <a:endParaRPr lang="en-US" sz="1400" b="1" dirty="0"/>
          </a:p>
          <a:p>
            <a:pPr>
              <a:buNone/>
            </a:pPr>
            <a:r>
              <a:rPr lang="en-US" sz="1400" b="1" dirty="0"/>
              <a:t>Purpose:</a:t>
            </a:r>
            <a:r>
              <a:rPr lang="en-US" sz="1400" dirty="0"/>
              <a:t> This presentation has been prepared for academic and professional learning purposes as part of a graduate-level course in Artificial Intelligence and Machine Learning.</a:t>
            </a:r>
          </a:p>
          <a:p>
            <a:pPr>
              <a:buNone/>
            </a:pPr>
            <a:endParaRPr lang="en-US" sz="1400" dirty="0"/>
          </a:p>
          <a:p>
            <a:pPr>
              <a:buNone/>
            </a:pPr>
            <a:r>
              <a:rPr lang="en-US" sz="1400" dirty="0"/>
              <a:t>The development of this presentation was assisted by artificial intelligence (AI) tools to support research, content organization, language refinement, summarization, and overall presentation quality. AI was used as an aid to enhance the preparation process and does not replace critical analysis, professional judgment, or independent review.</a:t>
            </a:r>
          </a:p>
          <a:p>
            <a:pPr>
              <a:buNone/>
            </a:pPr>
            <a:endParaRPr lang="en-US" sz="1400" dirty="0"/>
          </a:p>
          <a:p>
            <a:pPr>
              <a:buNone/>
            </a:pPr>
            <a:r>
              <a:rPr lang="en-US" sz="1400" dirty="0"/>
              <a:t>The content incorporates information synthesized from publicly available web-based resources, scholarly references, industry publications, and other authoritative materials where applicable. Every reasonable effort has been made to review, validate, and present the information accurately; however, due to the evolving nature of AI, machine learning, and related technologies, readers are encouraged to consult original sources and current literature for the most up-to-date information.</a:t>
            </a:r>
          </a:p>
          <a:p>
            <a:pPr>
              <a:buNone/>
            </a:pPr>
            <a:endParaRPr lang="en-US" sz="1400" dirty="0"/>
          </a:p>
          <a:p>
            <a:pPr>
              <a:buNone/>
            </a:pPr>
            <a:r>
              <a:rPr lang="en-US" sz="1400" dirty="0"/>
              <a:t>This presentation is intended solely for educational, academic, and professional development purposes. All referenced concepts, analyses, and conclusions remain the responsibility of the presenter.</a:t>
            </a:r>
          </a:p>
        </p:txBody>
      </p:sp>
    </p:spTree>
    <p:extLst>
      <p:ext uri="{BB962C8B-B14F-4D97-AF65-F5344CB8AC3E}">
        <p14:creationId xmlns:p14="http://schemas.microsoft.com/office/powerpoint/2010/main" val="3602027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1526</Words>
  <Application>Microsoft Office PowerPoint</Application>
  <PresentationFormat>On-screen Show (16:9)</PresentationFormat>
  <Paragraphs>300</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Asian Institute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Credit Card Fraud Detection — Technical Presentation</dc:subject>
  <dc:creator>Erickson Tan</dc:creator>
  <cp:lastModifiedBy>Erickson Tan</cp:lastModifiedBy>
  <cp:revision>2</cp:revision>
  <dcterms:created xsi:type="dcterms:W3CDTF">2026-07-14T03:11:35Z</dcterms:created>
  <dcterms:modified xsi:type="dcterms:W3CDTF">2026-07-14T14:22:50Z</dcterms:modified>
</cp:coreProperties>
</file>