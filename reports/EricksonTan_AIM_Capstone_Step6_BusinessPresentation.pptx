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345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p:spPr>
      </p:sp>
      <p:sp>
        <p:nvSpPr>
          <p:cNvPr id="3" name="Shape 1"/>
          <p:cNvSpPr/>
          <p:nvPr/>
        </p:nvSpPr>
        <p:spPr>
          <a:xfrm>
            <a:off x="0" y="4389120"/>
            <a:ext cx="9144000" cy="749808"/>
          </a:xfrm>
          <a:prstGeom prst="rect">
            <a:avLst/>
          </a:prstGeom>
          <a:solidFill>
            <a:srgbClr val="2E6DAD"/>
          </a:solidFill>
          <a:ln/>
        </p:spPr>
      </p:sp>
      <p:sp>
        <p:nvSpPr>
          <p:cNvPr id="4" name="Shape 2"/>
          <p:cNvSpPr/>
          <p:nvPr/>
        </p:nvSpPr>
        <p:spPr>
          <a:xfrm>
            <a:off x="0" y="0"/>
            <a:ext cx="109728" cy="5143500"/>
          </a:xfrm>
          <a:prstGeom prst="rect">
            <a:avLst/>
          </a:prstGeom>
          <a:solidFill>
            <a:srgbClr val="4A90C4"/>
          </a:solidFill>
          <a:ln/>
        </p:spPr>
      </p:sp>
      <p:sp>
        <p:nvSpPr>
          <p:cNvPr id="5" name="Text 3"/>
          <p:cNvSpPr/>
          <p:nvPr/>
        </p:nvSpPr>
        <p:spPr>
          <a:xfrm>
            <a:off x="457200" y="640080"/>
            <a:ext cx="832104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Can AI Protect Your Customers</a:t>
            </a:r>
            <a:endParaRPr lang="en-US" sz="3600" dirty="0"/>
          </a:p>
        </p:txBody>
      </p:sp>
      <p:sp>
        <p:nvSpPr>
          <p:cNvPr id="6" name="Text 4"/>
          <p:cNvSpPr/>
          <p:nvPr/>
        </p:nvSpPr>
        <p:spPr>
          <a:xfrm>
            <a:off x="457200" y="1325880"/>
            <a:ext cx="8321040" cy="731520"/>
          </a:xfrm>
          <a:prstGeom prst="rect">
            <a:avLst/>
          </a:prstGeom>
          <a:noFill/>
          <a:ln/>
        </p:spPr>
        <p:txBody>
          <a:bodyPr wrap="square" lIns="0" tIns="0" rIns="0" bIns="0" rtlCol="0" anchor="ctr"/>
          <a:lstStyle/>
          <a:p>
            <a:pPr marL="0" indent="0">
              <a:buNone/>
            </a:pPr>
            <a:r>
              <a:rPr lang="en-US" sz="3600" b="1" dirty="0">
                <a:solidFill>
                  <a:srgbClr val="A8C8E8"/>
                </a:solidFill>
                <a:latin typeface="Calibri" pitchFamily="34" charset="0"/>
                <a:ea typeface="Calibri" pitchFamily="34" charset="-122"/>
                <a:cs typeface="Calibri" pitchFamily="34" charset="-120"/>
              </a:rPr>
              <a:t>from Credit Card Fraud?</a:t>
            </a:r>
            <a:endParaRPr lang="en-US" sz="3600" dirty="0"/>
          </a:p>
        </p:txBody>
      </p:sp>
      <p:sp>
        <p:nvSpPr>
          <p:cNvPr id="7" name="Text 5"/>
          <p:cNvSpPr/>
          <p:nvPr/>
        </p:nvSpPr>
        <p:spPr>
          <a:xfrm>
            <a:off x="457200" y="2194560"/>
            <a:ext cx="8321040" cy="457200"/>
          </a:xfrm>
          <a:prstGeom prst="rect">
            <a:avLst/>
          </a:prstGeom>
          <a:noFill/>
          <a:ln/>
        </p:spPr>
        <p:txBody>
          <a:bodyPr wrap="square" lIns="0" tIns="0" rIns="0" bIns="0" rtlCol="0" anchor="ctr"/>
          <a:lstStyle/>
          <a:p>
            <a:pPr marL="0" indent="0">
              <a:buNone/>
            </a:pPr>
            <a:r>
              <a:rPr lang="en-US" sz="1600" dirty="0">
                <a:solidFill>
                  <a:srgbClr val="C5D8F5"/>
                </a:solidFill>
                <a:latin typeface="Calibri" pitchFamily="34" charset="0"/>
                <a:ea typeface="Calibri" pitchFamily="34" charset="-122"/>
                <a:cs typeface="Calibri" pitchFamily="34" charset="-120"/>
              </a:rPr>
              <a:t>A Machine Learning Solution for the Philippine Digital Payments Landscape</a:t>
            </a:r>
            <a:endParaRPr lang="en-US" sz="1600" dirty="0"/>
          </a:p>
        </p:txBody>
      </p:sp>
      <p:sp>
        <p:nvSpPr>
          <p:cNvPr id="8" name="Text 6"/>
          <p:cNvSpPr/>
          <p:nvPr/>
        </p:nvSpPr>
        <p:spPr>
          <a:xfrm>
            <a:off x="457200" y="4462272"/>
            <a:ext cx="8229600" cy="3200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Erickson Tan  |  Asian Institute of Management  |  ML Capstone 2026</a:t>
            </a:r>
            <a:endParaRPr lang="en-US" sz="1200" dirty="0"/>
          </a:p>
        </p:txBody>
      </p:sp>
      <p:sp>
        <p:nvSpPr>
          <p:cNvPr id="9" name="Text 7"/>
          <p:cNvSpPr/>
          <p:nvPr/>
        </p:nvSpPr>
        <p:spPr>
          <a:xfrm>
            <a:off x="457200" y="4773168"/>
            <a:ext cx="8229600" cy="228600"/>
          </a:xfrm>
          <a:prstGeom prst="rect">
            <a:avLst/>
          </a:prstGeom>
          <a:noFill/>
          <a:ln/>
        </p:spPr>
        <p:txBody>
          <a:bodyPr wrap="square" lIns="0" tIns="0" rIns="0" bIns="0" rtlCol="0" anchor="ctr"/>
          <a:lstStyle/>
          <a:p>
            <a:pPr marL="0" indent="0">
              <a:buNone/>
            </a:pPr>
            <a:r>
              <a:rPr lang="en-US" sz="900" dirty="0">
                <a:solidFill>
                  <a:srgbClr val="A8C8E8"/>
                </a:solidFill>
                <a:latin typeface="Calibri" pitchFamily="34" charset="0"/>
                <a:ea typeface="Calibri" pitchFamily="34" charset="-122"/>
                <a:cs typeface="Calibri" pitchFamily="34" charset="-120"/>
              </a:rPr>
              <a:t>Confidential — For Executive Review</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Problem: Fraud is Costing Everyone</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A growing threat to financial institutions and their customers</a:t>
            </a:r>
            <a:endParaRPr lang="en-US" sz="1300" dirty="0"/>
          </a:p>
        </p:txBody>
      </p:sp>
      <p:sp>
        <p:nvSpPr>
          <p:cNvPr id="6" name="Shape 4"/>
          <p:cNvSpPr/>
          <p:nvPr/>
        </p:nvSpPr>
        <p:spPr>
          <a:xfrm>
            <a:off x="274320" y="1417320"/>
            <a:ext cx="2011680" cy="1371600"/>
          </a:xfrm>
          <a:prstGeom prst="rect">
            <a:avLst/>
          </a:prstGeom>
          <a:solidFill>
            <a:srgbClr val="E8F4FD"/>
          </a:solidFill>
          <a:ln w="12700">
            <a:solidFill>
              <a:srgbClr val="D0E8F5"/>
            </a:solidFill>
            <a:prstDash val="solid"/>
          </a:ln>
        </p:spPr>
      </p:sp>
      <p:sp>
        <p:nvSpPr>
          <p:cNvPr id="7" name="Text 5"/>
          <p:cNvSpPr/>
          <p:nvPr/>
        </p:nvSpPr>
        <p:spPr>
          <a:xfrm>
            <a:off x="274320" y="1508760"/>
            <a:ext cx="2011680" cy="658368"/>
          </a:xfrm>
          <a:prstGeom prst="rect">
            <a:avLst/>
          </a:prstGeom>
          <a:noFill/>
          <a:ln/>
        </p:spPr>
        <p:txBody>
          <a:bodyPr wrap="square" lIns="0" tIns="0" rIns="0" bIns="0" rtlCol="0" anchor="ctr"/>
          <a:lstStyle/>
          <a:p>
            <a:pPr marL="0" indent="0" algn="ctr">
              <a:buNone/>
            </a:pPr>
            <a:r>
              <a:rPr lang="en-US" sz="3600" b="1" dirty="0">
                <a:solidFill>
                  <a:srgbClr val="E74C3C"/>
                </a:solidFill>
                <a:latin typeface="Calibri" pitchFamily="34" charset="0"/>
                <a:ea typeface="Calibri" pitchFamily="34" charset="-122"/>
                <a:cs typeface="Calibri" pitchFamily="34" charset="-120"/>
              </a:rPr>
              <a:t>USD 33B+</a:t>
            </a:r>
            <a:endParaRPr lang="en-US" sz="3600" dirty="0"/>
          </a:p>
        </p:txBody>
      </p:sp>
      <p:sp>
        <p:nvSpPr>
          <p:cNvPr id="8" name="Text 6"/>
          <p:cNvSpPr/>
          <p:nvPr/>
        </p:nvSpPr>
        <p:spPr>
          <a:xfrm>
            <a:off x="274320" y="2148840"/>
            <a:ext cx="2011680" cy="320040"/>
          </a:xfrm>
          <a:prstGeom prst="rect">
            <a:avLst/>
          </a:prstGeom>
          <a:noFill/>
          <a:ln/>
        </p:spPr>
        <p:txBody>
          <a:bodyPr wrap="square" lIns="0" tIns="0" rIns="0" bIns="0"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Global fraud losses</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in 2022</a:t>
            </a:r>
            <a:endParaRPr lang="en-US" sz="1200" dirty="0"/>
          </a:p>
        </p:txBody>
      </p:sp>
      <p:sp>
        <p:nvSpPr>
          <p:cNvPr id="9" name="Text 7"/>
          <p:cNvSpPr/>
          <p:nvPr/>
        </p:nvSpPr>
        <p:spPr>
          <a:xfrm>
            <a:off x="274320" y="2468880"/>
            <a:ext cx="2011680" cy="256032"/>
          </a:xfrm>
          <a:prstGeom prst="rect">
            <a:avLst/>
          </a:prstGeom>
          <a:noFill/>
          <a:ln/>
        </p:spPr>
        <p:txBody>
          <a:bodyPr wrap="square" lIns="0" tIns="0" rIns="0" bIns="0"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Nilson Report</a:t>
            </a:r>
            <a:endParaRPr lang="en-US" sz="1000" dirty="0"/>
          </a:p>
        </p:txBody>
      </p:sp>
      <p:sp>
        <p:nvSpPr>
          <p:cNvPr id="10" name="Shape 8"/>
          <p:cNvSpPr/>
          <p:nvPr/>
        </p:nvSpPr>
        <p:spPr>
          <a:xfrm>
            <a:off x="3200400" y="1417320"/>
            <a:ext cx="2011680" cy="1371600"/>
          </a:xfrm>
          <a:prstGeom prst="rect">
            <a:avLst/>
          </a:prstGeom>
          <a:solidFill>
            <a:srgbClr val="E8F4FD"/>
          </a:solidFill>
          <a:ln w="12700">
            <a:solidFill>
              <a:srgbClr val="D0E8F5"/>
            </a:solidFill>
            <a:prstDash val="solid"/>
          </a:ln>
        </p:spPr>
      </p:sp>
      <p:sp>
        <p:nvSpPr>
          <p:cNvPr id="11" name="Text 9"/>
          <p:cNvSpPr/>
          <p:nvPr/>
        </p:nvSpPr>
        <p:spPr>
          <a:xfrm>
            <a:off x="3200400" y="1508760"/>
            <a:ext cx="2011680" cy="658368"/>
          </a:xfrm>
          <a:prstGeom prst="rect">
            <a:avLst/>
          </a:prstGeom>
          <a:noFill/>
          <a:ln/>
        </p:spPr>
        <p:txBody>
          <a:bodyPr wrap="square" lIns="0" tIns="0" rIns="0" bIns="0" rtlCol="0" anchor="ctr"/>
          <a:lstStyle/>
          <a:p>
            <a:pPr marL="0" indent="0" algn="ctr">
              <a:buNone/>
            </a:pPr>
            <a:r>
              <a:rPr lang="en-US" sz="3600" b="1" dirty="0">
                <a:solidFill>
                  <a:srgbClr val="E67E22"/>
                </a:solidFill>
                <a:latin typeface="Calibri" pitchFamily="34" charset="0"/>
                <a:ea typeface="Calibri" pitchFamily="34" charset="-122"/>
                <a:cs typeface="Calibri" pitchFamily="34" charset="-120"/>
              </a:rPr>
              <a:t>USD 40B+</a:t>
            </a:r>
            <a:endParaRPr lang="en-US" sz="3600" dirty="0"/>
          </a:p>
        </p:txBody>
      </p:sp>
      <p:sp>
        <p:nvSpPr>
          <p:cNvPr id="12" name="Text 10"/>
          <p:cNvSpPr/>
          <p:nvPr/>
        </p:nvSpPr>
        <p:spPr>
          <a:xfrm>
            <a:off x="3200400" y="2148840"/>
            <a:ext cx="2011680" cy="320040"/>
          </a:xfrm>
          <a:prstGeom prst="rect">
            <a:avLst/>
          </a:prstGeom>
          <a:noFill/>
          <a:ln/>
        </p:spPr>
        <p:txBody>
          <a:bodyPr wrap="square" lIns="0" tIns="0" rIns="0" bIns="0"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Projected losses</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by 2027</a:t>
            </a:r>
            <a:endParaRPr lang="en-US" sz="1200" dirty="0"/>
          </a:p>
        </p:txBody>
      </p:sp>
      <p:sp>
        <p:nvSpPr>
          <p:cNvPr id="13" name="Text 11"/>
          <p:cNvSpPr/>
          <p:nvPr/>
        </p:nvSpPr>
        <p:spPr>
          <a:xfrm>
            <a:off x="3200400" y="2468880"/>
            <a:ext cx="2011680" cy="256032"/>
          </a:xfrm>
          <a:prstGeom prst="rect">
            <a:avLst/>
          </a:prstGeom>
          <a:noFill/>
          <a:ln/>
        </p:spPr>
        <p:txBody>
          <a:bodyPr wrap="square" lIns="0" tIns="0" rIns="0" bIns="0"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+21% growth</a:t>
            </a:r>
            <a:endParaRPr lang="en-US" sz="1000" dirty="0"/>
          </a:p>
        </p:txBody>
      </p:sp>
      <p:sp>
        <p:nvSpPr>
          <p:cNvPr id="14" name="Shape 12"/>
          <p:cNvSpPr/>
          <p:nvPr/>
        </p:nvSpPr>
        <p:spPr>
          <a:xfrm>
            <a:off x="6126480" y="1417320"/>
            <a:ext cx="2011680" cy="1371600"/>
          </a:xfrm>
          <a:prstGeom prst="rect">
            <a:avLst/>
          </a:prstGeom>
          <a:solidFill>
            <a:srgbClr val="E8F4FD"/>
          </a:solidFill>
          <a:ln w="12700">
            <a:solidFill>
              <a:srgbClr val="D0E8F5"/>
            </a:solidFill>
            <a:prstDash val="solid"/>
          </a:ln>
        </p:spPr>
      </p:sp>
      <p:sp>
        <p:nvSpPr>
          <p:cNvPr id="15" name="Text 13"/>
          <p:cNvSpPr/>
          <p:nvPr/>
        </p:nvSpPr>
        <p:spPr>
          <a:xfrm>
            <a:off x="6126480" y="1508760"/>
            <a:ext cx="2011680" cy="658368"/>
          </a:xfrm>
          <a:prstGeom prst="rect">
            <a:avLst/>
          </a:prstGeom>
          <a:noFill/>
          <a:ln/>
        </p:spPr>
        <p:txBody>
          <a:bodyPr wrap="square" lIns="0" tIns="0" rIns="0" bIns="0" rtlCol="0" anchor="ctr"/>
          <a:lstStyle/>
          <a:p>
            <a:pPr marL="0" indent="0" algn="ctr">
              <a:buNone/>
            </a:pPr>
            <a:r>
              <a:rPr lang="en-US" sz="3600" b="1" dirty="0">
                <a:solidFill>
                  <a:srgbClr val="2E6DAD"/>
                </a:solidFill>
                <a:latin typeface="Calibri" pitchFamily="34" charset="0"/>
                <a:ea typeface="Calibri" pitchFamily="34" charset="-122"/>
                <a:cs typeface="Calibri" pitchFamily="34" charset="-120"/>
              </a:rPr>
              <a:t>110M+</a:t>
            </a:r>
            <a:endParaRPr lang="en-US" sz="3600" dirty="0"/>
          </a:p>
        </p:txBody>
      </p:sp>
      <p:sp>
        <p:nvSpPr>
          <p:cNvPr id="16" name="Text 14"/>
          <p:cNvSpPr/>
          <p:nvPr/>
        </p:nvSpPr>
        <p:spPr>
          <a:xfrm>
            <a:off x="6126480" y="2148840"/>
            <a:ext cx="2011680" cy="320040"/>
          </a:xfrm>
          <a:prstGeom prst="rect">
            <a:avLst/>
          </a:prstGeom>
          <a:noFill/>
          <a:ln/>
        </p:spPr>
        <p:txBody>
          <a:bodyPr wrap="square" lIns="0" tIns="0" rIns="0" bIns="0"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Filipinos using</a:t>
            </a:r>
            <a:endParaRPr lang="en-US" sz="1200" dirty="0"/>
          </a:p>
          <a:p>
            <a:pPr marL="0" indent="0" algn="ctr">
              <a:buNone/>
            </a:pPr>
            <a:r>
              <a:rPr lang="en-US" sz="1200" b="1" dirty="0">
                <a:solidFill>
                  <a:srgbClr val="555555"/>
                </a:solidFill>
                <a:latin typeface="Calibri" pitchFamily="34" charset="0"/>
                <a:ea typeface="Calibri" pitchFamily="34" charset="-122"/>
                <a:cs typeface="Calibri" pitchFamily="34" charset="-120"/>
              </a:rPr>
              <a:t>digital payments</a:t>
            </a:r>
            <a:endParaRPr lang="en-US" sz="1200" dirty="0"/>
          </a:p>
        </p:txBody>
      </p:sp>
      <p:sp>
        <p:nvSpPr>
          <p:cNvPr id="17" name="Text 15"/>
          <p:cNvSpPr/>
          <p:nvPr/>
        </p:nvSpPr>
        <p:spPr>
          <a:xfrm>
            <a:off x="6126480" y="2468880"/>
            <a:ext cx="2011680" cy="256032"/>
          </a:xfrm>
          <a:prstGeom prst="rect">
            <a:avLst/>
          </a:prstGeom>
          <a:noFill/>
          <a:ln/>
        </p:spPr>
        <p:txBody>
          <a:bodyPr wrap="square" lIns="0" tIns="0" rIns="0" bIns="0"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BSP flagged as</a:t>
            </a:r>
            <a:endParaRPr lang="en-US" sz="1000" dirty="0"/>
          </a:p>
          <a:p>
            <a:pPr marL="0" indent="0" algn="ctr">
              <a:buNone/>
            </a:pPr>
            <a:r>
              <a:rPr lang="en-US" sz="1000" dirty="0">
                <a:solidFill>
                  <a:srgbClr val="AAAAAA"/>
                </a:solidFill>
                <a:latin typeface="Calibri" pitchFamily="34" charset="0"/>
                <a:ea typeface="Calibri" pitchFamily="34" charset="-122"/>
                <a:cs typeface="Calibri" pitchFamily="34" charset="-120"/>
              </a:rPr>
              <a:t>systemic risk</a:t>
            </a:r>
            <a:endParaRPr lang="en-US" sz="1000" dirty="0"/>
          </a:p>
        </p:txBody>
      </p:sp>
      <p:sp>
        <p:nvSpPr>
          <p:cNvPr id="18" name="Shape 16"/>
          <p:cNvSpPr/>
          <p:nvPr/>
        </p:nvSpPr>
        <p:spPr>
          <a:xfrm>
            <a:off x="274320" y="2926080"/>
            <a:ext cx="8595360" cy="1783080"/>
          </a:xfrm>
          <a:prstGeom prst="rect">
            <a:avLst/>
          </a:prstGeom>
          <a:solidFill>
            <a:srgbClr val="E8F4FD"/>
          </a:solidFill>
          <a:ln w="12700">
            <a:solidFill>
              <a:srgbClr val="D0E8F5"/>
            </a:solidFill>
            <a:prstDash val="solid"/>
          </a:ln>
        </p:spPr>
      </p:sp>
      <p:sp>
        <p:nvSpPr>
          <p:cNvPr id="19" name="Text 17"/>
          <p:cNvSpPr/>
          <p:nvPr/>
        </p:nvSpPr>
        <p:spPr>
          <a:xfrm>
            <a:off x="457200" y="3017520"/>
            <a:ext cx="822960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Why existing systems are failing:</a:t>
            </a:r>
            <a:endParaRPr lang="en-US" sz="1300" dirty="0"/>
          </a:p>
        </p:txBody>
      </p:sp>
      <p:sp>
        <p:nvSpPr>
          <p:cNvPr id="20" name="Text 18"/>
          <p:cNvSpPr/>
          <p:nvPr/>
        </p:nvSpPr>
        <p:spPr>
          <a:xfrm>
            <a:off x="457200" y="3401568"/>
            <a:ext cx="1463040" cy="365760"/>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Rule-based systems: </a:t>
            </a:r>
            <a:endParaRPr lang="en-US" sz="1100" dirty="0"/>
          </a:p>
        </p:txBody>
      </p:sp>
      <p:sp>
        <p:nvSpPr>
          <p:cNvPr id="21" name="Text 19"/>
          <p:cNvSpPr/>
          <p:nvPr/>
        </p:nvSpPr>
        <p:spPr>
          <a:xfrm>
            <a:off x="1920240" y="3401568"/>
            <a:ext cx="2651760" cy="36576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Only catch known fraud patterns — criminals adapt faster than rules can be updated</a:t>
            </a:r>
            <a:endParaRPr lang="en-US" sz="1100" dirty="0"/>
          </a:p>
        </p:txBody>
      </p:sp>
      <p:sp>
        <p:nvSpPr>
          <p:cNvPr id="22" name="Text 20"/>
          <p:cNvSpPr/>
          <p:nvPr/>
        </p:nvSpPr>
        <p:spPr>
          <a:xfrm>
            <a:off x="457200" y="3822192"/>
            <a:ext cx="1463040" cy="365760"/>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Manual review: </a:t>
            </a:r>
            <a:endParaRPr lang="en-US" sz="1100" dirty="0"/>
          </a:p>
        </p:txBody>
      </p:sp>
      <p:sp>
        <p:nvSpPr>
          <p:cNvPr id="23" name="Text 21"/>
          <p:cNvSpPr/>
          <p:nvPr/>
        </p:nvSpPr>
        <p:spPr>
          <a:xfrm>
            <a:off x="1920240" y="3822192"/>
            <a:ext cx="2651760" cy="36576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Cannot scale — transaction volumes grow faster than review teams can handle</a:t>
            </a:r>
            <a:endParaRPr lang="en-US" sz="1100" dirty="0"/>
          </a:p>
        </p:txBody>
      </p:sp>
      <p:sp>
        <p:nvSpPr>
          <p:cNvPr id="24" name="Text 22"/>
          <p:cNvSpPr/>
          <p:nvPr/>
        </p:nvSpPr>
        <p:spPr>
          <a:xfrm>
            <a:off x="4846320" y="3401568"/>
            <a:ext cx="1463040" cy="365760"/>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Over-blocking: </a:t>
            </a:r>
            <a:endParaRPr lang="en-US" sz="1100" dirty="0"/>
          </a:p>
        </p:txBody>
      </p:sp>
      <p:sp>
        <p:nvSpPr>
          <p:cNvPr id="25" name="Text 23"/>
          <p:cNvSpPr/>
          <p:nvPr/>
        </p:nvSpPr>
        <p:spPr>
          <a:xfrm>
            <a:off x="6309360" y="3401568"/>
            <a:ext cx="2651760" cy="36576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Blocking legitimate customers creates churn — 1 in 5 customers never return after a false decline</a:t>
            </a:r>
            <a:endParaRPr lang="en-US" sz="1100" dirty="0"/>
          </a:p>
        </p:txBody>
      </p:sp>
      <p:sp>
        <p:nvSpPr>
          <p:cNvPr id="26" name="Text 24"/>
          <p:cNvSpPr/>
          <p:nvPr/>
        </p:nvSpPr>
        <p:spPr>
          <a:xfrm>
            <a:off x="4846320" y="3822192"/>
            <a:ext cx="1463040" cy="365760"/>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Under-detection: </a:t>
            </a:r>
            <a:endParaRPr lang="en-US" sz="1100" dirty="0"/>
          </a:p>
        </p:txBody>
      </p:sp>
      <p:sp>
        <p:nvSpPr>
          <p:cNvPr id="27" name="Text 25"/>
          <p:cNvSpPr/>
          <p:nvPr/>
        </p:nvSpPr>
        <p:spPr>
          <a:xfrm>
            <a:off x="6309360" y="3822192"/>
            <a:ext cx="2651760" cy="36576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Missed fraud creates financial loss AND destroys customer trust when it goes undetected</a:t>
            </a:r>
            <a:endParaRPr lang="en-US" sz="1100" dirty="0"/>
          </a:p>
        </p:txBody>
      </p:sp>
      <p:sp>
        <p:nvSpPr>
          <p:cNvPr id="28" name="Text 2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Our Approach: Machine Learning Changes the Game</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From fixed rules to adaptive learning — the model improves as data grows</a:t>
            </a:r>
            <a:endParaRPr lang="en-US" sz="1300" dirty="0"/>
          </a:p>
        </p:txBody>
      </p:sp>
      <p:sp>
        <p:nvSpPr>
          <p:cNvPr id="6" name="Shape 4"/>
          <p:cNvSpPr/>
          <p:nvPr/>
        </p:nvSpPr>
        <p:spPr>
          <a:xfrm>
            <a:off x="274320" y="1417320"/>
            <a:ext cx="2788920" cy="2560320"/>
          </a:xfrm>
          <a:prstGeom prst="rect">
            <a:avLst/>
          </a:prstGeom>
          <a:solidFill>
            <a:srgbClr val="E8F4FD"/>
          </a:solidFill>
          <a:ln w="12700">
            <a:solidFill>
              <a:srgbClr val="D0E8F5"/>
            </a:solidFill>
            <a:prstDash val="solid"/>
          </a:ln>
        </p:spPr>
      </p:sp>
      <p:sp>
        <p:nvSpPr>
          <p:cNvPr id="7" name="Shape 5"/>
          <p:cNvSpPr/>
          <p:nvPr/>
        </p:nvSpPr>
        <p:spPr>
          <a:xfrm>
            <a:off x="274320" y="1417320"/>
            <a:ext cx="2788920" cy="548640"/>
          </a:xfrm>
          <a:prstGeom prst="rect">
            <a:avLst/>
          </a:prstGeom>
          <a:solidFill>
            <a:srgbClr val="1A3A5C"/>
          </a:solidFill>
          <a:ln/>
        </p:spPr>
      </p:sp>
      <p:sp>
        <p:nvSpPr>
          <p:cNvPr id="8" name="Text 6"/>
          <p:cNvSpPr/>
          <p:nvPr/>
        </p:nvSpPr>
        <p:spPr>
          <a:xfrm>
            <a:off x="274320" y="1417320"/>
            <a:ext cx="548640" cy="548640"/>
          </a:xfrm>
          <a:prstGeom prst="rect">
            <a:avLst/>
          </a:prstGeom>
          <a:noFill/>
          <a:ln/>
        </p:spPr>
        <p:txBody>
          <a:bodyPr wrap="square" lIns="0" tIns="0" rIns="0" bIns="0" rtlCol="0" anchor="ctr"/>
          <a:lstStyle/>
          <a:p>
            <a:pPr marL="0" indent="0" algn="ctr">
              <a:buNone/>
            </a:pPr>
            <a:r>
              <a:rPr lang="en-US" sz="2200" b="1" dirty="0">
                <a:solidFill>
                  <a:srgbClr val="A8C8E8"/>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822960" y="1417320"/>
            <a:ext cx="210312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Learn from History</a:t>
            </a:r>
            <a:endParaRPr lang="en-US" sz="1300" dirty="0"/>
          </a:p>
        </p:txBody>
      </p:sp>
      <p:sp>
        <p:nvSpPr>
          <p:cNvPr id="10" name="Text 8"/>
          <p:cNvSpPr/>
          <p:nvPr/>
        </p:nvSpPr>
        <p:spPr>
          <a:xfrm>
            <a:off x="457200" y="2057400"/>
            <a:ext cx="2423160" cy="18288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Train on 283,726 real transactions — both fraud and legitimate — to learn what distinguishes them at a level no human analyst could detect manually</a:t>
            </a:r>
            <a:endParaRPr lang="en-US" sz="1200" dirty="0"/>
          </a:p>
        </p:txBody>
      </p:sp>
      <p:sp>
        <p:nvSpPr>
          <p:cNvPr id="11" name="Shape 9"/>
          <p:cNvSpPr/>
          <p:nvPr/>
        </p:nvSpPr>
        <p:spPr>
          <a:xfrm>
            <a:off x="3246120" y="1417320"/>
            <a:ext cx="2788920" cy="2560320"/>
          </a:xfrm>
          <a:prstGeom prst="rect">
            <a:avLst/>
          </a:prstGeom>
          <a:solidFill>
            <a:srgbClr val="E8F4FD"/>
          </a:solidFill>
          <a:ln w="12700">
            <a:solidFill>
              <a:srgbClr val="D0E8F5"/>
            </a:solidFill>
            <a:prstDash val="solid"/>
          </a:ln>
        </p:spPr>
      </p:sp>
      <p:sp>
        <p:nvSpPr>
          <p:cNvPr id="12" name="Shape 10"/>
          <p:cNvSpPr/>
          <p:nvPr/>
        </p:nvSpPr>
        <p:spPr>
          <a:xfrm>
            <a:off x="3246120" y="1417320"/>
            <a:ext cx="2788920" cy="548640"/>
          </a:xfrm>
          <a:prstGeom prst="rect">
            <a:avLst/>
          </a:prstGeom>
          <a:solidFill>
            <a:srgbClr val="1A3A5C"/>
          </a:solidFill>
          <a:ln/>
        </p:spPr>
      </p:sp>
      <p:sp>
        <p:nvSpPr>
          <p:cNvPr id="13" name="Text 11"/>
          <p:cNvSpPr/>
          <p:nvPr/>
        </p:nvSpPr>
        <p:spPr>
          <a:xfrm>
            <a:off x="3246120" y="1417320"/>
            <a:ext cx="548640" cy="548640"/>
          </a:xfrm>
          <a:prstGeom prst="rect">
            <a:avLst/>
          </a:prstGeom>
          <a:noFill/>
          <a:ln/>
        </p:spPr>
        <p:txBody>
          <a:bodyPr wrap="square" lIns="0" tIns="0" rIns="0" bIns="0" rtlCol="0" anchor="ctr"/>
          <a:lstStyle/>
          <a:p>
            <a:pPr marL="0" indent="0" algn="ctr">
              <a:buNone/>
            </a:pPr>
            <a:r>
              <a:rPr lang="en-US" sz="2200" b="1" dirty="0">
                <a:solidFill>
                  <a:srgbClr val="A8C8E8"/>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3794760" y="1417320"/>
            <a:ext cx="210312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Detect New Patterns</a:t>
            </a:r>
            <a:endParaRPr lang="en-US" sz="1300" dirty="0"/>
          </a:p>
        </p:txBody>
      </p:sp>
      <p:sp>
        <p:nvSpPr>
          <p:cNvPr id="15" name="Text 13"/>
          <p:cNvSpPr/>
          <p:nvPr/>
        </p:nvSpPr>
        <p:spPr>
          <a:xfrm>
            <a:off x="3429000" y="2057400"/>
            <a:ext cx="2423160" cy="18288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Unlike rule-based systems, the ML model identifies fraud it has never seen before — by recognising subtle deviations from normal behaviour</a:t>
            </a:r>
            <a:endParaRPr lang="en-US" sz="1200" dirty="0"/>
          </a:p>
        </p:txBody>
      </p:sp>
      <p:sp>
        <p:nvSpPr>
          <p:cNvPr id="16" name="Shape 14"/>
          <p:cNvSpPr/>
          <p:nvPr/>
        </p:nvSpPr>
        <p:spPr>
          <a:xfrm>
            <a:off x="6217920" y="1417320"/>
            <a:ext cx="2788920" cy="2560320"/>
          </a:xfrm>
          <a:prstGeom prst="rect">
            <a:avLst/>
          </a:prstGeom>
          <a:solidFill>
            <a:srgbClr val="E8F4FD"/>
          </a:solidFill>
          <a:ln w="12700">
            <a:solidFill>
              <a:srgbClr val="D0E8F5"/>
            </a:solidFill>
            <a:prstDash val="solid"/>
          </a:ln>
        </p:spPr>
      </p:sp>
      <p:sp>
        <p:nvSpPr>
          <p:cNvPr id="17" name="Shape 15"/>
          <p:cNvSpPr/>
          <p:nvPr/>
        </p:nvSpPr>
        <p:spPr>
          <a:xfrm>
            <a:off x="6217920" y="1417320"/>
            <a:ext cx="2788920" cy="548640"/>
          </a:xfrm>
          <a:prstGeom prst="rect">
            <a:avLst/>
          </a:prstGeom>
          <a:solidFill>
            <a:srgbClr val="1A3A5C"/>
          </a:solidFill>
          <a:ln/>
        </p:spPr>
      </p:sp>
      <p:sp>
        <p:nvSpPr>
          <p:cNvPr id="18" name="Text 16"/>
          <p:cNvSpPr/>
          <p:nvPr/>
        </p:nvSpPr>
        <p:spPr>
          <a:xfrm>
            <a:off x="6217920" y="1417320"/>
            <a:ext cx="548640" cy="548640"/>
          </a:xfrm>
          <a:prstGeom prst="rect">
            <a:avLst/>
          </a:prstGeom>
          <a:noFill/>
          <a:ln/>
        </p:spPr>
        <p:txBody>
          <a:bodyPr wrap="square" lIns="0" tIns="0" rIns="0" bIns="0" rtlCol="0" anchor="ctr"/>
          <a:lstStyle/>
          <a:p>
            <a:pPr marL="0" indent="0" algn="ctr">
              <a:buNone/>
            </a:pPr>
            <a:r>
              <a:rPr lang="en-US" sz="2200" b="1" dirty="0">
                <a:solidFill>
                  <a:srgbClr val="A8C8E8"/>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6766560" y="1417320"/>
            <a:ext cx="2103120" cy="5486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Explain Every Decision</a:t>
            </a:r>
            <a:endParaRPr lang="en-US" sz="1300" dirty="0"/>
          </a:p>
        </p:txBody>
      </p:sp>
      <p:sp>
        <p:nvSpPr>
          <p:cNvPr id="20" name="Text 18"/>
          <p:cNvSpPr/>
          <p:nvPr/>
        </p:nvSpPr>
        <p:spPr>
          <a:xfrm>
            <a:off x="6400800" y="2057400"/>
            <a:ext cx="2423160" cy="18288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SHAP technology generates a clear explanation for every flagged transaction — enabling compliance teams to audit and justify each decision</a:t>
            </a:r>
            <a:endParaRPr lang="en-US" sz="1200" dirty="0"/>
          </a:p>
        </p:txBody>
      </p:sp>
      <p:sp>
        <p:nvSpPr>
          <p:cNvPr id="21" name="Shape 19"/>
          <p:cNvSpPr/>
          <p:nvPr/>
        </p:nvSpPr>
        <p:spPr>
          <a:xfrm>
            <a:off x="274320" y="4160520"/>
            <a:ext cx="8595360" cy="502920"/>
          </a:xfrm>
          <a:prstGeom prst="rect">
            <a:avLst/>
          </a:prstGeom>
          <a:solidFill>
            <a:srgbClr val="1A3A5C"/>
          </a:solidFill>
          <a:ln/>
        </p:spPr>
      </p:sp>
      <p:sp>
        <p:nvSpPr>
          <p:cNvPr id="22" name="Text 20"/>
          <p:cNvSpPr/>
          <p:nvPr/>
        </p:nvSpPr>
        <p:spPr>
          <a:xfrm>
            <a:off x="457200" y="4224528"/>
            <a:ext cx="8229600" cy="347472"/>
          </a:xfrm>
          <a:prstGeom prst="rect">
            <a:avLst/>
          </a:prstGeom>
          <a:noFill/>
          <a:ln/>
        </p:spPr>
        <p:txBody>
          <a:bodyPr wrap="square" lIns="0" tIns="0" rIns="0" bIns="0" rtlCol="0" anchor="ctr"/>
          <a:lstStyle/>
          <a:p>
            <a:pPr marL="0" indent="0" algn="ctr">
              <a:buNone/>
            </a:pPr>
            <a:r>
              <a:rPr lang="en-US" sz="1100" dirty="0">
                <a:solidFill>
                  <a:srgbClr val="A8C8E8"/>
                </a:solidFill>
                <a:latin typeface="Calibri" pitchFamily="34" charset="0"/>
                <a:ea typeface="Calibri" pitchFamily="34" charset="-122"/>
                <a:cs typeface="Calibri" pitchFamily="34" charset="-120"/>
              </a:rPr>
              <a:t>Traditional Rules: Static, exploitable, require manual updates  |  ML Model: Adaptive, self-improving, handles unseen fraud patterns</a:t>
            </a:r>
            <a:endParaRPr lang="en-US" sz="1100" dirty="0"/>
          </a:p>
        </p:txBody>
      </p:sp>
      <p:sp>
        <p:nvSpPr>
          <p:cNvPr id="23" name="Text 21"/>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We Built &amp; How</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End-to-end ML pipeline from raw data to production-ready model</a:t>
            </a:r>
            <a:endParaRPr lang="en-US" sz="1300" dirty="0"/>
          </a:p>
        </p:txBody>
      </p:sp>
      <p:sp>
        <p:nvSpPr>
          <p:cNvPr id="6" name="Shape 4"/>
          <p:cNvSpPr/>
          <p:nvPr/>
        </p:nvSpPr>
        <p:spPr>
          <a:xfrm>
            <a:off x="228600" y="1417320"/>
            <a:ext cx="2011680" cy="2286000"/>
          </a:xfrm>
          <a:prstGeom prst="rect">
            <a:avLst/>
          </a:prstGeom>
          <a:solidFill>
            <a:srgbClr val="E8F4FD"/>
          </a:solidFill>
          <a:ln w="12700">
            <a:solidFill>
              <a:srgbClr val="D0E8F5"/>
            </a:solidFill>
            <a:prstDash val="solid"/>
          </a:ln>
        </p:spPr>
      </p:sp>
      <p:sp>
        <p:nvSpPr>
          <p:cNvPr id="7" name="Shape 5"/>
          <p:cNvSpPr/>
          <p:nvPr/>
        </p:nvSpPr>
        <p:spPr>
          <a:xfrm>
            <a:off x="228600" y="1417320"/>
            <a:ext cx="2011680" cy="502920"/>
          </a:xfrm>
          <a:prstGeom prst="rect">
            <a:avLst/>
          </a:prstGeom>
          <a:solidFill>
            <a:srgbClr val="2E6DAD"/>
          </a:solidFill>
          <a:ln/>
        </p:spPr>
      </p:sp>
      <p:sp>
        <p:nvSpPr>
          <p:cNvPr id="8" name="Text 6"/>
          <p:cNvSpPr/>
          <p:nvPr/>
        </p:nvSpPr>
        <p:spPr>
          <a:xfrm>
            <a:off x="228600" y="141732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Cleaning</a:t>
            </a:r>
            <a:endParaRPr lang="en-US" sz="1300" dirty="0"/>
          </a:p>
        </p:txBody>
      </p:sp>
      <p:sp>
        <p:nvSpPr>
          <p:cNvPr id="9" name="Text 7"/>
          <p:cNvSpPr/>
          <p:nvPr/>
        </p:nvSpPr>
        <p:spPr>
          <a:xfrm>
            <a:off x="320040" y="2011680"/>
            <a:ext cx="1828800" cy="155448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284,807 transactions</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1,081 duplicates removed</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Robust scaling applied</a:t>
            </a:r>
            <a:endParaRPr lang="en-US" sz="1200" dirty="0"/>
          </a:p>
        </p:txBody>
      </p:sp>
      <p:sp>
        <p:nvSpPr>
          <p:cNvPr id="10" name="Text 8"/>
          <p:cNvSpPr/>
          <p:nvPr/>
        </p:nvSpPr>
        <p:spPr>
          <a:xfrm>
            <a:off x="2103120" y="2194560"/>
            <a:ext cx="274320" cy="457200"/>
          </a:xfrm>
          <a:prstGeom prst="rect">
            <a:avLst/>
          </a:prstGeom>
          <a:noFill/>
          <a:ln/>
        </p:spPr>
        <p:txBody>
          <a:bodyPr wrap="square" lIns="0" tIns="0" rIns="0" bIns="0" rtlCol="0" anchor="ctr"/>
          <a:lstStyle/>
          <a:p>
            <a:pPr marL="0" indent="0" algn="ctr">
              <a:buNone/>
            </a:pPr>
            <a:r>
              <a:rPr lang="en-US" sz="2000" b="1" dirty="0">
                <a:solidFill>
                  <a:srgbClr val="2E6DAD"/>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468880" y="1417320"/>
            <a:ext cx="2011680" cy="2286000"/>
          </a:xfrm>
          <a:prstGeom prst="rect">
            <a:avLst/>
          </a:prstGeom>
          <a:solidFill>
            <a:srgbClr val="E8F4FD"/>
          </a:solidFill>
          <a:ln w="12700">
            <a:solidFill>
              <a:srgbClr val="D0E8F5"/>
            </a:solidFill>
            <a:prstDash val="solid"/>
          </a:ln>
        </p:spPr>
      </p:sp>
      <p:sp>
        <p:nvSpPr>
          <p:cNvPr id="12" name="Shape 10"/>
          <p:cNvSpPr/>
          <p:nvPr/>
        </p:nvSpPr>
        <p:spPr>
          <a:xfrm>
            <a:off x="2468880" y="1417320"/>
            <a:ext cx="2011680" cy="502920"/>
          </a:xfrm>
          <a:prstGeom prst="rect">
            <a:avLst/>
          </a:prstGeom>
          <a:solidFill>
            <a:srgbClr val="2E6DAD"/>
          </a:solidFill>
          <a:ln/>
        </p:spPr>
      </p:sp>
      <p:sp>
        <p:nvSpPr>
          <p:cNvPr id="13" name="Text 11"/>
          <p:cNvSpPr/>
          <p:nvPr/>
        </p:nvSpPr>
        <p:spPr>
          <a:xfrm>
            <a:off x="2468880" y="141732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14" name="Text 12"/>
          <p:cNvSpPr/>
          <p:nvPr/>
        </p:nvSpPr>
        <p:spPr>
          <a:xfrm>
            <a:off x="2560320" y="2011680"/>
            <a:ext cx="1828800" cy="155448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15 key features selected</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from 32 candidates</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53% dimensionality reduction</a:t>
            </a:r>
            <a:endParaRPr lang="en-US" sz="1200" dirty="0"/>
          </a:p>
        </p:txBody>
      </p:sp>
      <p:sp>
        <p:nvSpPr>
          <p:cNvPr id="15" name="Text 13"/>
          <p:cNvSpPr/>
          <p:nvPr/>
        </p:nvSpPr>
        <p:spPr>
          <a:xfrm>
            <a:off x="4343400" y="2194560"/>
            <a:ext cx="274320" cy="457200"/>
          </a:xfrm>
          <a:prstGeom prst="rect">
            <a:avLst/>
          </a:prstGeom>
          <a:noFill/>
          <a:ln/>
        </p:spPr>
        <p:txBody>
          <a:bodyPr wrap="square" lIns="0" tIns="0" rIns="0" bIns="0" rtlCol="0" anchor="ctr"/>
          <a:lstStyle/>
          <a:p>
            <a:pPr marL="0" indent="0" algn="ctr">
              <a:buNone/>
            </a:pPr>
            <a:r>
              <a:rPr lang="en-US" sz="2000" b="1" dirty="0">
                <a:solidFill>
                  <a:srgbClr val="2E6DAD"/>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4709160" y="1417320"/>
            <a:ext cx="2011680" cy="2286000"/>
          </a:xfrm>
          <a:prstGeom prst="rect">
            <a:avLst/>
          </a:prstGeom>
          <a:solidFill>
            <a:srgbClr val="E8F4FD"/>
          </a:solidFill>
          <a:ln w="12700">
            <a:solidFill>
              <a:srgbClr val="D0E8F5"/>
            </a:solidFill>
            <a:prstDash val="solid"/>
          </a:ln>
        </p:spPr>
      </p:sp>
      <p:sp>
        <p:nvSpPr>
          <p:cNvPr id="17" name="Shape 15"/>
          <p:cNvSpPr/>
          <p:nvPr/>
        </p:nvSpPr>
        <p:spPr>
          <a:xfrm>
            <a:off x="4709160" y="1417320"/>
            <a:ext cx="2011680" cy="502920"/>
          </a:xfrm>
          <a:prstGeom prst="rect">
            <a:avLst/>
          </a:prstGeom>
          <a:solidFill>
            <a:srgbClr val="2E6DAD"/>
          </a:solidFill>
          <a:ln/>
        </p:spPr>
      </p:sp>
      <p:sp>
        <p:nvSpPr>
          <p:cNvPr id="18" name="Text 16"/>
          <p:cNvSpPr/>
          <p:nvPr/>
        </p:nvSpPr>
        <p:spPr>
          <a:xfrm>
            <a:off x="4709160" y="141732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Training</a:t>
            </a:r>
            <a:endParaRPr lang="en-US" sz="1300" dirty="0"/>
          </a:p>
        </p:txBody>
      </p:sp>
      <p:sp>
        <p:nvSpPr>
          <p:cNvPr id="19" name="Text 17"/>
          <p:cNvSpPr/>
          <p:nvPr/>
        </p:nvSpPr>
        <p:spPr>
          <a:xfrm>
            <a:off x="4800600" y="2011680"/>
            <a:ext cx="1828800" cy="155448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4 algorithms tested</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3 resampling strategies</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GridSearchCV tuning</a:t>
            </a:r>
            <a:endParaRPr lang="en-US" sz="1200" dirty="0"/>
          </a:p>
        </p:txBody>
      </p:sp>
      <p:sp>
        <p:nvSpPr>
          <p:cNvPr id="20" name="Text 18"/>
          <p:cNvSpPr/>
          <p:nvPr/>
        </p:nvSpPr>
        <p:spPr>
          <a:xfrm>
            <a:off x="6583680" y="2194560"/>
            <a:ext cx="274320" cy="457200"/>
          </a:xfrm>
          <a:prstGeom prst="rect">
            <a:avLst/>
          </a:prstGeom>
          <a:noFill/>
          <a:ln/>
        </p:spPr>
        <p:txBody>
          <a:bodyPr wrap="square" lIns="0" tIns="0" rIns="0" bIns="0" rtlCol="0" anchor="ctr"/>
          <a:lstStyle/>
          <a:p>
            <a:pPr marL="0" indent="0" algn="ctr">
              <a:buNone/>
            </a:pPr>
            <a:r>
              <a:rPr lang="en-US" sz="2000" b="1" dirty="0">
                <a:solidFill>
                  <a:srgbClr val="2E6DAD"/>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6949440" y="1417320"/>
            <a:ext cx="2011680" cy="2286000"/>
          </a:xfrm>
          <a:prstGeom prst="rect">
            <a:avLst/>
          </a:prstGeom>
          <a:solidFill>
            <a:srgbClr val="E8F4FD"/>
          </a:solidFill>
          <a:ln w="12700">
            <a:solidFill>
              <a:srgbClr val="D0E8F5"/>
            </a:solidFill>
            <a:prstDash val="solid"/>
          </a:ln>
        </p:spPr>
      </p:sp>
      <p:sp>
        <p:nvSpPr>
          <p:cNvPr id="22" name="Shape 20"/>
          <p:cNvSpPr/>
          <p:nvPr/>
        </p:nvSpPr>
        <p:spPr>
          <a:xfrm>
            <a:off x="6949440" y="1417320"/>
            <a:ext cx="2011680" cy="502920"/>
          </a:xfrm>
          <a:prstGeom prst="rect">
            <a:avLst/>
          </a:prstGeom>
          <a:solidFill>
            <a:srgbClr val="2E6DAD"/>
          </a:solidFill>
          <a:ln/>
        </p:spPr>
      </p:sp>
      <p:sp>
        <p:nvSpPr>
          <p:cNvPr id="23" name="Text 21"/>
          <p:cNvSpPr/>
          <p:nvPr/>
        </p:nvSpPr>
        <p:spPr>
          <a:xfrm>
            <a:off x="6949440" y="1417320"/>
            <a:ext cx="20116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24" name="Text 22"/>
          <p:cNvSpPr/>
          <p:nvPr/>
        </p:nvSpPr>
        <p:spPr>
          <a:xfrm>
            <a:off x="7040880" y="2011680"/>
            <a:ext cx="1828800" cy="155448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AUC-ROC 0.966</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F1-Score 0.814</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Precision 94.4%</a:t>
            </a:r>
            <a:endParaRPr lang="en-US" sz="1200" dirty="0"/>
          </a:p>
        </p:txBody>
      </p:sp>
      <p:sp>
        <p:nvSpPr>
          <p:cNvPr id="25" name="Shape 23"/>
          <p:cNvSpPr/>
          <p:nvPr/>
        </p:nvSpPr>
        <p:spPr>
          <a:xfrm>
            <a:off x="228600" y="3840480"/>
            <a:ext cx="8686800" cy="822960"/>
          </a:xfrm>
          <a:prstGeom prst="rect">
            <a:avLst/>
          </a:prstGeom>
          <a:solidFill>
            <a:srgbClr val="FFF8F0"/>
          </a:solidFill>
          <a:ln w="12700">
            <a:solidFill>
              <a:srgbClr val="D0E8F5"/>
            </a:solidFill>
            <a:prstDash val="solid"/>
          </a:ln>
        </p:spPr>
      </p:sp>
      <p:sp>
        <p:nvSpPr>
          <p:cNvPr id="26" name="Text 24"/>
          <p:cNvSpPr/>
          <p:nvPr/>
        </p:nvSpPr>
        <p:spPr>
          <a:xfrm>
            <a:off x="411480" y="3931920"/>
            <a:ext cx="1280160" cy="320040"/>
          </a:xfrm>
          <a:prstGeom prst="rect">
            <a:avLst/>
          </a:prstGeom>
          <a:noFill/>
          <a:ln/>
        </p:spPr>
        <p:txBody>
          <a:bodyPr wrap="square" lIns="0" tIns="0" rIns="0" bIns="0"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About the Data: </a:t>
            </a:r>
            <a:endParaRPr lang="en-US" sz="1200" dirty="0"/>
          </a:p>
        </p:txBody>
      </p:sp>
      <p:sp>
        <p:nvSpPr>
          <p:cNvPr id="27" name="Text 25"/>
          <p:cNvSpPr/>
          <p:nvPr/>
        </p:nvSpPr>
        <p:spPr>
          <a:xfrm>
            <a:off x="1691640" y="3931920"/>
            <a:ext cx="7040880" cy="64008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This project uses the ULB Credit Card Fraud dataset — a real-world European transaction dataset widely used in academic research. While geographic differences exist, the methodology is designed as a transferable framework directly applicable to Philippine digital payment providers once local data becomes available through BSP or banking partnerships.</a:t>
            </a:r>
            <a:endParaRPr lang="en-US" sz="1100" dirty="0"/>
          </a:p>
        </p:txBody>
      </p:sp>
      <p:sp>
        <p:nvSpPr>
          <p:cNvPr id="28" name="Text 26"/>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What the Model Delivers</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Translating technical metrics into business outcomes</a:t>
            </a:r>
            <a:endParaRPr lang="en-US" sz="1300" dirty="0"/>
          </a:p>
        </p:txBody>
      </p:sp>
      <p:sp>
        <p:nvSpPr>
          <p:cNvPr id="6" name="Shape 4"/>
          <p:cNvSpPr/>
          <p:nvPr/>
        </p:nvSpPr>
        <p:spPr>
          <a:xfrm>
            <a:off x="274320" y="1417320"/>
            <a:ext cx="2788920" cy="3291840"/>
          </a:xfrm>
          <a:prstGeom prst="rect">
            <a:avLst/>
          </a:prstGeom>
          <a:solidFill>
            <a:srgbClr val="E8F5E9"/>
          </a:solidFill>
          <a:ln w="12700">
            <a:solidFill>
              <a:srgbClr val="D0E8F5"/>
            </a:solidFill>
            <a:prstDash val="solid"/>
          </a:ln>
        </p:spPr>
      </p:sp>
      <p:sp>
        <p:nvSpPr>
          <p:cNvPr id="7" name="Shape 5"/>
          <p:cNvSpPr/>
          <p:nvPr/>
        </p:nvSpPr>
        <p:spPr>
          <a:xfrm>
            <a:off x="274320" y="1417320"/>
            <a:ext cx="2788920" cy="73152"/>
          </a:xfrm>
          <a:prstGeom prst="rect">
            <a:avLst/>
          </a:prstGeom>
          <a:solidFill>
            <a:srgbClr val="27AE60"/>
          </a:solidFill>
          <a:ln/>
        </p:spPr>
      </p:sp>
      <p:sp>
        <p:nvSpPr>
          <p:cNvPr id="8" name="Text 6"/>
          <p:cNvSpPr/>
          <p:nvPr/>
        </p:nvSpPr>
        <p:spPr>
          <a:xfrm>
            <a:off x="274320" y="1554480"/>
            <a:ext cx="2788920" cy="777240"/>
          </a:xfrm>
          <a:prstGeom prst="rect">
            <a:avLst/>
          </a:prstGeom>
          <a:noFill/>
          <a:ln/>
        </p:spPr>
        <p:txBody>
          <a:bodyPr wrap="square" lIns="0" tIns="0" rIns="0" bIns="0" rtlCol="0" anchor="ctr"/>
          <a:lstStyle/>
          <a:p>
            <a:pPr marL="0" indent="0" algn="ctr">
              <a:buNone/>
            </a:pPr>
            <a:r>
              <a:rPr lang="en-US" sz="4000" b="1" dirty="0">
                <a:solidFill>
                  <a:srgbClr val="27AE60"/>
                </a:solidFill>
                <a:latin typeface="Calibri" pitchFamily="34" charset="0"/>
                <a:ea typeface="Calibri" pitchFamily="34" charset="-122"/>
                <a:cs typeface="Calibri" pitchFamily="34" charset="-120"/>
              </a:rPr>
              <a:t>71.6%</a:t>
            </a:r>
            <a:endParaRPr lang="en-US" sz="4000" dirty="0"/>
          </a:p>
        </p:txBody>
      </p:sp>
      <p:sp>
        <p:nvSpPr>
          <p:cNvPr id="9" name="Text 7"/>
          <p:cNvSpPr/>
          <p:nvPr/>
        </p:nvSpPr>
        <p:spPr>
          <a:xfrm>
            <a:off x="365760" y="2377440"/>
            <a:ext cx="2606040" cy="41148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Fraud Detection Rate</a:t>
            </a:r>
            <a:endParaRPr lang="en-US" sz="1400" dirty="0"/>
          </a:p>
        </p:txBody>
      </p:sp>
      <p:sp>
        <p:nvSpPr>
          <p:cNvPr id="10" name="Shape 8"/>
          <p:cNvSpPr/>
          <p:nvPr/>
        </p:nvSpPr>
        <p:spPr>
          <a:xfrm>
            <a:off x="548640" y="2816352"/>
            <a:ext cx="1645920" cy="27432"/>
          </a:xfrm>
          <a:prstGeom prst="rect">
            <a:avLst/>
          </a:prstGeom>
          <a:solidFill>
            <a:srgbClr val="27AE60"/>
          </a:solidFill>
          <a:ln/>
        </p:spPr>
      </p:sp>
      <p:sp>
        <p:nvSpPr>
          <p:cNvPr id="11" name="Text 9"/>
          <p:cNvSpPr/>
          <p:nvPr/>
        </p:nvSpPr>
        <p:spPr>
          <a:xfrm>
            <a:off x="365760" y="2907792"/>
            <a:ext cx="2606040" cy="16916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The model catches over 7 in 10 fraudulent transactions that would otherwise slip through — far exceeding typical rule-based detection rates of 30–50%</a:t>
            </a:r>
            <a:endParaRPr lang="en-US" sz="1100" dirty="0"/>
          </a:p>
        </p:txBody>
      </p:sp>
      <p:sp>
        <p:nvSpPr>
          <p:cNvPr id="12" name="Shape 10"/>
          <p:cNvSpPr/>
          <p:nvPr/>
        </p:nvSpPr>
        <p:spPr>
          <a:xfrm>
            <a:off x="3246120" y="1417320"/>
            <a:ext cx="2788920" cy="3291840"/>
          </a:xfrm>
          <a:prstGeom prst="rect">
            <a:avLst/>
          </a:prstGeom>
          <a:solidFill>
            <a:srgbClr val="E8F4FD"/>
          </a:solidFill>
          <a:ln w="12700">
            <a:solidFill>
              <a:srgbClr val="D0E8F5"/>
            </a:solidFill>
            <a:prstDash val="solid"/>
          </a:ln>
        </p:spPr>
      </p:sp>
      <p:sp>
        <p:nvSpPr>
          <p:cNvPr id="13" name="Shape 11"/>
          <p:cNvSpPr/>
          <p:nvPr/>
        </p:nvSpPr>
        <p:spPr>
          <a:xfrm>
            <a:off x="3246120" y="1417320"/>
            <a:ext cx="2788920" cy="73152"/>
          </a:xfrm>
          <a:prstGeom prst="rect">
            <a:avLst/>
          </a:prstGeom>
          <a:solidFill>
            <a:srgbClr val="2E6DAD"/>
          </a:solidFill>
          <a:ln/>
        </p:spPr>
      </p:sp>
      <p:sp>
        <p:nvSpPr>
          <p:cNvPr id="14" name="Text 12"/>
          <p:cNvSpPr/>
          <p:nvPr/>
        </p:nvSpPr>
        <p:spPr>
          <a:xfrm>
            <a:off x="3246120" y="1554480"/>
            <a:ext cx="2788920" cy="777240"/>
          </a:xfrm>
          <a:prstGeom prst="rect">
            <a:avLst/>
          </a:prstGeom>
          <a:noFill/>
          <a:ln/>
        </p:spPr>
        <p:txBody>
          <a:bodyPr wrap="square" lIns="0" tIns="0" rIns="0" bIns="0" rtlCol="0" anchor="ctr"/>
          <a:lstStyle/>
          <a:p>
            <a:pPr marL="0" indent="0" algn="ctr">
              <a:buNone/>
            </a:pPr>
            <a:r>
              <a:rPr lang="en-US" sz="4000" b="1" dirty="0">
                <a:solidFill>
                  <a:srgbClr val="2E6DAD"/>
                </a:solidFill>
                <a:latin typeface="Calibri" pitchFamily="34" charset="0"/>
                <a:ea typeface="Calibri" pitchFamily="34" charset="-122"/>
                <a:cs typeface="Calibri" pitchFamily="34" charset="-120"/>
              </a:rPr>
              <a:t>94.4%</a:t>
            </a:r>
            <a:endParaRPr lang="en-US" sz="4000" dirty="0"/>
          </a:p>
        </p:txBody>
      </p:sp>
      <p:sp>
        <p:nvSpPr>
          <p:cNvPr id="15" name="Text 13"/>
          <p:cNvSpPr/>
          <p:nvPr/>
        </p:nvSpPr>
        <p:spPr>
          <a:xfrm>
            <a:off x="3337560" y="2377440"/>
            <a:ext cx="2606040" cy="41148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Precision</a:t>
            </a:r>
            <a:endParaRPr lang="en-US" sz="1400" dirty="0"/>
          </a:p>
        </p:txBody>
      </p:sp>
      <p:sp>
        <p:nvSpPr>
          <p:cNvPr id="16" name="Shape 14"/>
          <p:cNvSpPr/>
          <p:nvPr/>
        </p:nvSpPr>
        <p:spPr>
          <a:xfrm>
            <a:off x="3520440" y="2816352"/>
            <a:ext cx="1645920" cy="27432"/>
          </a:xfrm>
          <a:prstGeom prst="rect">
            <a:avLst/>
          </a:prstGeom>
          <a:solidFill>
            <a:srgbClr val="2E6DAD"/>
          </a:solidFill>
          <a:ln/>
        </p:spPr>
      </p:sp>
      <p:sp>
        <p:nvSpPr>
          <p:cNvPr id="17" name="Text 15"/>
          <p:cNvSpPr/>
          <p:nvPr/>
        </p:nvSpPr>
        <p:spPr>
          <a:xfrm>
            <a:off x="3337560" y="2907792"/>
            <a:ext cx="2606040" cy="16916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When the model flags a transaction as fraud, it is correct 94.4% of the time. Only 1 in 17 flags is a false alarm — minimising disruption to legitimate customers</a:t>
            </a:r>
            <a:endParaRPr lang="en-US" sz="1100" dirty="0"/>
          </a:p>
        </p:txBody>
      </p:sp>
      <p:sp>
        <p:nvSpPr>
          <p:cNvPr id="18" name="Shape 16"/>
          <p:cNvSpPr/>
          <p:nvPr/>
        </p:nvSpPr>
        <p:spPr>
          <a:xfrm>
            <a:off x="6217920" y="1417320"/>
            <a:ext cx="2788920" cy="3291840"/>
          </a:xfrm>
          <a:prstGeom prst="rect">
            <a:avLst/>
          </a:prstGeom>
          <a:solidFill>
            <a:srgbClr val="FFF8F0"/>
          </a:solidFill>
          <a:ln w="12700">
            <a:solidFill>
              <a:srgbClr val="D0E8F5"/>
            </a:solidFill>
            <a:prstDash val="solid"/>
          </a:ln>
        </p:spPr>
      </p:sp>
      <p:sp>
        <p:nvSpPr>
          <p:cNvPr id="19" name="Shape 17"/>
          <p:cNvSpPr/>
          <p:nvPr/>
        </p:nvSpPr>
        <p:spPr>
          <a:xfrm>
            <a:off x="6217920" y="1417320"/>
            <a:ext cx="2788920" cy="73152"/>
          </a:xfrm>
          <a:prstGeom prst="rect">
            <a:avLst/>
          </a:prstGeom>
          <a:solidFill>
            <a:srgbClr val="E67E22"/>
          </a:solidFill>
          <a:ln/>
        </p:spPr>
      </p:sp>
      <p:sp>
        <p:nvSpPr>
          <p:cNvPr id="20" name="Text 18"/>
          <p:cNvSpPr/>
          <p:nvPr/>
        </p:nvSpPr>
        <p:spPr>
          <a:xfrm>
            <a:off x="6217920" y="1554480"/>
            <a:ext cx="2788920" cy="777240"/>
          </a:xfrm>
          <a:prstGeom prst="rect">
            <a:avLst/>
          </a:prstGeom>
          <a:noFill/>
          <a:ln/>
        </p:spPr>
        <p:txBody>
          <a:bodyPr wrap="square" lIns="0" tIns="0" rIns="0" bIns="0" rtlCol="0" anchor="ctr"/>
          <a:lstStyle/>
          <a:p>
            <a:pPr marL="0" indent="0" algn="ctr">
              <a:buNone/>
            </a:pPr>
            <a:r>
              <a:rPr lang="en-US" sz="4000" b="1" dirty="0">
                <a:solidFill>
                  <a:srgbClr val="E67E22"/>
                </a:solidFill>
                <a:latin typeface="Calibri" pitchFamily="34" charset="0"/>
                <a:ea typeface="Calibri" pitchFamily="34" charset="-122"/>
                <a:cs typeface="Calibri" pitchFamily="34" charset="-120"/>
              </a:rPr>
              <a:t>~22</a:t>
            </a:r>
            <a:endParaRPr lang="en-US" sz="4000" dirty="0"/>
          </a:p>
        </p:txBody>
      </p:sp>
      <p:sp>
        <p:nvSpPr>
          <p:cNvPr id="21" name="Text 19"/>
          <p:cNvSpPr/>
          <p:nvPr/>
        </p:nvSpPr>
        <p:spPr>
          <a:xfrm>
            <a:off x="6309360" y="2377440"/>
            <a:ext cx="2606040" cy="41148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False Positives per 56K</a:t>
            </a:r>
            <a:endParaRPr lang="en-US" sz="1400" dirty="0"/>
          </a:p>
        </p:txBody>
      </p:sp>
      <p:sp>
        <p:nvSpPr>
          <p:cNvPr id="22" name="Shape 20"/>
          <p:cNvSpPr/>
          <p:nvPr/>
        </p:nvSpPr>
        <p:spPr>
          <a:xfrm>
            <a:off x="6492240" y="2816352"/>
            <a:ext cx="1645920" cy="27432"/>
          </a:xfrm>
          <a:prstGeom prst="rect">
            <a:avLst/>
          </a:prstGeom>
          <a:solidFill>
            <a:srgbClr val="E67E22"/>
          </a:solidFill>
          <a:ln/>
        </p:spPr>
      </p:sp>
      <p:sp>
        <p:nvSpPr>
          <p:cNvPr id="23" name="Text 21"/>
          <p:cNvSpPr/>
          <p:nvPr/>
        </p:nvSpPr>
        <p:spPr>
          <a:xfrm>
            <a:off x="6309360" y="2907792"/>
            <a:ext cx="2606040" cy="1691640"/>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On a 56,746-transaction test set, only 22 legitimate transactions were wrongly blocked — compared to 1,669 for the highest-recall alternative model</a:t>
            </a:r>
            <a:endParaRPr lang="en-US" sz="1100" dirty="0"/>
          </a:p>
        </p:txBody>
      </p:sp>
      <p:sp>
        <p:nvSpPr>
          <p:cNvPr id="24" name="Text 22"/>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Business Case: Estimated ROI</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Illustrative scenario — Philippine digital payments context</a:t>
            </a:r>
            <a:endParaRPr lang="en-US" sz="1300" dirty="0"/>
          </a:p>
        </p:txBody>
      </p:sp>
      <p:sp>
        <p:nvSpPr>
          <p:cNvPr id="6" name="Shape 4"/>
          <p:cNvSpPr/>
          <p:nvPr/>
        </p:nvSpPr>
        <p:spPr>
          <a:xfrm>
            <a:off x="274320" y="1417320"/>
            <a:ext cx="4023360" cy="2194560"/>
          </a:xfrm>
          <a:prstGeom prst="rect">
            <a:avLst/>
          </a:prstGeom>
          <a:solidFill>
            <a:srgbClr val="E8F4FD"/>
          </a:solidFill>
          <a:ln w="12700">
            <a:solidFill>
              <a:srgbClr val="D0E8F5"/>
            </a:solidFill>
            <a:prstDash val="solid"/>
          </a:ln>
        </p:spPr>
      </p:sp>
      <p:sp>
        <p:nvSpPr>
          <p:cNvPr id="7" name="Text 5"/>
          <p:cNvSpPr/>
          <p:nvPr/>
        </p:nvSpPr>
        <p:spPr>
          <a:xfrm>
            <a:off x="457200" y="1508760"/>
            <a:ext cx="365760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Scenario Assumptions</a:t>
            </a:r>
            <a:endParaRPr lang="en-US" sz="1300" dirty="0"/>
          </a:p>
        </p:txBody>
      </p:sp>
      <p:sp>
        <p:nvSpPr>
          <p:cNvPr id="8" name="Text 6"/>
          <p:cNvSpPr/>
          <p:nvPr/>
        </p:nvSpPr>
        <p:spPr>
          <a:xfrm>
            <a:off x="457200" y="192024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Monthly transactions:</a:t>
            </a:r>
            <a:endParaRPr lang="en-US" sz="1100" dirty="0"/>
          </a:p>
        </p:txBody>
      </p:sp>
      <p:sp>
        <p:nvSpPr>
          <p:cNvPr id="9" name="Text 7"/>
          <p:cNvSpPr/>
          <p:nvPr/>
        </p:nvSpPr>
        <p:spPr>
          <a:xfrm>
            <a:off x="2606040" y="192024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1,000,000</a:t>
            </a:r>
            <a:endParaRPr lang="en-US" sz="1100" dirty="0"/>
          </a:p>
        </p:txBody>
      </p:sp>
      <p:sp>
        <p:nvSpPr>
          <p:cNvPr id="10" name="Text 8"/>
          <p:cNvSpPr/>
          <p:nvPr/>
        </p:nvSpPr>
        <p:spPr>
          <a:xfrm>
            <a:off x="457200" y="219456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Fraud rate (0.167%):</a:t>
            </a:r>
            <a:endParaRPr lang="en-US" sz="1100" dirty="0"/>
          </a:p>
        </p:txBody>
      </p:sp>
      <p:sp>
        <p:nvSpPr>
          <p:cNvPr id="11" name="Text 9"/>
          <p:cNvSpPr/>
          <p:nvPr/>
        </p:nvSpPr>
        <p:spPr>
          <a:xfrm>
            <a:off x="2606040" y="219456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~1,670 fraud cases</a:t>
            </a:r>
            <a:endParaRPr lang="en-US" sz="1100" dirty="0"/>
          </a:p>
        </p:txBody>
      </p:sp>
      <p:sp>
        <p:nvSpPr>
          <p:cNvPr id="12" name="Text 10"/>
          <p:cNvSpPr/>
          <p:nvPr/>
        </p:nvSpPr>
        <p:spPr>
          <a:xfrm>
            <a:off x="457200" y="246888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Avg fraud value:</a:t>
            </a:r>
            <a:endParaRPr lang="en-US" sz="1100" dirty="0"/>
          </a:p>
        </p:txBody>
      </p:sp>
      <p:sp>
        <p:nvSpPr>
          <p:cNvPr id="13" name="Text 11"/>
          <p:cNvSpPr/>
          <p:nvPr/>
        </p:nvSpPr>
        <p:spPr>
          <a:xfrm>
            <a:off x="2606040" y="246888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PHP 5,000</a:t>
            </a:r>
            <a:endParaRPr lang="en-US" sz="1100" dirty="0"/>
          </a:p>
        </p:txBody>
      </p:sp>
      <p:sp>
        <p:nvSpPr>
          <p:cNvPr id="14" name="Text 12"/>
          <p:cNvSpPr/>
          <p:nvPr/>
        </p:nvSpPr>
        <p:spPr>
          <a:xfrm>
            <a:off x="457200" y="274320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Total fraud exposure:</a:t>
            </a:r>
            <a:endParaRPr lang="en-US" sz="1100" dirty="0"/>
          </a:p>
        </p:txBody>
      </p:sp>
      <p:sp>
        <p:nvSpPr>
          <p:cNvPr id="15" name="Text 13"/>
          <p:cNvSpPr/>
          <p:nvPr/>
        </p:nvSpPr>
        <p:spPr>
          <a:xfrm>
            <a:off x="2606040" y="274320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PHP 8.35M / month</a:t>
            </a:r>
            <a:endParaRPr lang="en-US" sz="1100" dirty="0"/>
          </a:p>
        </p:txBody>
      </p:sp>
      <p:sp>
        <p:nvSpPr>
          <p:cNvPr id="16" name="Text 14"/>
          <p:cNvSpPr/>
          <p:nvPr/>
        </p:nvSpPr>
        <p:spPr>
          <a:xfrm>
            <a:off x="457200" y="301752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Model detection rate:</a:t>
            </a:r>
            <a:endParaRPr lang="en-US" sz="1100" dirty="0"/>
          </a:p>
        </p:txBody>
      </p:sp>
      <p:sp>
        <p:nvSpPr>
          <p:cNvPr id="17" name="Text 15"/>
          <p:cNvSpPr/>
          <p:nvPr/>
        </p:nvSpPr>
        <p:spPr>
          <a:xfrm>
            <a:off x="2606040" y="301752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71.6%</a:t>
            </a:r>
            <a:endParaRPr lang="en-US" sz="1100" dirty="0"/>
          </a:p>
        </p:txBody>
      </p:sp>
      <p:sp>
        <p:nvSpPr>
          <p:cNvPr id="18" name="Text 16"/>
          <p:cNvSpPr/>
          <p:nvPr/>
        </p:nvSpPr>
        <p:spPr>
          <a:xfrm>
            <a:off x="457200" y="3291840"/>
            <a:ext cx="2103120" cy="256032"/>
          </a:xfrm>
          <a:prstGeom prst="rect">
            <a:avLst/>
          </a:prstGeom>
          <a:noFill/>
          <a:ln/>
        </p:spPr>
        <p:txBody>
          <a:bodyPr wrap="square" lIns="0" tIns="0" rIns="0" bIns="0" rtlCol="0" anchor="ctr"/>
          <a:lstStyle/>
          <a:p>
            <a:pPr marL="0" indent="0">
              <a:buNone/>
            </a:pPr>
            <a:r>
              <a:rPr lang="en-US" sz="1100" b="1" dirty="0">
                <a:solidFill>
                  <a:srgbClr val="2E6DAD"/>
                </a:solidFill>
                <a:latin typeface="Calibri" pitchFamily="34" charset="0"/>
                <a:ea typeface="Calibri" pitchFamily="34" charset="-122"/>
                <a:cs typeface="Calibri" pitchFamily="34" charset="-120"/>
              </a:rPr>
              <a:t>Fraud prevented:</a:t>
            </a:r>
            <a:endParaRPr lang="en-US" sz="1100" dirty="0"/>
          </a:p>
        </p:txBody>
      </p:sp>
      <p:sp>
        <p:nvSpPr>
          <p:cNvPr id="19" name="Text 17"/>
          <p:cNvSpPr/>
          <p:nvPr/>
        </p:nvSpPr>
        <p:spPr>
          <a:xfrm>
            <a:off x="2606040" y="3291840"/>
            <a:ext cx="1600200" cy="25603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~1,195 cases / month</a:t>
            </a:r>
            <a:endParaRPr lang="en-US" sz="1100" dirty="0"/>
          </a:p>
        </p:txBody>
      </p:sp>
      <p:sp>
        <p:nvSpPr>
          <p:cNvPr id="20" name="Shape 18"/>
          <p:cNvSpPr/>
          <p:nvPr/>
        </p:nvSpPr>
        <p:spPr>
          <a:xfrm>
            <a:off x="4526280" y="1417320"/>
            <a:ext cx="4343400" cy="2194560"/>
          </a:xfrm>
          <a:prstGeom prst="rect">
            <a:avLst/>
          </a:prstGeom>
          <a:solidFill>
            <a:srgbClr val="F0FFF4"/>
          </a:solidFill>
          <a:ln w="12700">
            <a:solidFill>
              <a:srgbClr val="D0E8F5"/>
            </a:solidFill>
            <a:prstDash val="solid"/>
          </a:ln>
        </p:spPr>
      </p:sp>
      <p:sp>
        <p:nvSpPr>
          <p:cNvPr id="21" name="Text 19"/>
          <p:cNvSpPr/>
          <p:nvPr/>
        </p:nvSpPr>
        <p:spPr>
          <a:xfrm>
            <a:off x="4709160" y="1508760"/>
            <a:ext cx="397764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Estimated Financial Impact</a:t>
            </a:r>
            <a:endParaRPr lang="en-US" sz="1300" dirty="0"/>
          </a:p>
        </p:txBody>
      </p:sp>
      <p:sp>
        <p:nvSpPr>
          <p:cNvPr id="22" name="Text 20"/>
          <p:cNvSpPr/>
          <p:nvPr/>
        </p:nvSpPr>
        <p:spPr>
          <a:xfrm>
            <a:off x="4709160" y="1920240"/>
            <a:ext cx="2011680" cy="347472"/>
          </a:xfrm>
          <a:prstGeom prst="rect">
            <a:avLst/>
          </a:prstGeom>
          <a:noFill/>
          <a:ln/>
        </p:spPr>
        <p:txBody>
          <a:bodyPr wrap="square" lIns="0" tIns="0" rIns="0" bIns="0"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Monthly savings:</a:t>
            </a:r>
            <a:endParaRPr lang="en-US" sz="1200" dirty="0"/>
          </a:p>
        </p:txBody>
      </p:sp>
      <p:sp>
        <p:nvSpPr>
          <p:cNvPr id="23" name="Text 21"/>
          <p:cNvSpPr/>
          <p:nvPr/>
        </p:nvSpPr>
        <p:spPr>
          <a:xfrm>
            <a:off x="6766560" y="1920240"/>
            <a:ext cx="1920240" cy="347472"/>
          </a:xfrm>
          <a:prstGeom prst="rect">
            <a:avLst/>
          </a:prstGeom>
          <a:noFill/>
          <a:ln/>
        </p:spPr>
        <p:txBody>
          <a:bodyPr wrap="square" lIns="0" tIns="0" rIns="0" bIns="0" rtlCol="0" anchor="ctr"/>
          <a:lstStyle/>
          <a:p>
            <a:pPr marL="0" indent="0" algn="r">
              <a:buNone/>
            </a:pPr>
            <a:r>
              <a:rPr lang="en-US" sz="1600" b="1" dirty="0">
                <a:solidFill>
                  <a:srgbClr val="27AE60"/>
                </a:solidFill>
                <a:latin typeface="Calibri" pitchFamily="34" charset="0"/>
                <a:ea typeface="Calibri" pitchFamily="34" charset="-122"/>
                <a:cs typeface="Calibri" pitchFamily="34" charset="-120"/>
              </a:rPr>
              <a:t>PHP 5.975M</a:t>
            </a:r>
            <a:endParaRPr lang="en-US" sz="1600" dirty="0"/>
          </a:p>
        </p:txBody>
      </p:sp>
      <p:sp>
        <p:nvSpPr>
          <p:cNvPr id="24" name="Text 22"/>
          <p:cNvSpPr/>
          <p:nvPr/>
        </p:nvSpPr>
        <p:spPr>
          <a:xfrm>
            <a:off x="4709160" y="2304288"/>
            <a:ext cx="2011680" cy="347472"/>
          </a:xfrm>
          <a:prstGeom prst="rect">
            <a:avLst/>
          </a:prstGeom>
          <a:noFill/>
          <a:ln/>
        </p:spPr>
        <p:txBody>
          <a:bodyPr wrap="square" lIns="0" tIns="0" rIns="0" bIns="0"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Annual savings:</a:t>
            </a:r>
            <a:endParaRPr lang="en-US" sz="1200" dirty="0"/>
          </a:p>
        </p:txBody>
      </p:sp>
      <p:sp>
        <p:nvSpPr>
          <p:cNvPr id="25" name="Text 23"/>
          <p:cNvSpPr/>
          <p:nvPr/>
        </p:nvSpPr>
        <p:spPr>
          <a:xfrm>
            <a:off x="6766560" y="2304288"/>
            <a:ext cx="1920240" cy="347472"/>
          </a:xfrm>
          <a:prstGeom prst="rect">
            <a:avLst/>
          </a:prstGeom>
          <a:noFill/>
          <a:ln/>
        </p:spPr>
        <p:txBody>
          <a:bodyPr wrap="square" lIns="0" tIns="0" rIns="0" bIns="0" rtlCol="0" anchor="ctr"/>
          <a:lstStyle/>
          <a:p>
            <a:pPr marL="0" indent="0" algn="r">
              <a:buNone/>
            </a:pPr>
            <a:r>
              <a:rPr lang="en-US" sz="1600" b="1" dirty="0">
                <a:solidFill>
                  <a:srgbClr val="27AE60"/>
                </a:solidFill>
                <a:latin typeface="Calibri" pitchFamily="34" charset="0"/>
                <a:ea typeface="Calibri" pitchFamily="34" charset="-122"/>
                <a:cs typeface="Calibri" pitchFamily="34" charset="-120"/>
              </a:rPr>
              <a:t>PHP 71.7M</a:t>
            </a:r>
            <a:endParaRPr lang="en-US" sz="1600" dirty="0"/>
          </a:p>
        </p:txBody>
      </p:sp>
      <p:sp>
        <p:nvSpPr>
          <p:cNvPr id="26" name="Text 24"/>
          <p:cNvSpPr/>
          <p:nvPr/>
        </p:nvSpPr>
        <p:spPr>
          <a:xfrm>
            <a:off x="4709160" y="2688336"/>
            <a:ext cx="2011680" cy="347472"/>
          </a:xfrm>
          <a:prstGeom prst="rect">
            <a:avLst/>
          </a:prstGeom>
          <a:noFill/>
          <a:ln/>
        </p:spPr>
        <p:txBody>
          <a:bodyPr wrap="square" lIns="0" tIns="0" rIns="0" bIns="0"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False positive cost:</a:t>
            </a:r>
            <a:endParaRPr lang="en-US" sz="1200" dirty="0"/>
          </a:p>
        </p:txBody>
      </p:sp>
      <p:sp>
        <p:nvSpPr>
          <p:cNvPr id="27" name="Text 25"/>
          <p:cNvSpPr/>
          <p:nvPr/>
        </p:nvSpPr>
        <p:spPr>
          <a:xfrm>
            <a:off x="6766560" y="2688336"/>
            <a:ext cx="1920240" cy="347472"/>
          </a:xfrm>
          <a:prstGeom prst="rect">
            <a:avLst/>
          </a:prstGeom>
          <a:noFill/>
          <a:ln/>
        </p:spPr>
        <p:txBody>
          <a:bodyPr wrap="square" lIns="0" tIns="0" rIns="0" bIns="0" rtlCol="0" anchor="ctr"/>
          <a:lstStyle/>
          <a:p>
            <a:pPr marL="0" indent="0" algn="r">
              <a:buNone/>
            </a:pPr>
            <a:r>
              <a:rPr lang="en-US" sz="1600" b="1" dirty="0">
                <a:solidFill>
                  <a:srgbClr val="E67E22"/>
                </a:solidFill>
                <a:latin typeface="Calibri" pitchFamily="34" charset="0"/>
                <a:ea typeface="Calibri" pitchFamily="34" charset="-122"/>
                <a:cs typeface="Calibri" pitchFamily="34" charset="-120"/>
              </a:rPr>
              <a:t>~PHP 66K/month</a:t>
            </a:r>
            <a:endParaRPr lang="en-US" sz="1600" dirty="0"/>
          </a:p>
        </p:txBody>
      </p:sp>
      <p:sp>
        <p:nvSpPr>
          <p:cNvPr id="28" name="Text 26"/>
          <p:cNvSpPr/>
          <p:nvPr/>
        </p:nvSpPr>
        <p:spPr>
          <a:xfrm>
            <a:off x="4709160" y="3072384"/>
            <a:ext cx="2011680" cy="347472"/>
          </a:xfrm>
          <a:prstGeom prst="rect">
            <a:avLst/>
          </a:prstGeom>
          <a:noFill/>
          <a:ln/>
        </p:spPr>
        <p:txBody>
          <a:bodyPr wrap="square" lIns="0" tIns="0" rIns="0" bIns="0" rtlCol="0" anchor="ctr"/>
          <a:lstStyle/>
          <a:p>
            <a:pPr marL="0" indent="0">
              <a:buNone/>
            </a:pPr>
            <a:r>
              <a:rPr lang="en-US" sz="1200" b="1" dirty="0">
                <a:solidFill>
                  <a:srgbClr val="555555"/>
                </a:solidFill>
                <a:latin typeface="Calibri" pitchFamily="34" charset="0"/>
                <a:ea typeface="Calibri" pitchFamily="34" charset="-122"/>
                <a:cs typeface="Calibri" pitchFamily="34" charset="-120"/>
              </a:rPr>
              <a:t>Net annual benefit:</a:t>
            </a:r>
            <a:endParaRPr lang="en-US" sz="1200" dirty="0"/>
          </a:p>
        </p:txBody>
      </p:sp>
      <p:sp>
        <p:nvSpPr>
          <p:cNvPr id="29" name="Text 27"/>
          <p:cNvSpPr/>
          <p:nvPr/>
        </p:nvSpPr>
        <p:spPr>
          <a:xfrm>
            <a:off x="6766560" y="3072384"/>
            <a:ext cx="1920240" cy="347472"/>
          </a:xfrm>
          <a:prstGeom prst="rect">
            <a:avLst/>
          </a:prstGeom>
          <a:noFill/>
          <a:ln/>
        </p:spPr>
        <p:txBody>
          <a:bodyPr wrap="square" lIns="0" tIns="0" rIns="0" bIns="0" rtlCol="0" anchor="ctr"/>
          <a:lstStyle/>
          <a:p>
            <a:pPr marL="0" indent="0" algn="r">
              <a:buNone/>
            </a:pPr>
            <a:r>
              <a:rPr lang="en-US" sz="1600" b="1" dirty="0">
                <a:solidFill>
                  <a:srgbClr val="27AE60"/>
                </a:solidFill>
                <a:latin typeface="Calibri" pitchFamily="34" charset="0"/>
                <a:ea typeface="Calibri" pitchFamily="34" charset="-122"/>
                <a:cs typeface="Calibri" pitchFamily="34" charset="-120"/>
              </a:rPr>
              <a:t>PHP 70.9M</a:t>
            </a:r>
            <a:endParaRPr lang="en-US" sz="1600" dirty="0"/>
          </a:p>
        </p:txBody>
      </p:sp>
      <p:sp>
        <p:nvSpPr>
          <p:cNvPr id="30" name="Shape 28"/>
          <p:cNvSpPr/>
          <p:nvPr/>
        </p:nvSpPr>
        <p:spPr>
          <a:xfrm>
            <a:off x="274320" y="3749040"/>
            <a:ext cx="8595360" cy="777240"/>
          </a:xfrm>
          <a:prstGeom prst="rect">
            <a:avLst/>
          </a:prstGeom>
          <a:solidFill>
            <a:srgbClr val="FFF8F0"/>
          </a:solidFill>
          <a:ln w="12700">
            <a:solidFill>
              <a:srgbClr val="D0E8F5"/>
            </a:solidFill>
            <a:prstDash val="solid"/>
          </a:ln>
        </p:spPr>
      </p:sp>
      <p:sp>
        <p:nvSpPr>
          <p:cNvPr id="31" name="Text 29"/>
          <p:cNvSpPr/>
          <p:nvPr/>
        </p:nvSpPr>
        <p:spPr>
          <a:xfrm>
            <a:off x="457200" y="3840480"/>
            <a:ext cx="1005840" cy="274320"/>
          </a:xfrm>
          <a:prstGeom prst="rect">
            <a:avLst/>
          </a:prstGeom>
          <a:noFill/>
          <a:ln/>
        </p:spPr>
        <p:txBody>
          <a:bodyPr wrap="square" lIns="0" tIns="0" rIns="0" bIns="0" rtlCol="0" anchor="ctr"/>
          <a:lstStyle/>
          <a:p>
            <a:pPr marL="0" indent="0">
              <a:buNone/>
            </a:pPr>
            <a:r>
              <a:rPr lang="en-US" sz="1100" b="1" dirty="0">
                <a:solidFill>
                  <a:srgbClr val="E67E22"/>
                </a:solidFill>
                <a:latin typeface="Calibri" pitchFamily="34" charset="0"/>
                <a:ea typeface="Calibri" pitchFamily="34" charset="-122"/>
                <a:cs typeface="Calibri" pitchFamily="34" charset="-120"/>
              </a:rPr>
              <a:t>Disclaimer: </a:t>
            </a:r>
            <a:endParaRPr lang="en-US" sz="1100" dirty="0"/>
          </a:p>
        </p:txBody>
      </p:sp>
      <p:sp>
        <p:nvSpPr>
          <p:cNvPr id="32" name="Text 30"/>
          <p:cNvSpPr/>
          <p:nvPr/>
        </p:nvSpPr>
        <p:spPr>
          <a:xfrm>
            <a:off x="1463040" y="3840480"/>
            <a:ext cx="7315200" cy="594360"/>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These figures are illustrative estimates based on published fraud statistics and the model's measured performance on the ULB test dataset. Actual results will depend on local fraud rates, transaction values, and operational costs. Local validation with Philippine transaction data is recommended before production deployment.</a:t>
            </a:r>
            <a:endParaRPr lang="en-US" sz="1000" dirty="0"/>
          </a:p>
        </p:txBody>
      </p:sp>
      <p:sp>
        <p:nvSpPr>
          <p:cNvPr id="33" name="Text 31"/>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Risks &amp; Responsible AI</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What we know, what we don't, and how we address it</a:t>
            </a:r>
            <a:endParaRPr lang="en-US" sz="1300" dirty="0"/>
          </a:p>
        </p:txBody>
      </p:sp>
      <p:sp>
        <p:nvSpPr>
          <p:cNvPr id="6" name="Shape 4"/>
          <p:cNvSpPr/>
          <p:nvPr/>
        </p:nvSpPr>
        <p:spPr>
          <a:xfrm>
            <a:off x="274320" y="1417320"/>
            <a:ext cx="1828800" cy="347472"/>
          </a:xfrm>
          <a:prstGeom prst="rect">
            <a:avLst/>
          </a:prstGeom>
          <a:solidFill>
            <a:srgbClr val="1A3A5C"/>
          </a:solidFill>
          <a:ln/>
        </p:spPr>
      </p:sp>
      <p:sp>
        <p:nvSpPr>
          <p:cNvPr id="7" name="Text 5"/>
          <p:cNvSpPr/>
          <p:nvPr/>
        </p:nvSpPr>
        <p:spPr>
          <a:xfrm>
            <a:off x="320040" y="1417320"/>
            <a:ext cx="17373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8" name="Shape 6"/>
          <p:cNvSpPr/>
          <p:nvPr/>
        </p:nvSpPr>
        <p:spPr>
          <a:xfrm>
            <a:off x="2148840" y="1417320"/>
            <a:ext cx="1280160" cy="347472"/>
          </a:xfrm>
          <a:prstGeom prst="rect">
            <a:avLst/>
          </a:prstGeom>
          <a:solidFill>
            <a:srgbClr val="1A3A5C"/>
          </a:solidFill>
          <a:ln/>
        </p:spPr>
      </p:sp>
      <p:sp>
        <p:nvSpPr>
          <p:cNvPr id="9" name="Text 7"/>
          <p:cNvSpPr/>
          <p:nvPr/>
        </p:nvSpPr>
        <p:spPr>
          <a:xfrm>
            <a:off x="2194560" y="141732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Impact</a:t>
            </a:r>
            <a:endParaRPr lang="en-US" sz="1100" dirty="0"/>
          </a:p>
        </p:txBody>
      </p:sp>
      <p:sp>
        <p:nvSpPr>
          <p:cNvPr id="10" name="Shape 8"/>
          <p:cNvSpPr/>
          <p:nvPr/>
        </p:nvSpPr>
        <p:spPr>
          <a:xfrm>
            <a:off x="3474720" y="1417320"/>
            <a:ext cx="1280160" cy="347472"/>
          </a:xfrm>
          <a:prstGeom prst="rect">
            <a:avLst/>
          </a:prstGeom>
          <a:solidFill>
            <a:srgbClr val="1A3A5C"/>
          </a:solidFill>
          <a:ln/>
        </p:spPr>
      </p:sp>
      <p:sp>
        <p:nvSpPr>
          <p:cNvPr id="11" name="Text 9"/>
          <p:cNvSpPr/>
          <p:nvPr/>
        </p:nvSpPr>
        <p:spPr>
          <a:xfrm>
            <a:off x="3520440" y="1417320"/>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2" name="Shape 10"/>
          <p:cNvSpPr/>
          <p:nvPr/>
        </p:nvSpPr>
        <p:spPr>
          <a:xfrm>
            <a:off x="4800600" y="1417320"/>
            <a:ext cx="4206240" cy="347472"/>
          </a:xfrm>
          <a:prstGeom prst="rect">
            <a:avLst/>
          </a:prstGeom>
          <a:solidFill>
            <a:srgbClr val="1A3A5C"/>
          </a:solidFill>
          <a:ln/>
        </p:spPr>
      </p:sp>
      <p:sp>
        <p:nvSpPr>
          <p:cNvPr id="13" name="Text 11"/>
          <p:cNvSpPr/>
          <p:nvPr/>
        </p:nvSpPr>
        <p:spPr>
          <a:xfrm>
            <a:off x="4846320" y="1417320"/>
            <a:ext cx="41148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4" name="Shape 12"/>
          <p:cNvSpPr/>
          <p:nvPr/>
        </p:nvSpPr>
        <p:spPr>
          <a:xfrm>
            <a:off x="274320" y="1810512"/>
            <a:ext cx="1828800" cy="420624"/>
          </a:xfrm>
          <a:prstGeom prst="rect">
            <a:avLst/>
          </a:prstGeom>
          <a:solidFill>
            <a:srgbClr val="FFF3E0"/>
          </a:solidFill>
          <a:ln w="6350">
            <a:solidFill>
              <a:srgbClr val="DDDDDD"/>
            </a:solidFill>
            <a:prstDash val="solid"/>
          </a:ln>
        </p:spPr>
      </p:sp>
      <p:sp>
        <p:nvSpPr>
          <p:cNvPr id="15" name="Text 13"/>
          <p:cNvSpPr/>
          <p:nvPr/>
        </p:nvSpPr>
        <p:spPr>
          <a:xfrm>
            <a:off x="320040" y="1810512"/>
            <a:ext cx="173736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False positives</a:t>
            </a:r>
            <a:endParaRPr lang="en-US" sz="1000" dirty="0"/>
          </a:p>
        </p:txBody>
      </p:sp>
      <p:sp>
        <p:nvSpPr>
          <p:cNvPr id="16" name="Shape 14"/>
          <p:cNvSpPr/>
          <p:nvPr/>
        </p:nvSpPr>
        <p:spPr>
          <a:xfrm>
            <a:off x="2148840" y="1810512"/>
            <a:ext cx="1280160" cy="420624"/>
          </a:xfrm>
          <a:prstGeom prst="rect">
            <a:avLst/>
          </a:prstGeom>
          <a:solidFill>
            <a:srgbClr val="FAFAFA"/>
          </a:solidFill>
          <a:ln w="6350">
            <a:solidFill>
              <a:srgbClr val="DDDDDD"/>
            </a:solidFill>
            <a:prstDash val="solid"/>
          </a:ln>
        </p:spPr>
      </p:sp>
      <p:sp>
        <p:nvSpPr>
          <p:cNvPr id="17" name="Text 15"/>
          <p:cNvSpPr/>
          <p:nvPr/>
        </p:nvSpPr>
        <p:spPr>
          <a:xfrm>
            <a:off x="2194560" y="1810512"/>
            <a:ext cx="1188720" cy="420624"/>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18" name="Shape 16"/>
          <p:cNvSpPr/>
          <p:nvPr/>
        </p:nvSpPr>
        <p:spPr>
          <a:xfrm>
            <a:off x="3474720" y="1810512"/>
            <a:ext cx="1280160" cy="420624"/>
          </a:xfrm>
          <a:prstGeom prst="rect">
            <a:avLst/>
          </a:prstGeom>
          <a:solidFill>
            <a:srgbClr val="FAFAFA"/>
          </a:solidFill>
          <a:ln w="6350">
            <a:solidFill>
              <a:srgbClr val="DDDDDD"/>
            </a:solidFill>
            <a:prstDash val="solid"/>
          </a:ln>
        </p:spPr>
      </p:sp>
      <p:sp>
        <p:nvSpPr>
          <p:cNvPr id="19" name="Text 17"/>
          <p:cNvSpPr/>
          <p:nvPr/>
        </p:nvSpPr>
        <p:spPr>
          <a:xfrm>
            <a:off x="3520440" y="1810512"/>
            <a:ext cx="1188720" cy="420624"/>
          </a:xfrm>
          <a:prstGeom prst="rect">
            <a:avLst/>
          </a:prstGeom>
          <a:noFill/>
          <a:ln/>
        </p:spPr>
        <p:txBody>
          <a:bodyPr wrap="square" lIns="0" tIns="0" rIns="0" bIns="0" rtlCol="0" anchor="ctr"/>
          <a:lstStyle/>
          <a:p>
            <a:pPr marL="0" indent="0" algn="ctr">
              <a:buNone/>
            </a:pPr>
            <a:r>
              <a:rPr lang="en-US" sz="1000" b="1" dirty="0">
                <a:solidFill>
                  <a:srgbClr val="27AE60"/>
                </a:solidFill>
                <a:latin typeface="Calibri" pitchFamily="34" charset="0"/>
                <a:ea typeface="Calibri" pitchFamily="34" charset="-122"/>
                <a:cs typeface="Calibri" pitchFamily="34" charset="-120"/>
              </a:rPr>
              <a:t>Low</a:t>
            </a:r>
            <a:endParaRPr lang="en-US" sz="1000" dirty="0"/>
          </a:p>
        </p:txBody>
      </p:sp>
      <p:sp>
        <p:nvSpPr>
          <p:cNvPr id="20" name="Shape 18"/>
          <p:cNvSpPr/>
          <p:nvPr/>
        </p:nvSpPr>
        <p:spPr>
          <a:xfrm>
            <a:off x="4800600" y="1810512"/>
            <a:ext cx="4206240" cy="420624"/>
          </a:xfrm>
          <a:prstGeom prst="rect">
            <a:avLst/>
          </a:prstGeom>
          <a:solidFill>
            <a:srgbClr val="FFF3E0"/>
          </a:solidFill>
          <a:ln w="6350">
            <a:solidFill>
              <a:srgbClr val="DDDDDD"/>
            </a:solidFill>
            <a:prstDash val="solid"/>
          </a:ln>
        </p:spPr>
      </p:sp>
      <p:sp>
        <p:nvSpPr>
          <p:cNvPr id="21" name="Text 19"/>
          <p:cNvSpPr/>
          <p:nvPr/>
        </p:nvSpPr>
        <p:spPr>
          <a:xfrm>
            <a:off x="4846320" y="1810512"/>
            <a:ext cx="411480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94.4% precision — only 1 in 17 flags is wrong</a:t>
            </a:r>
            <a:endParaRPr lang="en-US" sz="1000" dirty="0"/>
          </a:p>
        </p:txBody>
      </p:sp>
      <p:sp>
        <p:nvSpPr>
          <p:cNvPr id="22" name="Shape 20"/>
          <p:cNvSpPr/>
          <p:nvPr/>
        </p:nvSpPr>
        <p:spPr>
          <a:xfrm>
            <a:off x="274320" y="2249424"/>
            <a:ext cx="1828800" cy="420624"/>
          </a:xfrm>
          <a:prstGeom prst="rect">
            <a:avLst/>
          </a:prstGeom>
          <a:solidFill>
            <a:srgbClr val="FFEBEE"/>
          </a:solidFill>
          <a:ln w="6350">
            <a:solidFill>
              <a:srgbClr val="DDDDDD"/>
            </a:solidFill>
            <a:prstDash val="solid"/>
          </a:ln>
        </p:spPr>
      </p:sp>
      <p:sp>
        <p:nvSpPr>
          <p:cNvPr id="23" name="Text 21"/>
          <p:cNvSpPr/>
          <p:nvPr/>
        </p:nvSpPr>
        <p:spPr>
          <a:xfrm>
            <a:off x="320040" y="2249424"/>
            <a:ext cx="173736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Missed fraud (28.4%)</a:t>
            </a:r>
            <a:endParaRPr lang="en-US" sz="1000" dirty="0"/>
          </a:p>
        </p:txBody>
      </p:sp>
      <p:sp>
        <p:nvSpPr>
          <p:cNvPr id="24" name="Shape 22"/>
          <p:cNvSpPr/>
          <p:nvPr/>
        </p:nvSpPr>
        <p:spPr>
          <a:xfrm>
            <a:off x="2148840" y="2249424"/>
            <a:ext cx="1280160" cy="420624"/>
          </a:xfrm>
          <a:prstGeom prst="rect">
            <a:avLst/>
          </a:prstGeom>
          <a:solidFill>
            <a:srgbClr val="FAFAFA"/>
          </a:solidFill>
          <a:ln w="6350">
            <a:solidFill>
              <a:srgbClr val="DDDDDD"/>
            </a:solidFill>
            <a:prstDash val="solid"/>
          </a:ln>
        </p:spPr>
      </p:sp>
      <p:sp>
        <p:nvSpPr>
          <p:cNvPr id="25" name="Text 23"/>
          <p:cNvSpPr/>
          <p:nvPr/>
        </p:nvSpPr>
        <p:spPr>
          <a:xfrm>
            <a:off x="2194560" y="2249424"/>
            <a:ext cx="1188720" cy="420624"/>
          </a:xfrm>
          <a:prstGeom prst="rect">
            <a:avLst/>
          </a:prstGeom>
          <a:noFill/>
          <a:ln/>
        </p:spPr>
        <p:txBody>
          <a:bodyPr wrap="square" lIns="0" tIns="0" rIns="0" bIns="0" rtlCol="0" anchor="ctr"/>
          <a:lstStyle/>
          <a:p>
            <a:pPr marL="0" indent="0" algn="ctr">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26" name="Shape 24"/>
          <p:cNvSpPr/>
          <p:nvPr/>
        </p:nvSpPr>
        <p:spPr>
          <a:xfrm>
            <a:off x="3474720" y="2249424"/>
            <a:ext cx="1280160" cy="420624"/>
          </a:xfrm>
          <a:prstGeom prst="rect">
            <a:avLst/>
          </a:prstGeom>
          <a:solidFill>
            <a:srgbClr val="FAFAFA"/>
          </a:solidFill>
          <a:ln w="6350">
            <a:solidFill>
              <a:srgbClr val="DDDDDD"/>
            </a:solidFill>
            <a:prstDash val="solid"/>
          </a:ln>
        </p:spPr>
      </p:sp>
      <p:sp>
        <p:nvSpPr>
          <p:cNvPr id="27" name="Text 25"/>
          <p:cNvSpPr/>
          <p:nvPr/>
        </p:nvSpPr>
        <p:spPr>
          <a:xfrm>
            <a:off x="3520440" y="2249424"/>
            <a:ext cx="1188720" cy="420624"/>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28" name="Shape 26"/>
          <p:cNvSpPr/>
          <p:nvPr/>
        </p:nvSpPr>
        <p:spPr>
          <a:xfrm>
            <a:off x="4800600" y="2249424"/>
            <a:ext cx="4206240" cy="420624"/>
          </a:xfrm>
          <a:prstGeom prst="rect">
            <a:avLst/>
          </a:prstGeom>
          <a:solidFill>
            <a:srgbClr val="FFEBEE"/>
          </a:solidFill>
          <a:ln w="6350">
            <a:solidFill>
              <a:srgbClr val="DDDDDD"/>
            </a:solidFill>
            <a:prstDash val="solid"/>
          </a:ln>
        </p:spPr>
      </p:sp>
      <p:sp>
        <p:nvSpPr>
          <p:cNvPr id="29" name="Text 27"/>
          <p:cNvSpPr/>
          <p:nvPr/>
        </p:nvSpPr>
        <p:spPr>
          <a:xfrm>
            <a:off x="4846320" y="2249424"/>
            <a:ext cx="411480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Human review queue for borderline cases (p=0.3–0.7)</a:t>
            </a:r>
            <a:endParaRPr lang="en-US" sz="1000" dirty="0"/>
          </a:p>
        </p:txBody>
      </p:sp>
      <p:sp>
        <p:nvSpPr>
          <p:cNvPr id="30" name="Shape 28"/>
          <p:cNvSpPr/>
          <p:nvPr/>
        </p:nvSpPr>
        <p:spPr>
          <a:xfrm>
            <a:off x="274320" y="2688336"/>
            <a:ext cx="1828800" cy="420624"/>
          </a:xfrm>
          <a:prstGeom prst="rect">
            <a:avLst/>
          </a:prstGeom>
          <a:solidFill>
            <a:srgbClr val="FFEBEE"/>
          </a:solidFill>
          <a:ln w="6350">
            <a:solidFill>
              <a:srgbClr val="DDDDDD"/>
            </a:solidFill>
            <a:prstDash val="solid"/>
          </a:ln>
        </p:spPr>
      </p:sp>
      <p:sp>
        <p:nvSpPr>
          <p:cNvPr id="31" name="Text 29"/>
          <p:cNvSpPr/>
          <p:nvPr/>
        </p:nvSpPr>
        <p:spPr>
          <a:xfrm>
            <a:off x="320040" y="2688336"/>
            <a:ext cx="173736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Model drift over time</a:t>
            </a:r>
            <a:endParaRPr lang="en-US" sz="1000" dirty="0"/>
          </a:p>
        </p:txBody>
      </p:sp>
      <p:sp>
        <p:nvSpPr>
          <p:cNvPr id="32" name="Shape 30"/>
          <p:cNvSpPr/>
          <p:nvPr/>
        </p:nvSpPr>
        <p:spPr>
          <a:xfrm>
            <a:off x="2148840" y="2688336"/>
            <a:ext cx="1280160" cy="420624"/>
          </a:xfrm>
          <a:prstGeom prst="rect">
            <a:avLst/>
          </a:prstGeom>
          <a:solidFill>
            <a:srgbClr val="FAFAFA"/>
          </a:solidFill>
          <a:ln w="6350">
            <a:solidFill>
              <a:srgbClr val="DDDDDD"/>
            </a:solidFill>
            <a:prstDash val="solid"/>
          </a:ln>
        </p:spPr>
      </p:sp>
      <p:sp>
        <p:nvSpPr>
          <p:cNvPr id="33" name="Text 31"/>
          <p:cNvSpPr/>
          <p:nvPr/>
        </p:nvSpPr>
        <p:spPr>
          <a:xfrm>
            <a:off x="2194560" y="2688336"/>
            <a:ext cx="1188720" cy="420624"/>
          </a:xfrm>
          <a:prstGeom prst="rect">
            <a:avLst/>
          </a:prstGeom>
          <a:noFill/>
          <a:ln/>
        </p:spPr>
        <p:txBody>
          <a:bodyPr wrap="square" lIns="0" tIns="0" rIns="0" bIns="0" rtlCol="0" anchor="ctr"/>
          <a:lstStyle/>
          <a:p>
            <a:pPr marL="0" indent="0" algn="ctr">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34" name="Shape 32"/>
          <p:cNvSpPr/>
          <p:nvPr/>
        </p:nvSpPr>
        <p:spPr>
          <a:xfrm>
            <a:off x="3474720" y="2688336"/>
            <a:ext cx="1280160" cy="420624"/>
          </a:xfrm>
          <a:prstGeom prst="rect">
            <a:avLst/>
          </a:prstGeom>
          <a:solidFill>
            <a:srgbClr val="FAFAFA"/>
          </a:solidFill>
          <a:ln w="6350">
            <a:solidFill>
              <a:srgbClr val="DDDDDD"/>
            </a:solidFill>
            <a:prstDash val="solid"/>
          </a:ln>
        </p:spPr>
      </p:sp>
      <p:sp>
        <p:nvSpPr>
          <p:cNvPr id="35" name="Text 33"/>
          <p:cNvSpPr/>
          <p:nvPr/>
        </p:nvSpPr>
        <p:spPr>
          <a:xfrm>
            <a:off x="3520440" y="2688336"/>
            <a:ext cx="1188720" cy="420624"/>
          </a:xfrm>
          <a:prstGeom prst="rect">
            <a:avLst/>
          </a:prstGeom>
          <a:noFill/>
          <a:ln/>
        </p:spPr>
        <p:txBody>
          <a:bodyPr wrap="square" lIns="0" tIns="0" rIns="0" bIns="0" rtlCol="0" anchor="ctr"/>
          <a:lstStyle/>
          <a:p>
            <a:pPr marL="0" indent="0" algn="ctr">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36" name="Shape 34"/>
          <p:cNvSpPr/>
          <p:nvPr/>
        </p:nvSpPr>
        <p:spPr>
          <a:xfrm>
            <a:off x="4800600" y="2688336"/>
            <a:ext cx="4206240" cy="420624"/>
          </a:xfrm>
          <a:prstGeom prst="rect">
            <a:avLst/>
          </a:prstGeom>
          <a:solidFill>
            <a:srgbClr val="FFEBEE"/>
          </a:solidFill>
          <a:ln w="6350">
            <a:solidFill>
              <a:srgbClr val="DDDDDD"/>
            </a:solidFill>
            <a:prstDash val="solid"/>
          </a:ln>
        </p:spPr>
      </p:sp>
      <p:sp>
        <p:nvSpPr>
          <p:cNvPr id="37" name="Text 35"/>
          <p:cNvSpPr/>
          <p:nvPr/>
        </p:nvSpPr>
        <p:spPr>
          <a:xfrm>
            <a:off x="4846320" y="2688336"/>
            <a:ext cx="411480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Quarterly retraining + performance monitoring dashboard</a:t>
            </a:r>
            <a:endParaRPr lang="en-US" sz="1000" dirty="0"/>
          </a:p>
        </p:txBody>
      </p:sp>
      <p:sp>
        <p:nvSpPr>
          <p:cNvPr id="38" name="Shape 36"/>
          <p:cNvSpPr/>
          <p:nvPr/>
        </p:nvSpPr>
        <p:spPr>
          <a:xfrm>
            <a:off x="274320" y="3127248"/>
            <a:ext cx="1828800" cy="420624"/>
          </a:xfrm>
          <a:prstGeom prst="rect">
            <a:avLst/>
          </a:prstGeom>
          <a:solidFill>
            <a:srgbClr val="FFF3E0"/>
          </a:solidFill>
          <a:ln w="6350">
            <a:solidFill>
              <a:srgbClr val="DDDDDD"/>
            </a:solidFill>
            <a:prstDash val="solid"/>
          </a:ln>
        </p:spPr>
      </p:sp>
      <p:sp>
        <p:nvSpPr>
          <p:cNvPr id="39" name="Text 37"/>
          <p:cNvSpPr/>
          <p:nvPr/>
        </p:nvSpPr>
        <p:spPr>
          <a:xfrm>
            <a:off x="320040" y="3127248"/>
            <a:ext cx="173736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Geographic mismatch</a:t>
            </a:r>
            <a:endParaRPr lang="en-US" sz="1000" dirty="0"/>
          </a:p>
        </p:txBody>
      </p:sp>
      <p:sp>
        <p:nvSpPr>
          <p:cNvPr id="40" name="Shape 38"/>
          <p:cNvSpPr/>
          <p:nvPr/>
        </p:nvSpPr>
        <p:spPr>
          <a:xfrm>
            <a:off x="2148840" y="3127248"/>
            <a:ext cx="1280160" cy="420624"/>
          </a:xfrm>
          <a:prstGeom prst="rect">
            <a:avLst/>
          </a:prstGeom>
          <a:solidFill>
            <a:srgbClr val="FAFAFA"/>
          </a:solidFill>
          <a:ln w="6350">
            <a:solidFill>
              <a:srgbClr val="DDDDDD"/>
            </a:solidFill>
            <a:prstDash val="solid"/>
          </a:ln>
        </p:spPr>
      </p:sp>
      <p:sp>
        <p:nvSpPr>
          <p:cNvPr id="41" name="Text 39"/>
          <p:cNvSpPr/>
          <p:nvPr/>
        </p:nvSpPr>
        <p:spPr>
          <a:xfrm>
            <a:off x="2194560" y="3127248"/>
            <a:ext cx="1188720" cy="420624"/>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42" name="Shape 40"/>
          <p:cNvSpPr/>
          <p:nvPr/>
        </p:nvSpPr>
        <p:spPr>
          <a:xfrm>
            <a:off x="3474720" y="3127248"/>
            <a:ext cx="1280160" cy="420624"/>
          </a:xfrm>
          <a:prstGeom prst="rect">
            <a:avLst/>
          </a:prstGeom>
          <a:solidFill>
            <a:srgbClr val="FAFAFA"/>
          </a:solidFill>
          <a:ln w="6350">
            <a:solidFill>
              <a:srgbClr val="DDDDDD"/>
            </a:solidFill>
            <a:prstDash val="solid"/>
          </a:ln>
        </p:spPr>
      </p:sp>
      <p:sp>
        <p:nvSpPr>
          <p:cNvPr id="43" name="Text 41"/>
          <p:cNvSpPr/>
          <p:nvPr/>
        </p:nvSpPr>
        <p:spPr>
          <a:xfrm>
            <a:off x="3520440" y="3127248"/>
            <a:ext cx="1188720" cy="420624"/>
          </a:xfrm>
          <a:prstGeom prst="rect">
            <a:avLst/>
          </a:prstGeom>
          <a:noFill/>
          <a:ln/>
        </p:spPr>
        <p:txBody>
          <a:bodyPr wrap="square" lIns="0" tIns="0" rIns="0" bIns="0" rtlCol="0" anchor="ctr"/>
          <a:lstStyle/>
          <a:p>
            <a:pPr marL="0" indent="0" algn="ctr">
              <a:buNone/>
            </a:pPr>
            <a:r>
              <a:rPr lang="en-US" sz="1000" b="1" dirty="0">
                <a:solidFill>
                  <a:srgbClr val="E67E22"/>
                </a:solidFill>
                <a:latin typeface="Calibri" pitchFamily="34" charset="0"/>
                <a:ea typeface="Calibri" pitchFamily="34" charset="-122"/>
                <a:cs typeface="Calibri" pitchFamily="34" charset="-120"/>
              </a:rPr>
              <a:t>Medium</a:t>
            </a:r>
            <a:endParaRPr lang="en-US" sz="1000" dirty="0"/>
          </a:p>
        </p:txBody>
      </p:sp>
      <p:sp>
        <p:nvSpPr>
          <p:cNvPr id="44" name="Shape 42"/>
          <p:cNvSpPr/>
          <p:nvPr/>
        </p:nvSpPr>
        <p:spPr>
          <a:xfrm>
            <a:off x="4800600" y="3127248"/>
            <a:ext cx="4206240" cy="420624"/>
          </a:xfrm>
          <a:prstGeom prst="rect">
            <a:avLst/>
          </a:prstGeom>
          <a:solidFill>
            <a:srgbClr val="FFF3E0"/>
          </a:solidFill>
          <a:ln w="6350">
            <a:solidFill>
              <a:srgbClr val="DDDDDD"/>
            </a:solidFill>
            <a:prstDash val="solid"/>
          </a:ln>
        </p:spPr>
      </p:sp>
      <p:sp>
        <p:nvSpPr>
          <p:cNvPr id="45" name="Text 43"/>
          <p:cNvSpPr/>
          <p:nvPr/>
        </p:nvSpPr>
        <p:spPr>
          <a:xfrm>
            <a:off x="4846320" y="3127248"/>
            <a:ext cx="411480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Validate on PH data before deployment; treat as framework</a:t>
            </a:r>
            <a:endParaRPr lang="en-US" sz="1000" dirty="0"/>
          </a:p>
        </p:txBody>
      </p:sp>
      <p:sp>
        <p:nvSpPr>
          <p:cNvPr id="46" name="Shape 44"/>
          <p:cNvSpPr/>
          <p:nvPr/>
        </p:nvSpPr>
        <p:spPr>
          <a:xfrm>
            <a:off x="274320" y="3566160"/>
            <a:ext cx="1828800" cy="420624"/>
          </a:xfrm>
          <a:prstGeom prst="rect">
            <a:avLst/>
          </a:prstGeom>
          <a:solidFill>
            <a:srgbClr val="FFF3E0"/>
          </a:solidFill>
          <a:ln w="6350">
            <a:solidFill>
              <a:srgbClr val="DDDDDD"/>
            </a:solidFill>
            <a:prstDash val="solid"/>
          </a:ln>
        </p:spPr>
      </p:sp>
      <p:sp>
        <p:nvSpPr>
          <p:cNvPr id="47" name="Text 45"/>
          <p:cNvSpPr/>
          <p:nvPr/>
        </p:nvSpPr>
        <p:spPr>
          <a:xfrm>
            <a:off x="320040" y="3566160"/>
            <a:ext cx="173736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Regulatory compliance</a:t>
            </a:r>
            <a:endParaRPr lang="en-US" sz="1000" dirty="0"/>
          </a:p>
        </p:txBody>
      </p:sp>
      <p:sp>
        <p:nvSpPr>
          <p:cNvPr id="48" name="Shape 46"/>
          <p:cNvSpPr/>
          <p:nvPr/>
        </p:nvSpPr>
        <p:spPr>
          <a:xfrm>
            <a:off x="2148840" y="3566160"/>
            <a:ext cx="1280160" cy="420624"/>
          </a:xfrm>
          <a:prstGeom prst="rect">
            <a:avLst/>
          </a:prstGeom>
          <a:solidFill>
            <a:srgbClr val="FAFAFA"/>
          </a:solidFill>
          <a:ln w="6350">
            <a:solidFill>
              <a:srgbClr val="DDDDDD"/>
            </a:solidFill>
            <a:prstDash val="solid"/>
          </a:ln>
        </p:spPr>
      </p:sp>
      <p:sp>
        <p:nvSpPr>
          <p:cNvPr id="49" name="Text 47"/>
          <p:cNvSpPr/>
          <p:nvPr/>
        </p:nvSpPr>
        <p:spPr>
          <a:xfrm>
            <a:off x="2194560" y="3566160"/>
            <a:ext cx="1188720" cy="420624"/>
          </a:xfrm>
          <a:prstGeom prst="rect">
            <a:avLst/>
          </a:prstGeom>
          <a:noFill/>
          <a:ln/>
        </p:spPr>
        <p:txBody>
          <a:bodyPr wrap="square" lIns="0" tIns="0" rIns="0" bIns="0" rtlCol="0" anchor="ctr"/>
          <a:lstStyle/>
          <a:p>
            <a:pPr marL="0" indent="0" algn="ctr">
              <a:buNone/>
            </a:pPr>
            <a:r>
              <a:rPr lang="en-US" sz="1000" b="1" dirty="0">
                <a:solidFill>
                  <a:srgbClr val="E74C3C"/>
                </a:solidFill>
                <a:latin typeface="Calibri" pitchFamily="34" charset="0"/>
                <a:ea typeface="Calibri" pitchFamily="34" charset="-122"/>
                <a:cs typeface="Calibri" pitchFamily="34" charset="-120"/>
              </a:rPr>
              <a:t>High</a:t>
            </a:r>
            <a:endParaRPr lang="en-US" sz="1000" dirty="0"/>
          </a:p>
        </p:txBody>
      </p:sp>
      <p:sp>
        <p:nvSpPr>
          <p:cNvPr id="50" name="Shape 48"/>
          <p:cNvSpPr/>
          <p:nvPr/>
        </p:nvSpPr>
        <p:spPr>
          <a:xfrm>
            <a:off x="3474720" y="3566160"/>
            <a:ext cx="1280160" cy="420624"/>
          </a:xfrm>
          <a:prstGeom prst="rect">
            <a:avLst/>
          </a:prstGeom>
          <a:solidFill>
            <a:srgbClr val="FAFAFA"/>
          </a:solidFill>
          <a:ln w="6350">
            <a:solidFill>
              <a:srgbClr val="DDDDDD"/>
            </a:solidFill>
            <a:prstDash val="solid"/>
          </a:ln>
        </p:spPr>
      </p:sp>
      <p:sp>
        <p:nvSpPr>
          <p:cNvPr id="51" name="Text 49"/>
          <p:cNvSpPr/>
          <p:nvPr/>
        </p:nvSpPr>
        <p:spPr>
          <a:xfrm>
            <a:off x="3520440" y="3566160"/>
            <a:ext cx="1188720" cy="420624"/>
          </a:xfrm>
          <a:prstGeom prst="rect">
            <a:avLst/>
          </a:prstGeom>
          <a:noFill/>
          <a:ln/>
        </p:spPr>
        <p:txBody>
          <a:bodyPr wrap="square" lIns="0" tIns="0" rIns="0" bIns="0" rtlCol="0" anchor="ctr"/>
          <a:lstStyle/>
          <a:p>
            <a:pPr marL="0" indent="0" algn="ctr">
              <a:buNone/>
            </a:pPr>
            <a:r>
              <a:rPr lang="en-US" sz="1000" b="1" dirty="0">
                <a:solidFill>
                  <a:srgbClr val="27AE60"/>
                </a:solidFill>
                <a:latin typeface="Calibri" pitchFamily="34" charset="0"/>
                <a:ea typeface="Calibri" pitchFamily="34" charset="-122"/>
                <a:cs typeface="Calibri" pitchFamily="34" charset="-120"/>
              </a:rPr>
              <a:t>Low</a:t>
            </a:r>
            <a:endParaRPr lang="en-US" sz="1000" dirty="0"/>
          </a:p>
        </p:txBody>
      </p:sp>
      <p:sp>
        <p:nvSpPr>
          <p:cNvPr id="52" name="Shape 50"/>
          <p:cNvSpPr/>
          <p:nvPr/>
        </p:nvSpPr>
        <p:spPr>
          <a:xfrm>
            <a:off x="4800600" y="3566160"/>
            <a:ext cx="4206240" cy="420624"/>
          </a:xfrm>
          <a:prstGeom prst="rect">
            <a:avLst/>
          </a:prstGeom>
          <a:solidFill>
            <a:srgbClr val="FFF3E0"/>
          </a:solidFill>
          <a:ln w="6350">
            <a:solidFill>
              <a:srgbClr val="DDDDDD"/>
            </a:solidFill>
            <a:prstDash val="solid"/>
          </a:ln>
        </p:spPr>
      </p:sp>
      <p:sp>
        <p:nvSpPr>
          <p:cNvPr id="53" name="Text 51"/>
          <p:cNvSpPr/>
          <p:nvPr/>
        </p:nvSpPr>
        <p:spPr>
          <a:xfrm>
            <a:off x="4846320" y="3566160"/>
            <a:ext cx="4114800" cy="420624"/>
          </a:xfrm>
          <a:prstGeom prst="rect">
            <a:avLst/>
          </a:prstGeom>
          <a:noFill/>
          <a:ln/>
        </p:spPr>
        <p:txBody>
          <a:bodyPr wrap="square" lIns="0" tIns="0" rIns="0" bIns="0" rtlCol="0" anchor="ctr"/>
          <a:lstStyle/>
          <a:p>
            <a:pPr marL="0" indent="0" algn="l">
              <a:buNone/>
            </a:pPr>
            <a:r>
              <a:rPr lang="en-US" sz="1000" dirty="0">
                <a:solidFill>
                  <a:srgbClr val="111111"/>
                </a:solidFill>
                <a:latin typeface="Calibri" pitchFamily="34" charset="0"/>
                <a:ea typeface="Calibri" pitchFamily="34" charset="-122"/>
                <a:cs typeface="Calibri" pitchFamily="34" charset="-120"/>
              </a:rPr>
              <a:t>SHAP explanations provide audit trail for BSP Circular 1140</a:t>
            </a:r>
            <a:endParaRPr lang="en-US" sz="1000" dirty="0"/>
          </a:p>
        </p:txBody>
      </p:sp>
      <p:sp>
        <p:nvSpPr>
          <p:cNvPr id="54" name="Text 52"/>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How It Works: The Customer Experience</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Designed to protect customers without disrupting legitimate transactions</a:t>
            </a:r>
            <a:endParaRPr lang="en-US" sz="1300" dirty="0"/>
          </a:p>
        </p:txBody>
      </p:sp>
      <p:sp>
        <p:nvSpPr>
          <p:cNvPr id="6" name="Text 4"/>
          <p:cNvSpPr/>
          <p:nvPr/>
        </p:nvSpPr>
        <p:spPr>
          <a:xfrm>
            <a:off x="274320" y="1417320"/>
            <a:ext cx="8595360" cy="32004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Every transaction is scored in real time:</a:t>
            </a:r>
            <a:endParaRPr lang="en-US" sz="1300" dirty="0"/>
          </a:p>
        </p:txBody>
      </p:sp>
      <p:sp>
        <p:nvSpPr>
          <p:cNvPr id="7" name="Shape 5"/>
          <p:cNvSpPr/>
          <p:nvPr/>
        </p:nvSpPr>
        <p:spPr>
          <a:xfrm>
            <a:off x="274320" y="1874520"/>
            <a:ext cx="2788920" cy="2743200"/>
          </a:xfrm>
          <a:prstGeom prst="rect">
            <a:avLst/>
          </a:prstGeom>
          <a:solidFill>
            <a:srgbClr val="E8F5E9"/>
          </a:solidFill>
          <a:ln w="12700">
            <a:solidFill>
              <a:srgbClr val="D0E8F5"/>
            </a:solidFill>
            <a:prstDash val="solid"/>
          </a:ln>
        </p:spPr>
      </p:sp>
      <p:sp>
        <p:nvSpPr>
          <p:cNvPr id="8" name="Shape 6"/>
          <p:cNvSpPr/>
          <p:nvPr/>
        </p:nvSpPr>
        <p:spPr>
          <a:xfrm>
            <a:off x="274320" y="1874520"/>
            <a:ext cx="2788920" cy="502920"/>
          </a:xfrm>
          <a:prstGeom prst="rect">
            <a:avLst/>
          </a:prstGeom>
          <a:solidFill>
            <a:srgbClr val="27AE60"/>
          </a:solidFill>
          <a:ln/>
        </p:spPr>
      </p:sp>
      <p:sp>
        <p:nvSpPr>
          <p:cNvPr id="9" name="Text 7"/>
          <p:cNvSpPr/>
          <p:nvPr/>
        </p:nvSpPr>
        <p:spPr>
          <a:xfrm>
            <a:off x="274320" y="1874520"/>
            <a:ext cx="2788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Auto-Approve</a:t>
            </a:r>
            <a:endParaRPr lang="en-US" sz="1500" dirty="0"/>
          </a:p>
        </p:txBody>
      </p:sp>
      <p:sp>
        <p:nvSpPr>
          <p:cNvPr id="10" name="Text 8"/>
          <p:cNvSpPr/>
          <p:nvPr/>
        </p:nvSpPr>
        <p:spPr>
          <a:xfrm>
            <a:off x="365760" y="2450592"/>
            <a:ext cx="2606040" cy="320040"/>
          </a:xfrm>
          <a:prstGeom prst="rect">
            <a:avLst/>
          </a:prstGeom>
          <a:noFill/>
          <a:ln/>
        </p:spPr>
        <p:txBody>
          <a:bodyPr wrap="square" lIns="0" tIns="0" rIns="0" bIns="0" rtlCol="0" anchor="ctr"/>
          <a:lstStyle/>
          <a:p>
            <a:pPr marL="0" indent="0" algn="ctr">
              <a:buNone/>
            </a:pPr>
            <a:r>
              <a:rPr lang="en-US" sz="1200" b="1" dirty="0">
                <a:solidFill>
                  <a:srgbClr val="27AE60"/>
                </a:solidFill>
                <a:latin typeface="Calibri" pitchFamily="34" charset="0"/>
                <a:ea typeface="Calibri" pitchFamily="34" charset="-122"/>
                <a:cs typeface="Calibri" pitchFamily="34" charset="-120"/>
              </a:rPr>
              <a:t>Score &lt; 0.30</a:t>
            </a:r>
            <a:endParaRPr lang="en-US" sz="1200" dirty="0"/>
          </a:p>
        </p:txBody>
      </p:sp>
      <p:sp>
        <p:nvSpPr>
          <p:cNvPr id="11" name="Shape 9"/>
          <p:cNvSpPr/>
          <p:nvPr/>
        </p:nvSpPr>
        <p:spPr>
          <a:xfrm>
            <a:off x="822960" y="2798064"/>
            <a:ext cx="1280160" cy="27432"/>
          </a:xfrm>
          <a:prstGeom prst="rect">
            <a:avLst/>
          </a:prstGeom>
          <a:solidFill>
            <a:srgbClr val="27AE60"/>
          </a:solidFill>
          <a:ln/>
        </p:spPr>
      </p:sp>
      <p:sp>
        <p:nvSpPr>
          <p:cNvPr id="12" name="Text 10"/>
          <p:cNvSpPr/>
          <p:nvPr/>
        </p:nvSpPr>
        <p:spPr>
          <a:xfrm>
            <a:off x="365760" y="2880360"/>
            <a:ext cx="2606040" cy="16002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Transaction proceeds immediately</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No customer friction</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Covers ~99% of all transactions</a:t>
            </a:r>
            <a:endParaRPr lang="en-US" sz="1200" dirty="0"/>
          </a:p>
        </p:txBody>
      </p:sp>
      <p:sp>
        <p:nvSpPr>
          <p:cNvPr id="13" name="Shape 11"/>
          <p:cNvSpPr/>
          <p:nvPr/>
        </p:nvSpPr>
        <p:spPr>
          <a:xfrm>
            <a:off x="3246120" y="1874520"/>
            <a:ext cx="2788920" cy="2743200"/>
          </a:xfrm>
          <a:prstGeom prst="rect">
            <a:avLst/>
          </a:prstGeom>
          <a:solidFill>
            <a:srgbClr val="FFF8F0"/>
          </a:solidFill>
          <a:ln w="12700">
            <a:solidFill>
              <a:srgbClr val="D0E8F5"/>
            </a:solidFill>
            <a:prstDash val="solid"/>
          </a:ln>
        </p:spPr>
      </p:sp>
      <p:sp>
        <p:nvSpPr>
          <p:cNvPr id="14" name="Shape 12"/>
          <p:cNvSpPr/>
          <p:nvPr/>
        </p:nvSpPr>
        <p:spPr>
          <a:xfrm>
            <a:off x="3246120" y="1874520"/>
            <a:ext cx="2788920" cy="502920"/>
          </a:xfrm>
          <a:prstGeom prst="rect">
            <a:avLst/>
          </a:prstGeom>
          <a:solidFill>
            <a:srgbClr val="E67E22"/>
          </a:solidFill>
          <a:ln/>
        </p:spPr>
      </p:sp>
      <p:sp>
        <p:nvSpPr>
          <p:cNvPr id="15" name="Text 13"/>
          <p:cNvSpPr/>
          <p:nvPr/>
        </p:nvSpPr>
        <p:spPr>
          <a:xfrm>
            <a:off x="3246120" y="1874520"/>
            <a:ext cx="2788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Manual Review</a:t>
            </a:r>
            <a:endParaRPr lang="en-US" sz="1500" dirty="0"/>
          </a:p>
        </p:txBody>
      </p:sp>
      <p:sp>
        <p:nvSpPr>
          <p:cNvPr id="16" name="Text 14"/>
          <p:cNvSpPr/>
          <p:nvPr/>
        </p:nvSpPr>
        <p:spPr>
          <a:xfrm>
            <a:off x="3337560" y="2450592"/>
            <a:ext cx="2606040" cy="320040"/>
          </a:xfrm>
          <a:prstGeom prst="rect">
            <a:avLst/>
          </a:prstGeom>
          <a:noFill/>
          <a:ln/>
        </p:spPr>
        <p:txBody>
          <a:bodyPr wrap="square" lIns="0" tIns="0" rIns="0" bIns="0" rtlCol="0" anchor="ctr"/>
          <a:lstStyle/>
          <a:p>
            <a:pPr marL="0" indent="0" algn="ctr">
              <a:buNone/>
            </a:pPr>
            <a:r>
              <a:rPr lang="en-US" sz="1200" b="1" dirty="0">
                <a:solidFill>
                  <a:srgbClr val="E67E22"/>
                </a:solidFill>
                <a:latin typeface="Calibri" pitchFamily="34" charset="0"/>
                <a:ea typeface="Calibri" pitchFamily="34" charset="-122"/>
                <a:cs typeface="Calibri" pitchFamily="34" charset="-120"/>
              </a:rPr>
              <a:t>Score 0.30–0.70</a:t>
            </a:r>
            <a:endParaRPr lang="en-US" sz="1200" dirty="0"/>
          </a:p>
        </p:txBody>
      </p:sp>
      <p:sp>
        <p:nvSpPr>
          <p:cNvPr id="17" name="Shape 15"/>
          <p:cNvSpPr/>
          <p:nvPr/>
        </p:nvSpPr>
        <p:spPr>
          <a:xfrm>
            <a:off x="3794760" y="2798064"/>
            <a:ext cx="1280160" cy="27432"/>
          </a:xfrm>
          <a:prstGeom prst="rect">
            <a:avLst/>
          </a:prstGeom>
          <a:solidFill>
            <a:srgbClr val="E67E22"/>
          </a:solidFill>
          <a:ln/>
        </p:spPr>
      </p:sp>
      <p:sp>
        <p:nvSpPr>
          <p:cNvPr id="18" name="Text 16"/>
          <p:cNvSpPr/>
          <p:nvPr/>
        </p:nvSpPr>
        <p:spPr>
          <a:xfrm>
            <a:off x="3337560" y="2880360"/>
            <a:ext cx="2606040" cy="16002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Flagged for fraud team review</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Customer may be contacted</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Handles borderline cases carefully</a:t>
            </a:r>
            <a:endParaRPr lang="en-US" sz="1200" dirty="0"/>
          </a:p>
        </p:txBody>
      </p:sp>
      <p:sp>
        <p:nvSpPr>
          <p:cNvPr id="19" name="Shape 17"/>
          <p:cNvSpPr/>
          <p:nvPr/>
        </p:nvSpPr>
        <p:spPr>
          <a:xfrm>
            <a:off x="6217920" y="1874520"/>
            <a:ext cx="2788920" cy="2743200"/>
          </a:xfrm>
          <a:prstGeom prst="rect">
            <a:avLst/>
          </a:prstGeom>
          <a:solidFill>
            <a:srgbClr val="FFEBEE"/>
          </a:solidFill>
          <a:ln w="12700">
            <a:solidFill>
              <a:srgbClr val="D0E8F5"/>
            </a:solidFill>
            <a:prstDash val="solid"/>
          </a:ln>
        </p:spPr>
      </p:sp>
      <p:sp>
        <p:nvSpPr>
          <p:cNvPr id="20" name="Shape 18"/>
          <p:cNvSpPr/>
          <p:nvPr/>
        </p:nvSpPr>
        <p:spPr>
          <a:xfrm>
            <a:off x="6217920" y="1874520"/>
            <a:ext cx="2788920" cy="502920"/>
          </a:xfrm>
          <a:prstGeom prst="rect">
            <a:avLst/>
          </a:prstGeom>
          <a:solidFill>
            <a:srgbClr val="E74C3C"/>
          </a:solidFill>
          <a:ln/>
        </p:spPr>
      </p:sp>
      <p:sp>
        <p:nvSpPr>
          <p:cNvPr id="21" name="Text 19"/>
          <p:cNvSpPr/>
          <p:nvPr/>
        </p:nvSpPr>
        <p:spPr>
          <a:xfrm>
            <a:off x="6217920" y="1874520"/>
            <a:ext cx="2788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Auto-Block + Alert</a:t>
            </a:r>
            <a:endParaRPr lang="en-US" sz="1500" dirty="0"/>
          </a:p>
        </p:txBody>
      </p:sp>
      <p:sp>
        <p:nvSpPr>
          <p:cNvPr id="22" name="Text 20"/>
          <p:cNvSpPr/>
          <p:nvPr/>
        </p:nvSpPr>
        <p:spPr>
          <a:xfrm>
            <a:off x="6309360" y="2450592"/>
            <a:ext cx="2606040" cy="320040"/>
          </a:xfrm>
          <a:prstGeom prst="rect">
            <a:avLst/>
          </a:prstGeom>
          <a:noFill/>
          <a:ln/>
        </p:spPr>
        <p:txBody>
          <a:bodyPr wrap="square" lIns="0" tIns="0" rIns="0" bIns="0" rtlCol="0" anchor="ctr"/>
          <a:lstStyle/>
          <a:p>
            <a:pPr marL="0" indent="0" algn="ctr">
              <a:buNone/>
            </a:pPr>
            <a:r>
              <a:rPr lang="en-US" sz="1200" b="1" dirty="0">
                <a:solidFill>
                  <a:srgbClr val="E74C3C"/>
                </a:solidFill>
                <a:latin typeface="Calibri" pitchFamily="34" charset="0"/>
                <a:ea typeface="Calibri" pitchFamily="34" charset="-122"/>
                <a:cs typeface="Calibri" pitchFamily="34" charset="-120"/>
              </a:rPr>
              <a:t>Score &gt; 0.70</a:t>
            </a:r>
            <a:endParaRPr lang="en-US" sz="1200" dirty="0"/>
          </a:p>
        </p:txBody>
      </p:sp>
      <p:sp>
        <p:nvSpPr>
          <p:cNvPr id="23" name="Shape 21"/>
          <p:cNvSpPr/>
          <p:nvPr/>
        </p:nvSpPr>
        <p:spPr>
          <a:xfrm>
            <a:off x="6766560" y="2798064"/>
            <a:ext cx="1280160" cy="27432"/>
          </a:xfrm>
          <a:prstGeom prst="rect">
            <a:avLst/>
          </a:prstGeom>
          <a:solidFill>
            <a:srgbClr val="E74C3C"/>
          </a:solidFill>
          <a:ln/>
        </p:spPr>
      </p:sp>
      <p:sp>
        <p:nvSpPr>
          <p:cNvPr id="24" name="Text 22"/>
          <p:cNvSpPr/>
          <p:nvPr/>
        </p:nvSpPr>
        <p:spPr>
          <a:xfrm>
            <a:off x="6309360" y="2880360"/>
            <a:ext cx="2606040" cy="1600200"/>
          </a:xfrm>
          <a:prstGeom prst="rect">
            <a:avLst/>
          </a:prstGeom>
          <a:noFill/>
          <a:ln/>
        </p:spPr>
        <p:txBody>
          <a:bodyPr wrap="square" lIns="0" tIns="0" rIns="0" bIns="0" rtlCol="0" anchor="ctr"/>
          <a:lstStyle/>
          <a:p>
            <a:pPr marL="0" indent="0">
              <a:buNone/>
            </a:pPr>
            <a:r>
              <a:rPr lang="en-US" sz="1200" dirty="0">
                <a:solidFill>
                  <a:srgbClr val="111111"/>
                </a:solidFill>
                <a:latin typeface="Calibri" pitchFamily="34" charset="0"/>
                <a:ea typeface="Calibri" pitchFamily="34" charset="-122"/>
                <a:cs typeface="Calibri" pitchFamily="34" charset="-120"/>
              </a:rPr>
              <a:t>Transaction blocked immediately</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Customer notified via SMS/app</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Covers confirmed high-risk fraud</a:t>
            </a:r>
            <a:endParaRPr lang="en-US" sz="1200" dirty="0"/>
          </a:p>
        </p:txBody>
      </p:sp>
      <p:sp>
        <p:nvSpPr>
          <p:cNvPr id="25" name="Text 23"/>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280160"/>
          </a:xfrm>
          <a:prstGeom prst="rect">
            <a:avLst/>
          </a:prstGeom>
          <a:solidFill>
            <a:srgbClr val="1A3A5C"/>
          </a:solidFill>
          <a:ln/>
        </p:spPr>
      </p:sp>
      <p:sp>
        <p:nvSpPr>
          <p:cNvPr id="4" name="Text 2"/>
          <p:cNvSpPr/>
          <p:nvPr/>
        </p:nvSpPr>
        <p:spPr>
          <a:xfrm>
            <a:off x="365760" y="109728"/>
            <a:ext cx="80467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Implementation Roadmap</a:t>
            </a:r>
            <a:endParaRPr lang="en-US" sz="2600" dirty="0"/>
          </a:p>
        </p:txBody>
      </p:sp>
      <p:sp>
        <p:nvSpPr>
          <p:cNvPr id="5" name="Text 3"/>
          <p:cNvSpPr/>
          <p:nvPr/>
        </p:nvSpPr>
        <p:spPr>
          <a:xfrm>
            <a:off x="365760" y="749808"/>
            <a:ext cx="8046720" cy="411480"/>
          </a:xfrm>
          <a:prstGeom prst="rect">
            <a:avLst/>
          </a:prstGeom>
          <a:noFill/>
          <a:ln/>
        </p:spPr>
        <p:txBody>
          <a:bodyPr wrap="square" lIns="0" tIns="0" rIns="0" bIns="0" rtlCol="0" anchor="ctr"/>
          <a:lstStyle/>
          <a:p>
            <a:pPr marL="0" indent="0">
              <a:buNone/>
            </a:pPr>
            <a:r>
              <a:rPr lang="en-US" sz="1300" dirty="0">
                <a:solidFill>
                  <a:srgbClr val="A8C8E8"/>
                </a:solidFill>
                <a:latin typeface="Calibri" pitchFamily="34" charset="0"/>
                <a:ea typeface="Calibri" pitchFamily="34" charset="-122"/>
                <a:cs typeface="Calibri" pitchFamily="34" charset="-120"/>
              </a:rPr>
              <a:t>From framework to production — a phased approach</a:t>
            </a:r>
            <a:endParaRPr lang="en-US" sz="1300" dirty="0"/>
          </a:p>
        </p:txBody>
      </p:sp>
      <p:sp>
        <p:nvSpPr>
          <p:cNvPr id="6" name="Shape 4"/>
          <p:cNvSpPr/>
          <p:nvPr/>
        </p:nvSpPr>
        <p:spPr>
          <a:xfrm>
            <a:off x="274320" y="1417320"/>
            <a:ext cx="2788920" cy="3200400"/>
          </a:xfrm>
          <a:prstGeom prst="rect">
            <a:avLst/>
          </a:prstGeom>
          <a:solidFill>
            <a:srgbClr val="E8F4FD"/>
          </a:solidFill>
          <a:ln w="12700">
            <a:solidFill>
              <a:srgbClr val="D0E8F5"/>
            </a:solidFill>
            <a:prstDash val="solid"/>
          </a:ln>
        </p:spPr>
      </p:sp>
      <p:sp>
        <p:nvSpPr>
          <p:cNvPr id="7" name="Shape 5"/>
          <p:cNvSpPr/>
          <p:nvPr/>
        </p:nvSpPr>
        <p:spPr>
          <a:xfrm>
            <a:off x="274320" y="1417320"/>
            <a:ext cx="2788920" cy="685800"/>
          </a:xfrm>
          <a:prstGeom prst="rect">
            <a:avLst/>
          </a:prstGeom>
          <a:solidFill>
            <a:srgbClr val="4A90C4"/>
          </a:solidFill>
          <a:ln/>
        </p:spPr>
      </p:sp>
      <p:sp>
        <p:nvSpPr>
          <p:cNvPr id="8" name="Text 6"/>
          <p:cNvSpPr/>
          <p:nvPr/>
        </p:nvSpPr>
        <p:spPr>
          <a:xfrm>
            <a:off x="274320" y="1417320"/>
            <a:ext cx="27889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1</a:t>
            </a:r>
            <a:endParaRPr lang="en-US" sz="1300" dirty="0"/>
          </a:p>
        </p:txBody>
      </p:sp>
      <p:sp>
        <p:nvSpPr>
          <p:cNvPr id="9" name="Text 7"/>
          <p:cNvSpPr/>
          <p:nvPr/>
        </p:nvSpPr>
        <p:spPr>
          <a:xfrm>
            <a:off x="274320" y="1764792"/>
            <a:ext cx="2788920" cy="338328"/>
          </a:xfrm>
          <a:prstGeom prst="rect">
            <a:avLst/>
          </a:prstGeom>
          <a:noFill/>
          <a:ln/>
        </p:spPr>
        <p:txBody>
          <a:bodyPr wrap="square" lIns="0" tIns="0" rIns="0" bIns="0" rtlCol="0" anchor="ctr"/>
          <a:lstStyle/>
          <a:p>
            <a:pPr marL="0" indent="0" algn="ctr">
              <a:buNone/>
            </a:pPr>
            <a:r>
              <a:rPr lang="en-US" sz="1100" dirty="0">
                <a:solidFill>
                  <a:srgbClr val="C5D8F5"/>
                </a:solidFill>
                <a:latin typeface="Calibri" pitchFamily="34" charset="0"/>
                <a:ea typeface="Calibri" pitchFamily="34" charset="-122"/>
                <a:cs typeface="Calibri" pitchFamily="34" charset="-120"/>
              </a:rPr>
              <a:t>Validate &amp; Localise  |  0–3 months</a:t>
            </a:r>
            <a:endParaRPr lang="en-US" sz="1100" dirty="0"/>
          </a:p>
        </p:txBody>
      </p:sp>
      <p:sp>
        <p:nvSpPr>
          <p:cNvPr id="10" name="Text 8"/>
          <p:cNvSpPr/>
          <p:nvPr/>
        </p:nvSpPr>
        <p:spPr>
          <a:xfrm>
            <a:off x="411480" y="2212848"/>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Partner with BSP or local bank for PH transaction data</a:t>
            </a:r>
            <a:endParaRPr lang="en-US" sz="1100" dirty="0"/>
          </a:p>
        </p:txBody>
      </p:sp>
      <p:sp>
        <p:nvSpPr>
          <p:cNvPr id="11" name="Text 9"/>
          <p:cNvSpPr/>
          <p:nvPr/>
        </p:nvSpPr>
        <p:spPr>
          <a:xfrm>
            <a:off x="411480" y="2779776"/>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Validate model on local fraud patterns</a:t>
            </a:r>
            <a:endParaRPr lang="en-US" sz="1100" dirty="0"/>
          </a:p>
        </p:txBody>
      </p:sp>
      <p:sp>
        <p:nvSpPr>
          <p:cNvPr id="12" name="Text 10"/>
          <p:cNvSpPr/>
          <p:nvPr/>
        </p:nvSpPr>
        <p:spPr>
          <a:xfrm>
            <a:off x="411480" y="3346704"/>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Establish baseline fraud rate and detection benchmarks</a:t>
            </a:r>
            <a:endParaRPr lang="en-US" sz="1100" dirty="0"/>
          </a:p>
        </p:txBody>
      </p:sp>
      <p:sp>
        <p:nvSpPr>
          <p:cNvPr id="13" name="Shape 11"/>
          <p:cNvSpPr/>
          <p:nvPr/>
        </p:nvSpPr>
        <p:spPr>
          <a:xfrm>
            <a:off x="3246120" y="1417320"/>
            <a:ext cx="2788920" cy="3200400"/>
          </a:xfrm>
          <a:prstGeom prst="rect">
            <a:avLst/>
          </a:prstGeom>
          <a:solidFill>
            <a:srgbClr val="E8F4FD"/>
          </a:solidFill>
          <a:ln w="12700">
            <a:solidFill>
              <a:srgbClr val="D0E8F5"/>
            </a:solidFill>
            <a:prstDash val="solid"/>
          </a:ln>
        </p:spPr>
      </p:sp>
      <p:sp>
        <p:nvSpPr>
          <p:cNvPr id="14" name="Shape 12"/>
          <p:cNvSpPr/>
          <p:nvPr/>
        </p:nvSpPr>
        <p:spPr>
          <a:xfrm>
            <a:off x="3246120" y="1417320"/>
            <a:ext cx="2788920" cy="685800"/>
          </a:xfrm>
          <a:prstGeom prst="rect">
            <a:avLst/>
          </a:prstGeom>
          <a:solidFill>
            <a:srgbClr val="2E6DAD"/>
          </a:solidFill>
          <a:ln/>
        </p:spPr>
      </p:sp>
      <p:sp>
        <p:nvSpPr>
          <p:cNvPr id="15" name="Text 13"/>
          <p:cNvSpPr/>
          <p:nvPr/>
        </p:nvSpPr>
        <p:spPr>
          <a:xfrm>
            <a:off x="3246120" y="1417320"/>
            <a:ext cx="27889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2</a:t>
            </a:r>
            <a:endParaRPr lang="en-US" sz="1300" dirty="0"/>
          </a:p>
        </p:txBody>
      </p:sp>
      <p:sp>
        <p:nvSpPr>
          <p:cNvPr id="16" name="Text 14"/>
          <p:cNvSpPr/>
          <p:nvPr/>
        </p:nvSpPr>
        <p:spPr>
          <a:xfrm>
            <a:off x="3246120" y="1764792"/>
            <a:ext cx="2788920" cy="338328"/>
          </a:xfrm>
          <a:prstGeom prst="rect">
            <a:avLst/>
          </a:prstGeom>
          <a:noFill/>
          <a:ln/>
        </p:spPr>
        <p:txBody>
          <a:bodyPr wrap="square" lIns="0" tIns="0" rIns="0" bIns="0" rtlCol="0" anchor="ctr"/>
          <a:lstStyle/>
          <a:p>
            <a:pPr marL="0" indent="0" algn="ctr">
              <a:buNone/>
            </a:pPr>
            <a:r>
              <a:rPr lang="en-US" sz="1100" dirty="0">
                <a:solidFill>
                  <a:srgbClr val="C5D8F5"/>
                </a:solidFill>
                <a:latin typeface="Calibri" pitchFamily="34" charset="0"/>
                <a:ea typeface="Calibri" pitchFamily="34" charset="-122"/>
                <a:cs typeface="Calibri" pitchFamily="34" charset="-120"/>
              </a:rPr>
              <a:t>Pilot Deployment  |  3–6 months</a:t>
            </a:r>
            <a:endParaRPr lang="en-US" sz="1100" dirty="0"/>
          </a:p>
        </p:txBody>
      </p:sp>
      <p:sp>
        <p:nvSpPr>
          <p:cNvPr id="17" name="Text 15"/>
          <p:cNvSpPr/>
          <p:nvPr/>
        </p:nvSpPr>
        <p:spPr>
          <a:xfrm>
            <a:off x="3383280" y="2212848"/>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Deploy model on 5–10% of transaction volume</a:t>
            </a:r>
            <a:endParaRPr lang="en-US" sz="1100" dirty="0"/>
          </a:p>
        </p:txBody>
      </p:sp>
      <p:sp>
        <p:nvSpPr>
          <p:cNvPr id="18" name="Text 16"/>
          <p:cNvSpPr/>
          <p:nvPr/>
        </p:nvSpPr>
        <p:spPr>
          <a:xfrm>
            <a:off x="3383280" y="2779776"/>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Implement 3-tier routing (auto-approve / review / block)</a:t>
            </a:r>
            <a:endParaRPr lang="en-US" sz="1100" dirty="0"/>
          </a:p>
        </p:txBody>
      </p:sp>
      <p:sp>
        <p:nvSpPr>
          <p:cNvPr id="19" name="Text 17"/>
          <p:cNvSpPr/>
          <p:nvPr/>
        </p:nvSpPr>
        <p:spPr>
          <a:xfrm>
            <a:off x="3383280" y="3346704"/>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Train fraud operations team on SHAP explanations</a:t>
            </a:r>
            <a:endParaRPr lang="en-US" sz="1100" dirty="0"/>
          </a:p>
        </p:txBody>
      </p:sp>
      <p:sp>
        <p:nvSpPr>
          <p:cNvPr id="20" name="Shape 18"/>
          <p:cNvSpPr/>
          <p:nvPr/>
        </p:nvSpPr>
        <p:spPr>
          <a:xfrm>
            <a:off x="6217920" y="1417320"/>
            <a:ext cx="2788920" cy="3200400"/>
          </a:xfrm>
          <a:prstGeom prst="rect">
            <a:avLst/>
          </a:prstGeom>
          <a:solidFill>
            <a:srgbClr val="E8F4FD"/>
          </a:solidFill>
          <a:ln w="12700">
            <a:solidFill>
              <a:srgbClr val="D0E8F5"/>
            </a:solidFill>
            <a:prstDash val="solid"/>
          </a:ln>
        </p:spPr>
      </p:sp>
      <p:sp>
        <p:nvSpPr>
          <p:cNvPr id="21" name="Shape 19"/>
          <p:cNvSpPr/>
          <p:nvPr/>
        </p:nvSpPr>
        <p:spPr>
          <a:xfrm>
            <a:off x="6217920" y="1417320"/>
            <a:ext cx="2788920" cy="685800"/>
          </a:xfrm>
          <a:prstGeom prst="rect">
            <a:avLst/>
          </a:prstGeom>
          <a:solidFill>
            <a:srgbClr val="1A3A5C"/>
          </a:solidFill>
          <a:ln/>
        </p:spPr>
      </p:sp>
      <p:sp>
        <p:nvSpPr>
          <p:cNvPr id="22" name="Text 20"/>
          <p:cNvSpPr/>
          <p:nvPr/>
        </p:nvSpPr>
        <p:spPr>
          <a:xfrm>
            <a:off x="6217920" y="1417320"/>
            <a:ext cx="278892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Phase 3</a:t>
            </a:r>
            <a:endParaRPr lang="en-US" sz="1300" dirty="0"/>
          </a:p>
        </p:txBody>
      </p:sp>
      <p:sp>
        <p:nvSpPr>
          <p:cNvPr id="23" name="Text 21"/>
          <p:cNvSpPr/>
          <p:nvPr/>
        </p:nvSpPr>
        <p:spPr>
          <a:xfrm>
            <a:off x="6217920" y="1764792"/>
            <a:ext cx="2788920" cy="338328"/>
          </a:xfrm>
          <a:prstGeom prst="rect">
            <a:avLst/>
          </a:prstGeom>
          <a:noFill/>
          <a:ln/>
        </p:spPr>
        <p:txBody>
          <a:bodyPr wrap="square" lIns="0" tIns="0" rIns="0" bIns="0" rtlCol="0" anchor="ctr"/>
          <a:lstStyle/>
          <a:p>
            <a:pPr marL="0" indent="0" algn="ctr">
              <a:buNone/>
            </a:pPr>
            <a:r>
              <a:rPr lang="en-US" sz="1100" dirty="0">
                <a:solidFill>
                  <a:srgbClr val="C5D8F5"/>
                </a:solidFill>
                <a:latin typeface="Calibri" pitchFamily="34" charset="0"/>
                <a:ea typeface="Calibri" pitchFamily="34" charset="-122"/>
                <a:cs typeface="Calibri" pitchFamily="34" charset="-120"/>
              </a:rPr>
              <a:t>Full Rollout  |  6–12 months</a:t>
            </a:r>
            <a:endParaRPr lang="en-US" sz="1100" dirty="0"/>
          </a:p>
        </p:txBody>
      </p:sp>
      <p:sp>
        <p:nvSpPr>
          <p:cNvPr id="24" name="Text 22"/>
          <p:cNvSpPr/>
          <p:nvPr/>
        </p:nvSpPr>
        <p:spPr>
          <a:xfrm>
            <a:off x="6355080" y="2212848"/>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Scale to full transaction volume</a:t>
            </a:r>
            <a:endParaRPr lang="en-US" sz="1100" dirty="0"/>
          </a:p>
        </p:txBody>
      </p:sp>
      <p:sp>
        <p:nvSpPr>
          <p:cNvPr id="25" name="Text 23"/>
          <p:cNvSpPr/>
          <p:nvPr/>
        </p:nvSpPr>
        <p:spPr>
          <a:xfrm>
            <a:off x="6355080" y="2779776"/>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Implement real-time fairness monitoring dashboard</a:t>
            </a:r>
            <a:endParaRPr lang="en-US" sz="1100" dirty="0"/>
          </a:p>
        </p:txBody>
      </p:sp>
      <p:sp>
        <p:nvSpPr>
          <p:cNvPr id="26" name="Text 24"/>
          <p:cNvSpPr/>
          <p:nvPr/>
        </p:nvSpPr>
        <p:spPr>
          <a:xfrm>
            <a:off x="6355080" y="3346704"/>
            <a:ext cx="2514600" cy="530352"/>
          </a:xfrm>
          <a:prstGeom prst="rect">
            <a:avLst/>
          </a:prstGeom>
          <a:noFill/>
          <a:ln/>
        </p:spPr>
        <p:txBody>
          <a:bodyPr wrap="square" lIns="0" tIns="0" rIns="0" bIns="0" rtlCol="0" anchor="ctr"/>
          <a:lstStyle/>
          <a:p>
            <a:pPr marL="0" indent="0">
              <a:buNone/>
            </a:pPr>
            <a:r>
              <a:rPr lang="en-US" sz="1100" dirty="0">
                <a:solidFill>
                  <a:srgbClr val="111111"/>
                </a:solidFill>
                <a:latin typeface="Calibri" pitchFamily="34" charset="0"/>
                <a:ea typeface="Calibri" pitchFamily="34" charset="-122"/>
                <a:cs typeface="Calibri" pitchFamily="34" charset="-120"/>
              </a:rPr>
              <a:t>• Quarterly model retraining cycle with fresh data</a:t>
            </a:r>
            <a:endParaRPr lang="en-US" sz="1100" dirty="0"/>
          </a:p>
        </p:txBody>
      </p:sp>
      <p:sp>
        <p:nvSpPr>
          <p:cNvPr id="27" name="Text 25"/>
          <p:cNvSpPr/>
          <p:nvPr/>
        </p:nvSpPr>
        <p:spPr>
          <a:xfrm>
            <a:off x="2907792" y="2560320"/>
            <a:ext cx="201168" cy="457200"/>
          </a:xfrm>
          <a:prstGeom prst="rect">
            <a:avLst/>
          </a:prstGeom>
          <a:noFill/>
          <a:ln/>
        </p:spPr>
        <p:txBody>
          <a:bodyPr wrap="square" lIns="0" tIns="0" rIns="0" bIns="0" rtlCol="0" anchor="ctr"/>
          <a:lstStyle/>
          <a:p>
            <a:pPr marL="0" indent="0" algn="ctr">
              <a:buNone/>
            </a:pPr>
            <a:r>
              <a:rPr lang="en-US" sz="2000" b="1" dirty="0">
                <a:solidFill>
                  <a:srgbClr val="2E6DAD"/>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5879592" y="2560320"/>
            <a:ext cx="201168" cy="457200"/>
          </a:xfrm>
          <a:prstGeom prst="rect">
            <a:avLst/>
          </a:prstGeom>
          <a:noFill/>
          <a:ln/>
        </p:spPr>
        <p:txBody>
          <a:bodyPr wrap="square" lIns="0" tIns="0" rIns="0" bIns="0" rtlCol="0" anchor="ctr"/>
          <a:lstStyle/>
          <a:p>
            <a:pPr marL="0" indent="0" algn="ctr">
              <a:buNone/>
            </a:pPr>
            <a:r>
              <a:rPr lang="en-US" sz="2000" b="1" dirty="0">
                <a:solidFill>
                  <a:srgbClr val="2E6DAD"/>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274320" y="4754880"/>
            <a:ext cx="8595360" cy="320040"/>
          </a:xfrm>
          <a:prstGeom prst="rect">
            <a:avLst/>
          </a:prstGeom>
          <a:solidFill>
            <a:srgbClr val="1A3A5C"/>
          </a:solidFill>
          <a:ln/>
        </p:spPr>
      </p:sp>
      <p:sp>
        <p:nvSpPr>
          <p:cNvPr id="30" name="Text 28"/>
          <p:cNvSpPr/>
          <p:nvPr/>
        </p:nvSpPr>
        <p:spPr>
          <a:xfrm>
            <a:off x="457200" y="4782312"/>
            <a:ext cx="8229600" cy="256032"/>
          </a:xfrm>
          <a:prstGeom prst="rect">
            <a:avLst/>
          </a:prstGeom>
          <a:noFill/>
          <a:ln/>
        </p:spPr>
        <p:txBody>
          <a:bodyPr wrap="square" lIns="0" tIns="0" rIns="0" bIns="0" rtlCol="0" anchor="ctr"/>
          <a:lstStyle/>
          <a:p>
            <a:pPr marL="0" indent="0" algn="ctr">
              <a:buNone/>
            </a:pPr>
            <a:r>
              <a:rPr lang="en-US" sz="1000" b="1" dirty="0">
                <a:solidFill>
                  <a:srgbClr val="A8C8E8"/>
                </a:solidFill>
                <a:latin typeface="Calibri" pitchFamily="34" charset="0"/>
                <a:ea typeface="Calibri" pitchFamily="34" charset="-122"/>
                <a:cs typeface="Calibri" pitchFamily="34" charset="-120"/>
              </a:rPr>
              <a:t>Success Metric: Fraud Detection Rate &gt; 80% with False Positive Rate &lt; 0.5% within 12 months of full deployment</a:t>
            </a:r>
            <a:endParaRPr lang="en-US" sz="1000" dirty="0"/>
          </a:p>
        </p:txBody>
      </p:sp>
      <p:sp>
        <p:nvSpPr>
          <p:cNvPr id="31" name="Text 29"/>
          <p:cNvSpPr/>
          <p:nvPr/>
        </p:nvSpPr>
        <p:spPr>
          <a:xfrm>
            <a:off x="365760" y="4800600"/>
            <a:ext cx="8412480" cy="228600"/>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AIM ML Capstone  |  Erickson Tan  |  Business Presentation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5C"/>
          </a:solidFill>
          <a:ln/>
        </p:spPr>
      </p:sp>
      <p:sp>
        <p:nvSpPr>
          <p:cNvPr id="3" name="Shape 1"/>
          <p:cNvSpPr/>
          <p:nvPr/>
        </p:nvSpPr>
        <p:spPr>
          <a:xfrm>
            <a:off x="0" y="0"/>
            <a:ext cx="109728" cy="5143500"/>
          </a:xfrm>
          <a:prstGeom prst="rect">
            <a:avLst/>
          </a:prstGeom>
          <a:solidFill>
            <a:srgbClr val="2E6DAD"/>
          </a:solidFill>
          <a:ln/>
        </p:spPr>
      </p:sp>
      <p:sp>
        <p:nvSpPr>
          <p:cNvPr id="4" name="Shape 2"/>
          <p:cNvSpPr/>
          <p:nvPr/>
        </p:nvSpPr>
        <p:spPr>
          <a:xfrm>
            <a:off x="0" y="4343400"/>
            <a:ext cx="9144000" cy="822960"/>
          </a:xfrm>
          <a:prstGeom prst="rect">
            <a:avLst/>
          </a:prstGeom>
          <a:solidFill>
            <a:srgbClr val="2E6DAD"/>
          </a:solidFill>
          <a:ln/>
        </p:spPr>
      </p:sp>
      <p:sp>
        <p:nvSpPr>
          <p:cNvPr id="5" name="Text 3"/>
          <p:cNvSpPr/>
          <p:nvPr/>
        </p:nvSpPr>
        <p:spPr>
          <a:xfrm>
            <a:off x="457200" y="228600"/>
            <a:ext cx="832104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Opportunity is Clear</a:t>
            </a:r>
            <a:endParaRPr lang="en-US" sz="3000" dirty="0"/>
          </a:p>
        </p:txBody>
      </p:sp>
      <p:sp>
        <p:nvSpPr>
          <p:cNvPr id="6" name="Shape 4"/>
          <p:cNvSpPr/>
          <p:nvPr/>
        </p:nvSpPr>
        <p:spPr>
          <a:xfrm>
            <a:off x="457200" y="822960"/>
            <a:ext cx="8229600" cy="36576"/>
          </a:xfrm>
          <a:prstGeom prst="rect">
            <a:avLst/>
          </a:prstGeom>
          <a:solidFill>
            <a:srgbClr val="4A90C4"/>
          </a:solidFill>
          <a:ln/>
        </p:spPr>
      </p:sp>
      <p:sp>
        <p:nvSpPr>
          <p:cNvPr id="7" name="Shape 5"/>
          <p:cNvSpPr/>
          <p:nvPr/>
        </p:nvSpPr>
        <p:spPr>
          <a:xfrm>
            <a:off x="457200" y="987552"/>
            <a:ext cx="502920" cy="822960"/>
          </a:xfrm>
          <a:prstGeom prst="rect">
            <a:avLst/>
          </a:prstGeom>
          <a:solidFill>
            <a:srgbClr val="4A90C4"/>
          </a:solidFill>
          <a:ln/>
        </p:spPr>
      </p:sp>
      <p:sp>
        <p:nvSpPr>
          <p:cNvPr id="8" name="Text 6"/>
          <p:cNvSpPr/>
          <p:nvPr/>
        </p:nvSpPr>
        <p:spPr>
          <a:xfrm>
            <a:off x="457200" y="987552"/>
            <a:ext cx="50292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1097280" y="1005840"/>
            <a:ext cx="7589520" cy="347472"/>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The Technology Works</a:t>
            </a:r>
            <a:endParaRPr lang="en-US" sz="1400" dirty="0"/>
          </a:p>
        </p:txBody>
      </p:sp>
      <p:sp>
        <p:nvSpPr>
          <p:cNvPr id="10" name="Text 8"/>
          <p:cNvSpPr/>
          <p:nvPr/>
        </p:nvSpPr>
        <p:spPr>
          <a:xfrm>
            <a:off x="1097280" y="1353312"/>
            <a:ext cx="758952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AUC-ROC of 0.966 and F1 of 0.814 on real transaction data confirms the model delivers results that matter — not just in theory, but in practice.</a:t>
            </a:r>
            <a:endParaRPr lang="en-US" sz="1200" dirty="0"/>
          </a:p>
        </p:txBody>
      </p:sp>
      <p:sp>
        <p:nvSpPr>
          <p:cNvPr id="11" name="Shape 9"/>
          <p:cNvSpPr/>
          <p:nvPr/>
        </p:nvSpPr>
        <p:spPr>
          <a:xfrm>
            <a:off x="457200" y="2039112"/>
            <a:ext cx="502920" cy="822960"/>
          </a:xfrm>
          <a:prstGeom prst="rect">
            <a:avLst/>
          </a:prstGeom>
          <a:solidFill>
            <a:srgbClr val="4A90C4"/>
          </a:solidFill>
          <a:ln/>
        </p:spPr>
      </p:sp>
      <p:sp>
        <p:nvSpPr>
          <p:cNvPr id="12" name="Text 10"/>
          <p:cNvSpPr/>
          <p:nvPr/>
        </p:nvSpPr>
        <p:spPr>
          <a:xfrm>
            <a:off x="457200" y="2039112"/>
            <a:ext cx="50292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3" name="Text 11"/>
          <p:cNvSpPr/>
          <p:nvPr/>
        </p:nvSpPr>
        <p:spPr>
          <a:xfrm>
            <a:off x="1097280" y="2057400"/>
            <a:ext cx="7589520" cy="347472"/>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The Business Case is Strong</a:t>
            </a:r>
            <a:endParaRPr lang="en-US" sz="1400" dirty="0"/>
          </a:p>
        </p:txBody>
      </p:sp>
      <p:sp>
        <p:nvSpPr>
          <p:cNvPr id="14" name="Text 12"/>
          <p:cNvSpPr/>
          <p:nvPr/>
        </p:nvSpPr>
        <p:spPr>
          <a:xfrm>
            <a:off x="1097280" y="2404872"/>
            <a:ext cx="758952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Estimated PHP 70M+ annual savings in a 1M-transaction scenario. Even at a fraction of that scale, the ROI justifies investment in local validation and deployment.</a:t>
            </a:r>
            <a:endParaRPr lang="en-US" sz="1200" dirty="0"/>
          </a:p>
        </p:txBody>
      </p:sp>
      <p:sp>
        <p:nvSpPr>
          <p:cNvPr id="15" name="Shape 13"/>
          <p:cNvSpPr/>
          <p:nvPr/>
        </p:nvSpPr>
        <p:spPr>
          <a:xfrm>
            <a:off x="457200" y="3090672"/>
            <a:ext cx="502920" cy="822960"/>
          </a:xfrm>
          <a:prstGeom prst="rect">
            <a:avLst/>
          </a:prstGeom>
          <a:solidFill>
            <a:srgbClr val="4A90C4"/>
          </a:solidFill>
          <a:ln/>
        </p:spPr>
      </p:sp>
      <p:sp>
        <p:nvSpPr>
          <p:cNvPr id="16" name="Text 14"/>
          <p:cNvSpPr/>
          <p:nvPr/>
        </p:nvSpPr>
        <p:spPr>
          <a:xfrm>
            <a:off x="457200" y="3090672"/>
            <a:ext cx="502920" cy="8229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1097280" y="3108960"/>
            <a:ext cx="7589520" cy="347472"/>
          </a:xfrm>
          <a:prstGeom prst="rect">
            <a:avLst/>
          </a:prstGeom>
          <a:noFill/>
          <a:ln/>
        </p:spPr>
        <p:txBody>
          <a:bodyPr wrap="square" lIns="0" tIns="0" rIns="0" bIns="0" rtlCol="0" anchor="ctr"/>
          <a:lstStyle/>
          <a:p>
            <a:pPr marL="0" indent="0">
              <a:buNone/>
            </a:pPr>
            <a:r>
              <a:rPr lang="en-US" sz="1400" b="1" dirty="0">
                <a:solidFill>
                  <a:srgbClr val="A8C8E8"/>
                </a:solidFill>
                <a:latin typeface="Calibri" pitchFamily="34" charset="0"/>
                <a:ea typeface="Calibri" pitchFamily="34" charset="-122"/>
                <a:cs typeface="Calibri" pitchFamily="34" charset="-120"/>
              </a:rPr>
              <a:t>The Next Step is Local</a:t>
            </a:r>
            <a:endParaRPr lang="en-US" sz="1400" dirty="0"/>
          </a:p>
        </p:txBody>
      </p:sp>
      <p:sp>
        <p:nvSpPr>
          <p:cNvPr id="18" name="Text 16"/>
          <p:cNvSpPr/>
          <p:nvPr/>
        </p:nvSpPr>
        <p:spPr>
          <a:xfrm>
            <a:off x="1097280" y="3456432"/>
            <a:ext cx="7589520" cy="5486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Philippine digital payments market is ready. The BSP framework exists. The only missing piece is local transaction data to validate and deploy a home-grown solution.</a:t>
            </a:r>
            <a:endParaRPr lang="en-US" sz="1200" dirty="0"/>
          </a:p>
        </p:txBody>
      </p:sp>
      <p:sp>
        <p:nvSpPr>
          <p:cNvPr id="19" name="Text 17"/>
          <p:cNvSpPr/>
          <p:nvPr/>
        </p:nvSpPr>
        <p:spPr>
          <a:xfrm>
            <a:off x="457200" y="4416552"/>
            <a:ext cx="822960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Erickson Tan  |  Asian Institute of Management  |  ML Capstone 2026  |  erickson@aim.edu</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867D97-1311-8202-44FF-CA00E1E8D53C}"/>
              </a:ext>
            </a:extLst>
          </p:cNvPr>
          <p:cNvSpPr txBox="1"/>
          <p:nvPr/>
        </p:nvSpPr>
        <p:spPr>
          <a:xfrm>
            <a:off x="334229" y="812284"/>
            <a:ext cx="8475542" cy="2970044"/>
          </a:xfrm>
          <a:prstGeom prst="rect">
            <a:avLst/>
          </a:prstGeom>
          <a:noFill/>
        </p:spPr>
        <p:txBody>
          <a:bodyPr wrap="square">
            <a:spAutoFit/>
          </a:bodyPr>
          <a:lstStyle/>
          <a:p>
            <a:pPr>
              <a:buNone/>
            </a:pPr>
            <a:r>
              <a:rPr lang="en-US" sz="1100" b="1" dirty="0"/>
              <a:t>AI Assistance, Content Enhancement, and Source Declaration</a:t>
            </a:r>
          </a:p>
          <a:p>
            <a:pPr>
              <a:buNone/>
            </a:pPr>
            <a:endParaRPr lang="en-US" sz="1100" b="1" dirty="0"/>
          </a:p>
          <a:p>
            <a:pPr>
              <a:buNone/>
            </a:pPr>
            <a:r>
              <a:rPr lang="en-US" sz="1100" b="1" dirty="0"/>
              <a:t>Purpose:</a:t>
            </a:r>
            <a:r>
              <a:rPr lang="en-US" sz="1100" dirty="0"/>
              <a:t> This presentation has been prepared for academic and professional learning purposes as part of a graduate-level course in Artificial Intelligence and Machine Learning.</a:t>
            </a:r>
          </a:p>
          <a:p>
            <a:pPr>
              <a:buNone/>
            </a:pPr>
            <a:endParaRPr lang="en-US" sz="1100" dirty="0"/>
          </a:p>
          <a:p>
            <a:pPr>
              <a:buNone/>
            </a:pPr>
            <a:r>
              <a:rPr lang="en-US" sz="1100" dirty="0"/>
              <a:t>The development of this presentation was assisted by artificial intelligence (AI) tools to support research, content organization, language refinement, summarization, and overall presentation quality. AI was used as an aid to enhance the preparation process and does not replace critical analysis, professional judgment, or independent review.</a:t>
            </a:r>
          </a:p>
          <a:p>
            <a:pPr>
              <a:buNone/>
            </a:pPr>
            <a:endParaRPr lang="en-US" sz="1100" dirty="0"/>
          </a:p>
          <a:p>
            <a:pPr>
              <a:buNone/>
            </a:pPr>
            <a:endParaRPr lang="en-US" sz="1100" dirty="0"/>
          </a:p>
          <a:p>
            <a:pPr>
              <a:buNone/>
            </a:pPr>
            <a:r>
              <a:rPr lang="en-US" sz="1100" dirty="0"/>
              <a:t>The content incorporates information synthesized from publicly available web-based resources, scholarly references, industry publications, and other authoritative materials where applicable. Every reasonable effort has been made to review, validate, and present the information accurately; however, due to the evolving nature of AI, machine learning, and related technologies, readers are encouraged to consult original sources and current literature for the most up-to-date information.</a:t>
            </a:r>
          </a:p>
          <a:p>
            <a:pPr>
              <a:buNone/>
            </a:pPr>
            <a:endParaRPr lang="en-US" sz="1100" dirty="0"/>
          </a:p>
          <a:p>
            <a:pPr>
              <a:buNone/>
            </a:pPr>
            <a:r>
              <a:rPr lang="en-US" sz="1100" dirty="0"/>
              <a:t>This presentation is intended solely for educational, academic, and professional development purposes. All referenced concepts, analyses, and conclusions remain the responsibility of the presenter.</a:t>
            </a:r>
          </a:p>
        </p:txBody>
      </p:sp>
    </p:spTree>
    <p:extLst>
      <p:ext uri="{BB962C8B-B14F-4D97-AF65-F5344CB8AC3E}">
        <p14:creationId xmlns:p14="http://schemas.microsoft.com/office/powerpoint/2010/main" val="3342519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735</TotalTime>
  <Words>1332</Words>
  <Application>Microsoft Office PowerPoint</Application>
  <PresentationFormat>On-screen Show (16:9)</PresentationFormat>
  <Paragraphs>207</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Asian Institute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Credit Card Fraud Detection — Executive Business Presentation</dc:subject>
  <dc:creator>Erickson Tan</dc:creator>
  <cp:lastModifiedBy>Erickson Tan</cp:lastModifiedBy>
  <cp:revision>2</cp:revision>
  <dcterms:created xsi:type="dcterms:W3CDTF">2026-07-14T03:13:27Z</dcterms:created>
  <dcterms:modified xsi:type="dcterms:W3CDTF">2026-07-15T02:35:53Z</dcterms:modified>
</cp:coreProperties>
</file>